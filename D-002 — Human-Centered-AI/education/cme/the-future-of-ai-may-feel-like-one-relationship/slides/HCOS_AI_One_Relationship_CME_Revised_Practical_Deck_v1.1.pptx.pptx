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Aptos Bold" charset="1" panose="020B0004020202020204"/>
      <p:regular r:id="rId33"/>
    </p:embeddedFont>
    <p:embeddedFont>
      <p:font typeface="Aptos" charset="1" panose="020B0004020202020204"/>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notesMasters/notesMaster1.xml" Type="http://schemas.openxmlformats.org/officeDocument/2006/relationships/notesMaster"/><Relationship Id="rId31" Target="theme/theme2.xml" Type="http://schemas.openxmlformats.org/officeDocument/2006/relationships/theme"/><Relationship Id="rId32" Target="notesSlides/notesSlide1.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notesSlides/notesSlide2.xml" Type="http://schemas.openxmlformats.org/officeDocument/2006/relationships/notesSlide"/><Relationship Id="rId36" Target="notesSlides/notesSlide3.xml" Type="http://schemas.openxmlformats.org/officeDocument/2006/relationships/notesSlide"/><Relationship Id="rId37" Target="notesSlides/notesSlide4.xml" Type="http://schemas.openxmlformats.org/officeDocument/2006/relationships/notesSlide"/><Relationship Id="rId38" Target="notesSlides/notesSlide5.xml" Type="http://schemas.openxmlformats.org/officeDocument/2006/relationships/notesSlide"/><Relationship Id="rId39" Target="notesSlides/notesSlide6.xml" Type="http://schemas.openxmlformats.org/officeDocument/2006/relationships/notesSlide"/><Relationship Id="rId4" Target="theme/theme1.xml" Type="http://schemas.openxmlformats.org/officeDocument/2006/relationships/theme"/><Relationship Id="rId40" Target="notesSlides/notesSlide7.xml" Type="http://schemas.openxmlformats.org/officeDocument/2006/relationships/notesSlide"/><Relationship Id="rId41" Target="notesSlides/notesSlide8.xml" Type="http://schemas.openxmlformats.org/officeDocument/2006/relationships/notesSlide"/><Relationship Id="rId42" Target="notesSlides/notesSlide9.xml" Type="http://schemas.openxmlformats.org/officeDocument/2006/relationships/notesSlide"/><Relationship Id="rId43" Target="notesSlides/notesSlide10.xml" Type="http://schemas.openxmlformats.org/officeDocument/2006/relationships/notesSlide"/><Relationship Id="rId44" Target="notesSlides/notesSlide11.xml" Type="http://schemas.openxmlformats.org/officeDocument/2006/relationships/notesSlide"/><Relationship Id="rId45" Target="notesSlides/notesSlide12.xml" Type="http://schemas.openxmlformats.org/officeDocument/2006/relationships/notesSlide"/><Relationship Id="rId46" Target="notesSlides/notesSlide13.xml" Type="http://schemas.openxmlformats.org/officeDocument/2006/relationships/notesSlide"/><Relationship Id="rId47" Target="notesSlides/notesSlide14.xml" Type="http://schemas.openxmlformats.org/officeDocument/2006/relationships/notesSlide"/><Relationship Id="rId48" Target="notesSlides/notesSlide15.xml" Type="http://schemas.openxmlformats.org/officeDocument/2006/relationships/notesSlide"/><Relationship Id="rId49" Target="notesSlides/notesSlide16.xml" Type="http://schemas.openxmlformats.org/officeDocument/2006/relationships/notesSlide"/><Relationship Id="rId5" Target="tableStyles.xml" Type="http://schemas.openxmlformats.org/officeDocument/2006/relationships/tableStyles"/><Relationship Id="rId50" Target="notesSlides/notesSlide17.xml" Type="http://schemas.openxmlformats.org/officeDocument/2006/relationships/notesSlide"/><Relationship Id="rId51" Target="notesSlides/notesSlide18.xml" Type="http://schemas.openxmlformats.org/officeDocument/2006/relationships/notesSlide"/><Relationship Id="rId52" Target="notesSlides/notesSlide19.xml" Type="http://schemas.openxmlformats.org/officeDocument/2006/relationships/notesSlide"/><Relationship Id="rId53" Target="notesSlides/notesSlide20.xml" Type="http://schemas.openxmlformats.org/officeDocument/2006/relationships/notesSlide"/><Relationship Id="rId54" Target="notesSlides/notesSlide21.xml" Type="http://schemas.openxmlformats.org/officeDocument/2006/relationships/notesSlide"/><Relationship Id="rId55" Target="notesSlides/notesSlide22.xml" Type="http://schemas.openxmlformats.org/officeDocument/2006/relationships/notesSlide"/><Relationship Id="rId56" Target="notesSlides/notesSlide23.xml" Type="http://schemas.openxmlformats.org/officeDocument/2006/relationships/notesSlide"/><Relationship Id="rId57" Target="notesSlides/notesSlide24.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Welcome. In this activity, we will use a Human-Centered Operating Systems, or HCOS, lens to explore a practical question that is becoming increasingly important for healthcare professionals. HCOS is a way of examining technology, workflows, policies, and organizational decisions as parts of a larger human system. It asks whether a tool is not only technically functional, but understandable, trustworthy, appropriately governed, and safe for the people who depend on it. The question for today is this: if artificial intelligence begins to feel like one continuous assistant, what must be true underneath for that experience to remain safe, trustworthy, and clinically appropriate?</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Before we move into the content, this slide is where the official activity details belong. The accredited provider should insert its approved accreditation statement, credit designation, release and expiration dates, and instructions for claiming credit. CE21 can support hosting, tracking, evaluation, and documentation, but the official language should come from the organization awarding the credit.</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Disclosure is part of educational trust. Use this slide to document faculty, planner, and reviewer disclosures; any relevant financial relationships; conflict mitigation; commercial support; and whether AI tools were used to assist with drafting or design. The goal is to make influence visible so learners can evaluate the content clearly.</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By the end of this activity, learners should be able to distinguish a smooth AI experience from the distributed systems underneath it; explain why identity, context, memory, and authority matter in healthcare AI; identify boundary failures when AI moves across systems; and apply a practical stewardship review before AI-supported work moves from information to action.</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activity is conceptual education. It is not legal, privacy, billing, compliance, cybersecurity, or clinical implementation advice. Examples should be adapted to local policy, local workflow, patient population, clinical context, validation requirements, and professional standards. The goal is to help healthcare professionals ask better governance questions before AI is placed into consequential workflows.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Healthcare is already a complex human system. A single patient’s care can involve clinicians, pharmacists, nurses, caregivers, payers, pharmacies, EHRs, portals, labs, scheduling systems, and community supports. That is why this question matters. A continuous AI experience may reduce friction, but healthcare professionals know that continuity is not the same thing as permission.</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slide defines the HCOS lens for an audience that may not recognize the term. HCOS stands for Human-Centered Operating Systems. It is not software alone. It is a way to examine how people, technology, policy, workflow, authority, and responsibility interact. In this activity, HCOS means we will ask whether AI supports dignity, trust, human judgment, and safe accountability.</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Today, most people choose an application first. Tomorrow, people may increasingly state a goal and expect AI to coordinate the tools. The person may not know whether the work is being completed by one model, several models, connected software, or a human-in-the-loop service. That shift is what makes governance important.</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simple personal AI scenario helps make this concrete. One request, like planning a child’s birthday, might require calendars, venues, invitations, messages, budget updates, and reminders. The person experiences one request. The system performs coordinated work. That same pattern becomes more consequential when the goal is clinical care or access to treatment.</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translate the same pattern into healthcare. A request such as help this patient start therapy safely and on time may touch clinical criteria, documentation, benefit coverage, prior authorization, lab monitoring, patient education, scheduling, pharmacy coordination, and follow-up. AI may reduce burden in this workflow, but only if the system knows where information ends and action begins.</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Pause here for the first knowledge check. The scenario asks learners to identify the key safeguard when AI crosses scheduling, pharmacy, and insurance systems. The correct answer is not unlimited access and not one model for every task. The key safeguard is limiting each capability to the identity, context, and authority needed for its part of the work.</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best answer is C. A continuous AI experience should not mean unlimited access. Each specialized capability should receive only the information and authority required for its defined task. In healthcare, this protects privacy, preserves accountability, and reduces the risk of inappropriate action across systems.</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pivot into practice. When AI moves from answering a question to coordinating work, consequence increases. Informing is different from recommending. Recommending is different from drafting. Drafting is different from sending. Sending is different from initiating or completing a transaction. Each step requires a clearer boundary around authority and review.</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single healthcare goal may contain very different types of authority. One part of the workflow may involve summarizing data. Another may involve drafting a message. Another may involve sending that message or submitting an authorization. Authority should be assigned by task, not granted to the entire workflow all at once.</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slide gives learners a usable method. Before an AI-enabled system acts, ask five questions. Who is acting? What is the purpose? What information is needed? What may the AI do? What review is required? These questions help healthcare professionals translate an abstract AI concern into a practical workflow review.</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knowledge check focuses on the difference between drafting and sending. Many AI use cases begin with drafting, which may be low or moderate risk. But sending a message introduces action, communication, and accountability. That step requires a clearer permission boundary and review threshold.</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best answer is B. Drafting support can be helpful, but sending a patient message is an action. It may affect patient understanding, urgency, anxiety, access, documentation, and trust. Healthcare organizations need to define who the AI is representing, whether the message is reviewed, who may send it, and where accountability sits after it is sent.</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Many AI failures may appear to be reasoning errors when they are actually failures of identity, context, or authority. Context collapse happens when information from one setting is treated as if it applies everywhere. In healthcare, this can create safety and trust problems very quickly.</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Memory is valuable because it can reduce repeated explanations and improve continuity. But memory becomes risky when it loses source, context, consent, correction, expiration, or audit. For example, the statement the patient prefers communication through their spouse may be true in one encounter but should not automatically become permanent authority across all future care.</a:t>
            </a:r>
          </a:p>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Human review is not one thing. A low-consequence action may need lightweight review or sampling. A moderate-consequence action may need approval before communication or routing. A high-consequence action may require explicit professional verification before anything is submitted, changed, or initiated. Review should be matched to consequence, uncertainty, reversibility, and professional responsibility.</a:t>
            </a:r>
          </a:p>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knowledge check asks learners to identify a boundary failure, not just a technical error. The AI reviewed the record, drafted an authorization, sent a message, and submitted the request before pharmacist review. The primary problem is not simply that the model might be inaccurate. The problem is that the AI moved into action before the required review threshold was met.</a:t>
            </a:r>
          </a:p>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best answer is B. The AI exceeded delegated authority before the required review threshold was met. In healthcare, the safest question is often not can the system do this, but should it do this before a responsible person reviews and approves the next step? Authority and review should be clear before the AI performs a consequential action.</a:t>
            </a:r>
          </a:p>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Healthcare organizations do not need to predict the entire future of AI to begin improving governance now. Start with one real AI-enabled workflow. Map the people, systems, and organizations involved. Separate retrieval, drafting, communication, decision, and action. Define information needs, authority, review thresholds, accountable owners, correction pathways, escalation pathways, audit trails, and human burden impacts.</a:t>
            </a:r>
          </a:p>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close, the most practical takeaway is this: before AI acts, ask who it is representing, what context is active, what information is necessary, what authority has been delegated, what review is required, and who remains responsible. One trusted experience can still require many carefully governed systems. Complete the post-test, evaluation, and credit claiming steps according to the accredited provider and CE21 instructions.</a:t>
            </a:r>
          </a:p>
          <a:p>
            <a:r>
              <a:rPr lang="en-US"/>
              <a:t>24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png" Type="http://schemas.openxmlformats.org/officeDocument/2006/relationships/image"/><Relationship Id="rId4"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5.png" Type="http://schemas.openxmlformats.org/officeDocument/2006/relationships/image"/><Relationship Id="rId4"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4.png" Type="http://schemas.openxmlformats.org/officeDocument/2006/relationships/image"/><Relationship Id="rId4"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png" Type="http://schemas.openxmlformats.org/officeDocument/2006/relationships/image"/><Relationship Id="rId4" Target="../media/image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3.png" Type="http://schemas.openxmlformats.org/officeDocument/2006/relationships/image"/><Relationship Id="rId4" Target="../media/image2.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4.png" Type="http://schemas.openxmlformats.org/officeDocument/2006/relationships/image"/><Relationship Id="rId4" Target="../media/image2.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3.png" Type="http://schemas.openxmlformats.org/officeDocument/2006/relationships/image"/><Relationship Id="rId4" Target="../media/image2.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4.png" Type="http://schemas.openxmlformats.org/officeDocument/2006/relationships/image"/><Relationship Id="rId4" Target="../media/image2.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human.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CME / CE ACTIVITY • HUMAN-CENTERED AI</a:t>
            </a:r>
          </a:p>
        </p:txBody>
      </p:sp>
      <p:sp>
        <p:nvSpPr>
          <p:cNvPr name="TextBox 5" id="5"/>
          <p:cNvSpPr txBox="true"/>
          <p:nvPr/>
        </p:nvSpPr>
        <p:spPr>
          <a:xfrm rot="0">
            <a:off x="878767" y="1282160"/>
            <a:ext cx="9333662" cy="2011994"/>
          </a:xfrm>
          <a:prstGeom prst="rect">
            <a:avLst/>
          </a:prstGeom>
        </p:spPr>
        <p:txBody>
          <a:bodyPr anchor="t" rtlCol="false" tIns="0" lIns="0" bIns="0" rIns="0">
            <a:spAutoFit/>
          </a:bodyPr>
          <a:lstStyle/>
          <a:p>
            <a:pPr algn="l">
              <a:lnSpc>
                <a:spcPts val="5818"/>
              </a:lnSpc>
            </a:pPr>
            <a:r>
              <a:rPr lang="en-US" sz="5103" b="true">
                <a:solidFill>
                  <a:srgbClr val="122B40"/>
                </a:solidFill>
                <a:latin typeface="Aptos Bold"/>
                <a:ea typeface="Aptos Bold"/>
                <a:cs typeface="Aptos Bold"/>
                <a:sym typeface="Aptos Bold"/>
              </a:rPr>
              <a:t>The Future of AI May Feel Like One Relationship</a:t>
            </a:r>
          </a:p>
        </p:txBody>
      </p:sp>
      <p:sp>
        <p:nvSpPr>
          <p:cNvPr name="TextBox 6" id="6"/>
          <p:cNvSpPr txBox="true"/>
          <p:nvPr/>
        </p:nvSpPr>
        <p:spPr>
          <a:xfrm rot="0">
            <a:off x="933669" y="3478435"/>
            <a:ext cx="9196397" cy="804043"/>
          </a:xfrm>
          <a:prstGeom prst="rect">
            <a:avLst/>
          </a:prstGeom>
        </p:spPr>
        <p:txBody>
          <a:bodyPr anchor="t" rtlCol="false" tIns="0" lIns="0" bIns="0" rIns="0">
            <a:spAutoFit/>
          </a:bodyPr>
          <a:lstStyle/>
          <a:p>
            <a:pPr algn="l">
              <a:lnSpc>
                <a:spcPts val="2567"/>
              </a:lnSpc>
            </a:pPr>
            <a:r>
              <a:rPr lang="en-US" sz="2251">
                <a:solidFill>
                  <a:srgbClr val="5E717A"/>
                </a:solidFill>
                <a:latin typeface="Aptos"/>
                <a:ea typeface="Aptos"/>
                <a:cs typeface="Aptos"/>
                <a:sym typeface="Aptos"/>
              </a:rPr>
              <a:t>A healthcare-focused forecast about identity, context, memory, authority, and responsibility.</a:t>
            </a:r>
          </a:p>
        </p:txBody>
      </p:sp>
      <p:grpSp>
        <p:nvGrpSpPr>
          <p:cNvPr name="Group 7" id="7"/>
          <p:cNvGrpSpPr/>
          <p:nvPr/>
        </p:nvGrpSpPr>
        <p:grpSpPr>
          <a:xfrm rot="0">
            <a:off x="978789" y="7608799"/>
            <a:ext cx="5125403" cy="623040"/>
            <a:chOff x="0" y="0"/>
            <a:chExt cx="6833870" cy="830720"/>
          </a:xfrm>
        </p:grpSpPr>
        <p:sp>
          <p:nvSpPr>
            <p:cNvPr name="Freeform 8" id="8"/>
            <p:cNvSpPr/>
            <p:nvPr/>
          </p:nvSpPr>
          <p:spPr>
            <a:xfrm flipH="false" flipV="false" rot="0">
              <a:off x="0" y="0"/>
              <a:ext cx="6833870" cy="830707"/>
            </a:xfrm>
            <a:custGeom>
              <a:avLst/>
              <a:gdLst/>
              <a:ahLst/>
              <a:cxnLst/>
              <a:rect r="r" b="b" t="t" l="l"/>
              <a:pathLst>
                <a:path h="830707" w="6833870">
                  <a:moveTo>
                    <a:pt x="0" y="151003"/>
                  </a:moveTo>
                  <a:cubicBezTo>
                    <a:pt x="0" y="67564"/>
                    <a:pt x="67564" y="0"/>
                    <a:pt x="151003" y="0"/>
                  </a:cubicBezTo>
                  <a:lnTo>
                    <a:pt x="6682867" y="0"/>
                  </a:lnTo>
                  <a:cubicBezTo>
                    <a:pt x="6766306" y="0"/>
                    <a:pt x="6833870" y="67564"/>
                    <a:pt x="6833870" y="151003"/>
                  </a:cubicBezTo>
                  <a:lnTo>
                    <a:pt x="6833870" y="679704"/>
                  </a:lnTo>
                  <a:cubicBezTo>
                    <a:pt x="6833870" y="763143"/>
                    <a:pt x="6766306" y="830707"/>
                    <a:pt x="6682867" y="830707"/>
                  </a:cubicBezTo>
                  <a:lnTo>
                    <a:pt x="151003" y="830707"/>
                  </a:lnTo>
                  <a:cubicBezTo>
                    <a:pt x="67564" y="830707"/>
                    <a:pt x="0" y="763143"/>
                    <a:pt x="0" y="679704"/>
                  </a:cubicBezTo>
                  <a:close/>
                </a:path>
              </a:pathLst>
            </a:custGeom>
            <a:solidFill>
              <a:srgbClr val="122B40"/>
            </a:solidFill>
          </p:spPr>
        </p:sp>
      </p:grpSp>
      <p:grpSp>
        <p:nvGrpSpPr>
          <p:cNvPr name="Group 9" id="9"/>
          <p:cNvGrpSpPr/>
          <p:nvPr/>
        </p:nvGrpSpPr>
        <p:grpSpPr>
          <a:xfrm rot="0">
            <a:off x="1098137" y="7741872"/>
            <a:ext cx="4886716" cy="439255"/>
            <a:chOff x="0" y="0"/>
            <a:chExt cx="6515621" cy="585673"/>
          </a:xfrm>
        </p:grpSpPr>
        <p:sp>
          <p:nvSpPr>
            <p:cNvPr name="Freeform 10" id="10"/>
            <p:cNvSpPr/>
            <p:nvPr/>
          </p:nvSpPr>
          <p:spPr>
            <a:xfrm flipH="false" flipV="false" rot="0">
              <a:off x="0" y="0"/>
              <a:ext cx="6515619" cy="585674"/>
            </a:xfrm>
            <a:custGeom>
              <a:avLst/>
              <a:gdLst/>
              <a:ahLst/>
              <a:cxnLst/>
              <a:rect r="r" b="b" t="t" l="l"/>
              <a:pathLst>
                <a:path h="585674" w="6515619">
                  <a:moveTo>
                    <a:pt x="0" y="0"/>
                  </a:moveTo>
                  <a:lnTo>
                    <a:pt x="6515619" y="0"/>
                  </a:lnTo>
                  <a:lnTo>
                    <a:pt x="6515619" y="585674"/>
                  </a:lnTo>
                  <a:lnTo>
                    <a:pt x="0" y="585674"/>
                  </a:lnTo>
                  <a:close/>
                </a:path>
              </a:pathLst>
            </a:custGeom>
            <a:blipFill>
              <a:blip r:embed="rId4">
                <a:alphaModFix amt="0"/>
              </a:blip>
              <a:stretch>
                <a:fillRect l="0" t="-166771" r="0" b="-166771"/>
              </a:stretch>
            </a:blipFill>
          </p:spPr>
        </p:sp>
        <p:sp>
          <p:nvSpPr>
            <p:cNvPr name="TextBox 11" id="11"/>
            <p:cNvSpPr txBox="true"/>
            <p:nvPr/>
          </p:nvSpPr>
          <p:spPr>
            <a:xfrm>
              <a:off x="0" y="9525"/>
              <a:ext cx="6515621" cy="576148"/>
            </a:xfrm>
            <a:prstGeom prst="rect">
              <a:avLst/>
            </a:prstGeom>
          </p:spPr>
          <p:txBody>
            <a:bodyPr anchor="ctr" rtlCol="false" tIns="0" lIns="0" bIns="0" rIns="0"/>
            <a:lstStyle/>
            <a:p>
              <a:pPr algn="ctr">
                <a:lnSpc>
                  <a:spcPts val="1796"/>
                </a:lnSpc>
              </a:pPr>
              <a:r>
                <a:rPr lang="en-US" sz="1576" b="true">
                  <a:solidFill>
                    <a:srgbClr val="FFFFFF"/>
                  </a:solidFill>
                  <a:latin typeface="Aptos Bold"/>
                  <a:ea typeface="Aptos Bold"/>
                  <a:cs typeface="Aptos Bold"/>
                  <a:sym typeface="Aptos Bold"/>
                </a:rPr>
                <a:t>HCOS™ Insight + Architectural Forecast</a:t>
              </a:r>
            </a:p>
          </p:txBody>
        </p:sp>
      </p:grpSp>
      <p:grpSp>
        <p:nvGrpSpPr>
          <p:cNvPr name="Group 12" id="12"/>
          <p:cNvGrpSpPr/>
          <p:nvPr/>
        </p:nvGrpSpPr>
        <p:grpSpPr>
          <a:xfrm rot="0">
            <a:off x="6373397" y="7608799"/>
            <a:ext cx="2901677" cy="623040"/>
            <a:chOff x="0" y="0"/>
            <a:chExt cx="3868903" cy="830720"/>
          </a:xfrm>
        </p:grpSpPr>
        <p:sp>
          <p:nvSpPr>
            <p:cNvPr name="Freeform 13" id="13"/>
            <p:cNvSpPr/>
            <p:nvPr/>
          </p:nvSpPr>
          <p:spPr>
            <a:xfrm flipH="false" flipV="false" rot="0">
              <a:off x="0" y="0"/>
              <a:ext cx="3868801" cy="830707"/>
            </a:xfrm>
            <a:custGeom>
              <a:avLst/>
              <a:gdLst/>
              <a:ahLst/>
              <a:cxnLst/>
              <a:rect r="r" b="b" t="t" l="l"/>
              <a:pathLst>
                <a:path h="830707" w="3868801">
                  <a:moveTo>
                    <a:pt x="0" y="151003"/>
                  </a:moveTo>
                  <a:cubicBezTo>
                    <a:pt x="0" y="67564"/>
                    <a:pt x="67564" y="0"/>
                    <a:pt x="151003" y="0"/>
                  </a:cubicBezTo>
                  <a:lnTo>
                    <a:pt x="3717798" y="0"/>
                  </a:lnTo>
                  <a:cubicBezTo>
                    <a:pt x="3801237" y="0"/>
                    <a:pt x="3868801" y="67564"/>
                    <a:pt x="3868801" y="151003"/>
                  </a:cubicBezTo>
                  <a:lnTo>
                    <a:pt x="3868801" y="679704"/>
                  </a:lnTo>
                  <a:cubicBezTo>
                    <a:pt x="3868801" y="763143"/>
                    <a:pt x="3801237" y="830707"/>
                    <a:pt x="3717798" y="830707"/>
                  </a:cubicBezTo>
                  <a:lnTo>
                    <a:pt x="151003" y="830707"/>
                  </a:lnTo>
                  <a:cubicBezTo>
                    <a:pt x="67564" y="830707"/>
                    <a:pt x="0" y="763143"/>
                    <a:pt x="0" y="679704"/>
                  </a:cubicBezTo>
                  <a:close/>
                </a:path>
              </a:pathLst>
            </a:custGeom>
            <a:solidFill>
              <a:srgbClr val="CDA349"/>
            </a:solidFill>
          </p:spPr>
        </p:sp>
      </p:grpSp>
      <p:grpSp>
        <p:nvGrpSpPr>
          <p:cNvPr name="Group 14" id="14"/>
          <p:cNvGrpSpPr/>
          <p:nvPr/>
        </p:nvGrpSpPr>
        <p:grpSpPr>
          <a:xfrm rot="0">
            <a:off x="6492745" y="7741872"/>
            <a:ext cx="2662980" cy="439255"/>
            <a:chOff x="0" y="0"/>
            <a:chExt cx="3550641" cy="585673"/>
          </a:xfrm>
        </p:grpSpPr>
        <p:sp>
          <p:nvSpPr>
            <p:cNvPr name="Freeform 15" id="15"/>
            <p:cNvSpPr/>
            <p:nvPr/>
          </p:nvSpPr>
          <p:spPr>
            <a:xfrm flipH="false" flipV="false" rot="0">
              <a:off x="0" y="0"/>
              <a:ext cx="3550646" cy="585674"/>
            </a:xfrm>
            <a:custGeom>
              <a:avLst/>
              <a:gdLst/>
              <a:ahLst/>
              <a:cxnLst/>
              <a:rect r="r" b="b" t="t" l="l"/>
              <a:pathLst>
                <a:path h="585674" w="3550646">
                  <a:moveTo>
                    <a:pt x="0" y="0"/>
                  </a:moveTo>
                  <a:lnTo>
                    <a:pt x="3550646" y="0"/>
                  </a:lnTo>
                  <a:lnTo>
                    <a:pt x="3550646" y="585674"/>
                  </a:lnTo>
                  <a:lnTo>
                    <a:pt x="0" y="585674"/>
                  </a:lnTo>
                  <a:close/>
                </a:path>
              </a:pathLst>
            </a:custGeom>
            <a:blipFill>
              <a:blip r:embed="rId4">
                <a:alphaModFix amt="0"/>
              </a:blip>
              <a:stretch>
                <a:fillRect l="0" t="-68127" r="0" b="-68127"/>
              </a:stretch>
            </a:blipFill>
          </p:spPr>
        </p:sp>
        <p:sp>
          <p:nvSpPr>
            <p:cNvPr name="TextBox 16" id="16"/>
            <p:cNvSpPr txBox="true"/>
            <p:nvPr/>
          </p:nvSpPr>
          <p:spPr>
            <a:xfrm>
              <a:off x="0" y="9525"/>
              <a:ext cx="3550641" cy="576148"/>
            </a:xfrm>
            <a:prstGeom prst="rect">
              <a:avLst/>
            </a:prstGeom>
          </p:spPr>
          <p:txBody>
            <a:bodyPr anchor="ctr" rtlCol="false" tIns="0" lIns="0" bIns="0" rIns="0"/>
            <a:lstStyle/>
            <a:p>
              <a:pPr algn="ctr">
                <a:lnSpc>
                  <a:spcPts val="1796"/>
                </a:lnSpc>
              </a:pPr>
              <a:r>
                <a:rPr lang="en-US" sz="1576" b="true">
                  <a:solidFill>
                    <a:srgbClr val="122B40"/>
                  </a:solidFill>
                  <a:latin typeface="Aptos Bold"/>
                  <a:ea typeface="Aptos Bold"/>
                  <a:cs typeface="Aptos Bold"/>
                  <a:sym typeface="Aptos Bold"/>
                </a:rPr>
                <a:t>D-002 Human-Centered AI</a:t>
              </a:r>
            </a:p>
          </p:txBody>
        </p:sp>
      </p:grpSp>
      <p:sp>
        <p:nvSpPr>
          <p:cNvPr name="AutoShape 17" id="17"/>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18" id="18"/>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Sophia Care Alliance / HCOS™</a:t>
            </a:r>
          </a:p>
        </p:txBody>
      </p:sp>
      <p:sp>
        <p:nvSpPr>
          <p:cNvPr name="TextBox 19" id="19"/>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boundaries.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OFFICIAL CME SLIDE</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CME Activity Information</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Replace bracketed fields with provider-approved language before publication.</a:t>
            </a:r>
          </a:p>
        </p:txBody>
      </p:sp>
      <p:grpSp>
        <p:nvGrpSpPr>
          <p:cNvPr name="Group 7" id="7"/>
          <p:cNvGrpSpPr/>
          <p:nvPr/>
        </p:nvGrpSpPr>
        <p:grpSpPr>
          <a:xfrm rot="0">
            <a:off x="980694" y="3218155"/>
            <a:ext cx="9761230" cy="742769"/>
            <a:chOff x="0" y="0"/>
            <a:chExt cx="13014973" cy="990359"/>
          </a:xfrm>
        </p:grpSpPr>
        <p:sp>
          <p:nvSpPr>
            <p:cNvPr name="Freeform 8" id="8"/>
            <p:cNvSpPr/>
            <p:nvPr/>
          </p:nvSpPr>
          <p:spPr>
            <a:xfrm flipH="false" flipV="false" rot="0">
              <a:off x="0" y="0"/>
              <a:ext cx="13014961" cy="990346"/>
            </a:xfrm>
            <a:custGeom>
              <a:avLst/>
              <a:gdLst/>
              <a:ahLst/>
              <a:cxnLst/>
              <a:rect r="r" b="b" t="t" l="l"/>
              <a:pathLst>
                <a:path h="990346" w="13014961">
                  <a:moveTo>
                    <a:pt x="0" y="149479"/>
                  </a:moveTo>
                  <a:cubicBezTo>
                    <a:pt x="0" y="66929"/>
                    <a:pt x="66929" y="0"/>
                    <a:pt x="149479" y="0"/>
                  </a:cubicBezTo>
                  <a:lnTo>
                    <a:pt x="12865481" y="0"/>
                  </a:lnTo>
                  <a:cubicBezTo>
                    <a:pt x="12948031" y="0"/>
                    <a:pt x="13014961" y="66929"/>
                    <a:pt x="13014961" y="149479"/>
                  </a:cubicBezTo>
                  <a:lnTo>
                    <a:pt x="13014961" y="840867"/>
                  </a:lnTo>
                  <a:cubicBezTo>
                    <a:pt x="13014961" y="923417"/>
                    <a:pt x="12948031" y="990346"/>
                    <a:pt x="12865481" y="990346"/>
                  </a:cubicBezTo>
                  <a:lnTo>
                    <a:pt x="149479" y="990346"/>
                  </a:lnTo>
                  <a:cubicBezTo>
                    <a:pt x="66929" y="990346"/>
                    <a:pt x="0" y="923417"/>
                    <a:pt x="0" y="840867"/>
                  </a:cubicBezTo>
                  <a:close/>
                </a:path>
              </a:pathLst>
            </a:custGeom>
            <a:solidFill>
              <a:srgbClr val="FFFFFF">
                <a:alpha val="77255"/>
              </a:srgbClr>
            </a:solidFill>
            <a:ln w="15252" cap="sq">
              <a:solidFill>
                <a:srgbClr val="EEE3CD"/>
              </a:solidFill>
              <a:prstDash val="solid"/>
              <a:miter/>
            </a:ln>
          </p:spPr>
        </p:sp>
      </p:grpSp>
      <p:sp>
        <p:nvSpPr>
          <p:cNvPr name="TextBox 9" id="9"/>
          <p:cNvSpPr txBox="true"/>
          <p:nvPr/>
        </p:nvSpPr>
        <p:spPr>
          <a:xfrm rot="0">
            <a:off x="1290561" y="3468910"/>
            <a:ext cx="2813466" cy="237049"/>
          </a:xfrm>
          <a:prstGeom prst="rect">
            <a:avLst/>
          </a:prstGeom>
        </p:spPr>
        <p:txBody>
          <a:bodyPr anchor="t" rtlCol="false" tIns="0" lIns="0" bIns="0" rIns="0">
            <a:spAutoFit/>
          </a:bodyPr>
          <a:lstStyle/>
          <a:p>
            <a:pPr algn="l">
              <a:lnSpc>
                <a:spcPts val="1625"/>
              </a:lnSpc>
            </a:pPr>
            <a:r>
              <a:rPr lang="en-US" sz="1426" b="true">
                <a:solidFill>
                  <a:srgbClr val="CDA349"/>
                </a:solidFill>
                <a:latin typeface="Aptos Bold"/>
                <a:ea typeface="Aptos Bold"/>
                <a:cs typeface="Aptos Bold"/>
                <a:sym typeface="Aptos Bold"/>
              </a:rPr>
              <a:t>Accredited provider</a:t>
            </a:r>
          </a:p>
        </p:txBody>
      </p:sp>
      <p:sp>
        <p:nvSpPr>
          <p:cNvPr name="TextBox 10" id="10"/>
          <p:cNvSpPr txBox="true"/>
          <p:nvPr/>
        </p:nvSpPr>
        <p:spPr>
          <a:xfrm rot="0">
            <a:off x="4324169" y="3455184"/>
            <a:ext cx="6039250" cy="291951"/>
          </a:xfrm>
          <a:prstGeom prst="rect">
            <a:avLst/>
          </a:prstGeom>
        </p:spPr>
        <p:txBody>
          <a:bodyPr anchor="t" rtlCol="false" tIns="0" lIns="0" bIns="0" rIns="0">
            <a:spAutoFit/>
          </a:bodyPr>
          <a:lstStyle/>
          <a:p>
            <a:pPr algn="l">
              <a:lnSpc>
                <a:spcPts val="1968"/>
              </a:lnSpc>
            </a:pPr>
            <a:r>
              <a:rPr lang="en-US" sz="1726" b="true">
                <a:solidFill>
                  <a:srgbClr val="122B40"/>
                </a:solidFill>
                <a:latin typeface="Aptos Bold"/>
                <a:ea typeface="Aptos Bold"/>
                <a:cs typeface="Aptos Bold"/>
                <a:sym typeface="Aptos Bold"/>
              </a:rPr>
              <a:t>[Insert accredited provider / joint provider]</a:t>
            </a:r>
          </a:p>
        </p:txBody>
      </p:sp>
      <p:grpSp>
        <p:nvGrpSpPr>
          <p:cNvPr name="Group 11" id="11"/>
          <p:cNvGrpSpPr/>
          <p:nvPr/>
        </p:nvGrpSpPr>
        <p:grpSpPr>
          <a:xfrm rot="0">
            <a:off x="980694" y="4124115"/>
            <a:ext cx="9761230" cy="742769"/>
            <a:chOff x="0" y="0"/>
            <a:chExt cx="13014973" cy="990359"/>
          </a:xfrm>
        </p:grpSpPr>
        <p:sp>
          <p:nvSpPr>
            <p:cNvPr name="Freeform 12" id="12"/>
            <p:cNvSpPr/>
            <p:nvPr/>
          </p:nvSpPr>
          <p:spPr>
            <a:xfrm flipH="false" flipV="false" rot="0">
              <a:off x="0" y="0"/>
              <a:ext cx="13014961" cy="990346"/>
            </a:xfrm>
            <a:custGeom>
              <a:avLst/>
              <a:gdLst/>
              <a:ahLst/>
              <a:cxnLst/>
              <a:rect r="r" b="b" t="t" l="l"/>
              <a:pathLst>
                <a:path h="990346" w="13014961">
                  <a:moveTo>
                    <a:pt x="0" y="149479"/>
                  </a:moveTo>
                  <a:cubicBezTo>
                    <a:pt x="0" y="66929"/>
                    <a:pt x="66929" y="0"/>
                    <a:pt x="149479" y="0"/>
                  </a:cubicBezTo>
                  <a:lnTo>
                    <a:pt x="12865481" y="0"/>
                  </a:lnTo>
                  <a:cubicBezTo>
                    <a:pt x="12948031" y="0"/>
                    <a:pt x="13014961" y="66929"/>
                    <a:pt x="13014961" y="149479"/>
                  </a:cubicBezTo>
                  <a:lnTo>
                    <a:pt x="13014961" y="840867"/>
                  </a:lnTo>
                  <a:cubicBezTo>
                    <a:pt x="13014961" y="923417"/>
                    <a:pt x="12948031" y="990346"/>
                    <a:pt x="12865481" y="990346"/>
                  </a:cubicBezTo>
                  <a:lnTo>
                    <a:pt x="149479" y="990346"/>
                  </a:lnTo>
                  <a:cubicBezTo>
                    <a:pt x="66929" y="990346"/>
                    <a:pt x="0" y="923417"/>
                    <a:pt x="0" y="840867"/>
                  </a:cubicBezTo>
                  <a:close/>
                </a:path>
              </a:pathLst>
            </a:custGeom>
            <a:solidFill>
              <a:srgbClr val="FFF9EF">
                <a:alpha val="77255"/>
              </a:srgbClr>
            </a:solidFill>
            <a:ln w="15252" cap="sq">
              <a:solidFill>
                <a:srgbClr val="EEE3CD"/>
              </a:solidFill>
              <a:prstDash val="solid"/>
              <a:miter/>
            </a:ln>
          </p:spPr>
        </p:sp>
      </p:grpSp>
      <p:sp>
        <p:nvSpPr>
          <p:cNvPr name="TextBox 13" id="13"/>
          <p:cNvSpPr txBox="true"/>
          <p:nvPr/>
        </p:nvSpPr>
        <p:spPr>
          <a:xfrm rot="0">
            <a:off x="1290561" y="4374880"/>
            <a:ext cx="2813466" cy="237049"/>
          </a:xfrm>
          <a:prstGeom prst="rect">
            <a:avLst/>
          </a:prstGeom>
        </p:spPr>
        <p:txBody>
          <a:bodyPr anchor="t" rtlCol="false" tIns="0" lIns="0" bIns="0" rIns="0">
            <a:spAutoFit/>
          </a:bodyPr>
          <a:lstStyle/>
          <a:p>
            <a:pPr algn="l">
              <a:lnSpc>
                <a:spcPts val="1625"/>
              </a:lnSpc>
            </a:pPr>
            <a:r>
              <a:rPr lang="en-US" sz="1426" b="true">
                <a:solidFill>
                  <a:srgbClr val="CDA349"/>
                </a:solidFill>
                <a:latin typeface="Aptos Bold"/>
                <a:ea typeface="Aptos Bold"/>
                <a:cs typeface="Aptos Bold"/>
                <a:sym typeface="Aptos Bold"/>
              </a:rPr>
              <a:t>Credit designation</a:t>
            </a:r>
          </a:p>
        </p:txBody>
      </p:sp>
      <p:sp>
        <p:nvSpPr>
          <p:cNvPr name="TextBox 14" id="14"/>
          <p:cNvSpPr txBox="true"/>
          <p:nvPr/>
        </p:nvSpPr>
        <p:spPr>
          <a:xfrm rot="0">
            <a:off x="4324169" y="4361155"/>
            <a:ext cx="6039250" cy="291951"/>
          </a:xfrm>
          <a:prstGeom prst="rect">
            <a:avLst/>
          </a:prstGeom>
        </p:spPr>
        <p:txBody>
          <a:bodyPr anchor="t" rtlCol="false" tIns="0" lIns="0" bIns="0" rIns="0">
            <a:spAutoFit/>
          </a:bodyPr>
          <a:lstStyle/>
          <a:p>
            <a:pPr algn="l">
              <a:lnSpc>
                <a:spcPts val="1968"/>
              </a:lnSpc>
            </a:pPr>
            <a:r>
              <a:rPr lang="en-US" sz="1726" b="true">
                <a:solidFill>
                  <a:srgbClr val="122B40"/>
                </a:solidFill>
                <a:latin typeface="Aptos Bold"/>
                <a:ea typeface="Aptos Bold"/>
                <a:cs typeface="Aptos Bold"/>
                <a:sym typeface="Aptos Bold"/>
              </a:rPr>
              <a:t>[Insert approved CME / CE credit language]</a:t>
            </a:r>
          </a:p>
        </p:txBody>
      </p:sp>
      <p:grpSp>
        <p:nvGrpSpPr>
          <p:cNvPr name="Group 15" id="15"/>
          <p:cNvGrpSpPr/>
          <p:nvPr/>
        </p:nvGrpSpPr>
        <p:grpSpPr>
          <a:xfrm rot="0">
            <a:off x="980694" y="5030086"/>
            <a:ext cx="9761230" cy="742769"/>
            <a:chOff x="0" y="0"/>
            <a:chExt cx="13014973" cy="990359"/>
          </a:xfrm>
        </p:grpSpPr>
        <p:sp>
          <p:nvSpPr>
            <p:cNvPr name="Freeform 16" id="16"/>
            <p:cNvSpPr/>
            <p:nvPr/>
          </p:nvSpPr>
          <p:spPr>
            <a:xfrm flipH="false" flipV="false" rot="0">
              <a:off x="0" y="0"/>
              <a:ext cx="13014961" cy="990346"/>
            </a:xfrm>
            <a:custGeom>
              <a:avLst/>
              <a:gdLst/>
              <a:ahLst/>
              <a:cxnLst/>
              <a:rect r="r" b="b" t="t" l="l"/>
              <a:pathLst>
                <a:path h="990346" w="13014961">
                  <a:moveTo>
                    <a:pt x="0" y="149479"/>
                  </a:moveTo>
                  <a:cubicBezTo>
                    <a:pt x="0" y="66929"/>
                    <a:pt x="66929" y="0"/>
                    <a:pt x="149479" y="0"/>
                  </a:cubicBezTo>
                  <a:lnTo>
                    <a:pt x="12865481" y="0"/>
                  </a:lnTo>
                  <a:cubicBezTo>
                    <a:pt x="12948031" y="0"/>
                    <a:pt x="13014961" y="66929"/>
                    <a:pt x="13014961" y="149479"/>
                  </a:cubicBezTo>
                  <a:lnTo>
                    <a:pt x="13014961" y="840867"/>
                  </a:lnTo>
                  <a:cubicBezTo>
                    <a:pt x="13014961" y="923417"/>
                    <a:pt x="12948031" y="990346"/>
                    <a:pt x="12865481" y="990346"/>
                  </a:cubicBezTo>
                  <a:lnTo>
                    <a:pt x="149479" y="990346"/>
                  </a:lnTo>
                  <a:cubicBezTo>
                    <a:pt x="66929" y="990346"/>
                    <a:pt x="0" y="923417"/>
                    <a:pt x="0" y="840867"/>
                  </a:cubicBezTo>
                  <a:close/>
                </a:path>
              </a:pathLst>
            </a:custGeom>
            <a:solidFill>
              <a:srgbClr val="FFFFFF">
                <a:alpha val="77255"/>
              </a:srgbClr>
            </a:solidFill>
            <a:ln w="15252" cap="sq">
              <a:solidFill>
                <a:srgbClr val="EEE3CD"/>
              </a:solidFill>
              <a:prstDash val="solid"/>
              <a:miter/>
            </a:ln>
          </p:spPr>
        </p:sp>
      </p:grpSp>
      <p:sp>
        <p:nvSpPr>
          <p:cNvPr name="TextBox 17" id="17"/>
          <p:cNvSpPr txBox="true"/>
          <p:nvPr/>
        </p:nvSpPr>
        <p:spPr>
          <a:xfrm rot="0">
            <a:off x="1290561" y="5280841"/>
            <a:ext cx="2813466" cy="237049"/>
          </a:xfrm>
          <a:prstGeom prst="rect">
            <a:avLst/>
          </a:prstGeom>
        </p:spPr>
        <p:txBody>
          <a:bodyPr anchor="t" rtlCol="false" tIns="0" lIns="0" bIns="0" rIns="0">
            <a:spAutoFit/>
          </a:bodyPr>
          <a:lstStyle/>
          <a:p>
            <a:pPr algn="l">
              <a:lnSpc>
                <a:spcPts val="1625"/>
              </a:lnSpc>
            </a:pPr>
            <a:r>
              <a:rPr lang="en-US" sz="1426" b="true">
                <a:solidFill>
                  <a:srgbClr val="CDA349"/>
                </a:solidFill>
                <a:latin typeface="Aptos Bold"/>
                <a:ea typeface="Aptos Bold"/>
                <a:cs typeface="Aptos Bold"/>
                <a:sym typeface="Aptos Bold"/>
              </a:rPr>
              <a:t>Release / expiration dates</a:t>
            </a:r>
          </a:p>
        </p:txBody>
      </p:sp>
      <p:sp>
        <p:nvSpPr>
          <p:cNvPr name="TextBox 18" id="18"/>
          <p:cNvSpPr txBox="true"/>
          <p:nvPr/>
        </p:nvSpPr>
        <p:spPr>
          <a:xfrm rot="0">
            <a:off x="4324169" y="5267115"/>
            <a:ext cx="6039250" cy="291951"/>
          </a:xfrm>
          <a:prstGeom prst="rect">
            <a:avLst/>
          </a:prstGeom>
        </p:spPr>
        <p:txBody>
          <a:bodyPr anchor="t" rtlCol="false" tIns="0" lIns="0" bIns="0" rIns="0">
            <a:spAutoFit/>
          </a:bodyPr>
          <a:lstStyle/>
          <a:p>
            <a:pPr algn="l">
              <a:lnSpc>
                <a:spcPts val="1968"/>
              </a:lnSpc>
            </a:pPr>
            <a:r>
              <a:rPr lang="en-US" sz="1726" b="true">
                <a:solidFill>
                  <a:srgbClr val="122B40"/>
                </a:solidFill>
                <a:latin typeface="Aptos Bold"/>
                <a:ea typeface="Aptos Bold"/>
                <a:cs typeface="Aptos Bold"/>
                <a:sym typeface="Aptos Bold"/>
              </a:rPr>
              <a:t>[Insert release, review, and expiration dates]</a:t>
            </a:r>
          </a:p>
        </p:txBody>
      </p:sp>
      <p:grpSp>
        <p:nvGrpSpPr>
          <p:cNvPr name="Group 19" id="19"/>
          <p:cNvGrpSpPr/>
          <p:nvPr/>
        </p:nvGrpSpPr>
        <p:grpSpPr>
          <a:xfrm rot="0">
            <a:off x="980694" y="5936047"/>
            <a:ext cx="9761230" cy="742769"/>
            <a:chOff x="0" y="0"/>
            <a:chExt cx="13014973" cy="990359"/>
          </a:xfrm>
        </p:grpSpPr>
        <p:sp>
          <p:nvSpPr>
            <p:cNvPr name="Freeform 20" id="20"/>
            <p:cNvSpPr/>
            <p:nvPr/>
          </p:nvSpPr>
          <p:spPr>
            <a:xfrm flipH="false" flipV="false" rot="0">
              <a:off x="0" y="0"/>
              <a:ext cx="13014961" cy="990346"/>
            </a:xfrm>
            <a:custGeom>
              <a:avLst/>
              <a:gdLst/>
              <a:ahLst/>
              <a:cxnLst/>
              <a:rect r="r" b="b" t="t" l="l"/>
              <a:pathLst>
                <a:path h="990346" w="13014961">
                  <a:moveTo>
                    <a:pt x="0" y="149479"/>
                  </a:moveTo>
                  <a:cubicBezTo>
                    <a:pt x="0" y="66929"/>
                    <a:pt x="66929" y="0"/>
                    <a:pt x="149479" y="0"/>
                  </a:cubicBezTo>
                  <a:lnTo>
                    <a:pt x="12865481" y="0"/>
                  </a:lnTo>
                  <a:cubicBezTo>
                    <a:pt x="12948031" y="0"/>
                    <a:pt x="13014961" y="66929"/>
                    <a:pt x="13014961" y="149479"/>
                  </a:cubicBezTo>
                  <a:lnTo>
                    <a:pt x="13014961" y="840867"/>
                  </a:lnTo>
                  <a:cubicBezTo>
                    <a:pt x="13014961" y="923417"/>
                    <a:pt x="12948031" y="990346"/>
                    <a:pt x="12865481" y="990346"/>
                  </a:cubicBezTo>
                  <a:lnTo>
                    <a:pt x="149479" y="990346"/>
                  </a:lnTo>
                  <a:cubicBezTo>
                    <a:pt x="66929" y="990346"/>
                    <a:pt x="0" y="923417"/>
                    <a:pt x="0" y="840867"/>
                  </a:cubicBezTo>
                  <a:close/>
                </a:path>
              </a:pathLst>
            </a:custGeom>
            <a:solidFill>
              <a:srgbClr val="FFF9EF">
                <a:alpha val="77255"/>
              </a:srgbClr>
            </a:solidFill>
            <a:ln w="15252" cap="sq">
              <a:solidFill>
                <a:srgbClr val="EEE3CD"/>
              </a:solidFill>
              <a:prstDash val="solid"/>
              <a:miter/>
            </a:ln>
          </p:spPr>
        </p:sp>
      </p:grpSp>
      <p:sp>
        <p:nvSpPr>
          <p:cNvPr name="TextBox 21" id="21"/>
          <p:cNvSpPr txBox="true"/>
          <p:nvPr/>
        </p:nvSpPr>
        <p:spPr>
          <a:xfrm rot="0">
            <a:off x="1290561" y="6186802"/>
            <a:ext cx="2813466" cy="237049"/>
          </a:xfrm>
          <a:prstGeom prst="rect">
            <a:avLst/>
          </a:prstGeom>
        </p:spPr>
        <p:txBody>
          <a:bodyPr anchor="t" rtlCol="false" tIns="0" lIns="0" bIns="0" rIns="0">
            <a:spAutoFit/>
          </a:bodyPr>
          <a:lstStyle/>
          <a:p>
            <a:pPr algn="l">
              <a:lnSpc>
                <a:spcPts val="1625"/>
              </a:lnSpc>
            </a:pPr>
            <a:r>
              <a:rPr lang="en-US" sz="1426" b="true">
                <a:solidFill>
                  <a:srgbClr val="CDA349"/>
                </a:solidFill>
                <a:latin typeface="Aptos Bold"/>
                <a:ea typeface="Aptos Bold"/>
                <a:cs typeface="Aptos Bold"/>
                <a:sym typeface="Aptos Bold"/>
              </a:rPr>
              <a:t>Activity format</a:t>
            </a:r>
          </a:p>
        </p:txBody>
      </p:sp>
      <p:sp>
        <p:nvSpPr>
          <p:cNvPr name="TextBox 22" id="22"/>
          <p:cNvSpPr txBox="true"/>
          <p:nvPr/>
        </p:nvSpPr>
        <p:spPr>
          <a:xfrm rot="0">
            <a:off x="4324169" y="6173076"/>
            <a:ext cx="6039250" cy="291951"/>
          </a:xfrm>
          <a:prstGeom prst="rect">
            <a:avLst/>
          </a:prstGeom>
        </p:spPr>
        <p:txBody>
          <a:bodyPr anchor="t" rtlCol="false" tIns="0" lIns="0" bIns="0" rIns="0">
            <a:spAutoFit/>
          </a:bodyPr>
          <a:lstStyle/>
          <a:p>
            <a:pPr algn="l">
              <a:lnSpc>
                <a:spcPts val="1968"/>
              </a:lnSpc>
            </a:pPr>
            <a:r>
              <a:rPr lang="en-US" sz="1726" b="true">
                <a:solidFill>
                  <a:srgbClr val="122B40"/>
                </a:solidFill>
                <a:latin typeface="Aptos Bold"/>
                <a:ea typeface="Aptos Bold"/>
                <a:cs typeface="Aptos Bold"/>
                <a:sym typeface="Aptos Bold"/>
              </a:rPr>
              <a:t>[Live / enduring material / blended]</a:t>
            </a:r>
          </a:p>
        </p:txBody>
      </p:sp>
      <p:grpSp>
        <p:nvGrpSpPr>
          <p:cNvPr name="Group 23" id="23"/>
          <p:cNvGrpSpPr/>
          <p:nvPr/>
        </p:nvGrpSpPr>
        <p:grpSpPr>
          <a:xfrm rot="0">
            <a:off x="980694" y="6842008"/>
            <a:ext cx="9761230" cy="742769"/>
            <a:chOff x="0" y="0"/>
            <a:chExt cx="13014973" cy="990359"/>
          </a:xfrm>
        </p:grpSpPr>
        <p:sp>
          <p:nvSpPr>
            <p:cNvPr name="Freeform 24" id="24"/>
            <p:cNvSpPr/>
            <p:nvPr/>
          </p:nvSpPr>
          <p:spPr>
            <a:xfrm flipH="false" flipV="false" rot="0">
              <a:off x="0" y="0"/>
              <a:ext cx="13014961" cy="990346"/>
            </a:xfrm>
            <a:custGeom>
              <a:avLst/>
              <a:gdLst/>
              <a:ahLst/>
              <a:cxnLst/>
              <a:rect r="r" b="b" t="t" l="l"/>
              <a:pathLst>
                <a:path h="990346" w="13014961">
                  <a:moveTo>
                    <a:pt x="0" y="149479"/>
                  </a:moveTo>
                  <a:cubicBezTo>
                    <a:pt x="0" y="66929"/>
                    <a:pt x="66929" y="0"/>
                    <a:pt x="149479" y="0"/>
                  </a:cubicBezTo>
                  <a:lnTo>
                    <a:pt x="12865481" y="0"/>
                  </a:lnTo>
                  <a:cubicBezTo>
                    <a:pt x="12948031" y="0"/>
                    <a:pt x="13014961" y="66929"/>
                    <a:pt x="13014961" y="149479"/>
                  </a:cubicBezTo>
                  <a:lnTo>
                    <a:pt x="13014961" y="840867"/>
                  </a:lnTo>
                  <a:cubicBezTo>
                    <a:pt x="13014961" y="923417"/>
                    <a:pt x="12948031" y="990346"/>
                    <a:pt x="12865481" y="990346"/>
                  </a:cubicBezTo>
                  <a:lnTo>
                    <a:pt x="149479" y="990346"/>
                  </a:lnTo>
                  <a:cubicBezTo>
                    <a:pt x="66929" y="990346"/>
                    <a:pt x="0" y="923417"/>
                    <a:pt x="0" y="840867"/>
                  </a:cubicBezTo>
                  <a:close/>
                </a:path>
              </a:pathLst>
            </a:custGeom>
            <a:solidFill>
              <a:srgbClr val="FFFFFF">
                <a:alpha val="77255"/>
              </a:srgbClr>
            </a:solidFill>
            <a:ln w="15252" cap="sq">
              <a:solidFill>
                <a:srgbClr val="EEE3CD"/>
              </a:solidFill>
              <a:prstDash val="solid"/>
              <a:miter/>
            </a:ln>
          </p:spPr>
        </p:sp>
      </p:grpSp>
      <p:sp>
        <p:nvSpPr>
          <p:cNvPr name="TextBox 25" id="25"/>
          <p:cNvSpPr txBox="true"/>
          <p:nvPr/>
        </p:nvSpPr>
        <p:spPr>
          <a:xfrm rot="0">
            <a:off x="1290561" y="7092772"/>
            <a:ext cx="2813466" cy="237049"/>
          </a:xfrm>
          <a:prstGeom prst="rect">
            <a:avLst/>
          </a:prstGeom>
        </p:spPr>
        <p:txBody>
          <a:bodyPr anchor="t" rtlCol="false" tIns="0" lIns="0" bIns="0" rIns="0">
            <a:spAutoFit/>
          </a:bodyPr>
          <a:lstStyle/>
          <a:p>
            <a:pPr algn="l">
              <a:lnSpc>
                <a:spcPts val="1625"/>
              </a:lnSpc>
            </a:pPr>
            <a:r>
              <a:rPr lang="en-US" sz="1426" b="true">
                <a:solidFill>
                  <a:srgbClr val="CDA349"/>
                </a:solidFill>
                <a:latin typeface="Aptos Bold"/>
                <a:ea typeface="Aptos Bold"/>
                <a:cs typeface="Aptos Bold"/>
                <a:sym typeface="Aptos Bold"/>
              </a:rPr>
              <a:t>Credit claiming</a:t>
            </a:r>
          </a:p>
        </p:txBody>
      </p:sp>
      <p:sp>
        <p:nvSpPr>
          <p:cNvPr name="TextBox 26" id="26"/>
          <p:cNvSpPr txBox="true"/>
          <p:nvPr/>
        </p:nvSpPr>
        <p:spPr>
          <a:xfrm rot="0">
            <a:off x="4324169" y="7079037"/>
            <a:ext cx="6039250" cy="291951"/>
          </a:xfrm>
          <a:prstGeom prst="rect">
            <a:avLst/>
          </a:prstGeom>
        </p:spPr>
        <p:txBody>
          <a:bodyPr anchor="t" rtlCol="false" tIns="0" lIns="0" bIns="0" rIns="0">
            <a:spAutoFit/>
          </a:bodyPr>
          <a:lstStyle/>
          <a:p>
            <a:pPr algn="l">
              <a:lnSpc>
                <a:spcPts val="1968"/>
              </a:lnSpc>
            </a:pPr>
            <a:r>
              <a:rPr lang="en-US" sz="1726" b="true">
                <a:solidFill>
                  <a:srgbClr val="122B40"/>
                </a:solidFill>
                <a:latin typeface="Aptos Bold"/>
                <a:ea typeface="Aptos Bold"/>
                <a:cs typeface="Aptos Bold"/>
                <a:sym typeface="Aptos Bold"/>
              </a:rPr>
              <a:t>[Insert CE21 or LMS instructions]</a:t>
            </a:r>
          </a:p>
        </p:txBody>
      </p:sp>
      <p:sp>
        <p:nvSpPr>
          <p:cNvPr name="AutoShape 27" id="27"/>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28" id="28"/>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CME administrative information</a:t>
            </a:r>
          </a:p>
        </p:txBody>
      </p:sp>
      <p:sp>
        <p:nvSpPr>
          <p:cNvPr name="TextBox 29" id="29"/>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arch.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OFFICIAL CME SLIDE</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Faculty, Planning Committee &amp; Disclosure</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Insert required disclosure and mitigation language.</a:t>
            </a:r>
          </a:p>
        </p:txBody>
      </p:sp>
      <p:grpSp>
        <p:nvGrpSpPr>
          <p:cNvPr name="Group 7" id="7"/>
          <p:cNvGrpSpPr/>
          <p:nvPr/>
        </p:nvGrpSpPr>
        <p:grpSpPr>
          <a:xfrm rot="0">
            <a:off x="1021880" y="3176978"/>
            <a:ext cx="9761230" cy="1044759"/>
            <a:chOff x="0" y="0"/>
            <a:chExt cx="13014973" cy="1393012"/>
          </a:xfrm>
        </p:grpSpPr>
        <p:sp>
          <p:nvSpPr>
            <p:cNvPr name="Freeform 8" id="8"/>
            <p:cNvSpPr/>
            <p:nvPr/>
          </p:nvSpPr>
          <p:spPr>
            <a:xfrm flipH="false" flipV="false" rot="0">
              <a:off x="0" y="0"/>
              <a:ext cx="13014959" cy="1393063"/>
            </a:xfrm>
            <a:custGeom>
              <a:avLst/>
              <a:gdLst/>
              <a:ahLst/>
              <a:cxnLst/>
              <a:rect r="r" b="b" t="t" l="l"/>
              <a:pathLst>
                <a:path h="1393063" w="13014959">
                  <a:moveTo>
                    <a:pt x="0" y="148590"/>
                  </a:moveTo>
                  <a:cubicBezTo>
                    <a:pt x="0" y="66548"/>
                    <a:pt x="66548" y="0"/>
                    <a:pt x="148590" y="0"/>
                  </a:cubicBezTo>
                  <a:lnTo>
                    <a:pt x="12866370" y="0"/>
                  </a:lnTo>
                  <a:cubicBezTo>
                    <a:pt x="12948412" y="0"/>
                    <a:pt x="13014959" y="66548"/>
                    <a:pt x="13014959" y="148590"/>
                  </a:cubicBezTo>
                  <a:lnTo>
                    <a:pt x="13014959" y="1244473"/>
                  </a:lnTo>
                  <a:cubicBezTo>
                    <a:pt x="13014959" y="1326515"/>
                    <a:pt x="12948412" y="1393063"/>
                    <a:pt x="12866370" y="1393063"/>
                  </a:cubicBezTo>
                  <a:lnTo>
                    <a:pt x="148590" y="1393063"/>
                  </a:lnTo>
                  <a:cubicBezTo>
                    <a:pt x="66548" y="1393063"/>
                    <a:pt x="0" y="1326515"/>
                    <a:pt x="0" y="1244473"/>
                  </a:cubicBezTo>
                  <a:close/>
                </a:path>
              </a:pathLst>
            </a:custGeom>
            <a:solidFill>
              <a:srgbClr val="FFFFFF">
                <a:alpha val="80784"/>
              </a:srgbClr>
            </a:solidFill>
            <a:ln w="15252" cap="sq">
              <a:solidFill>
                <a:srgbClr val="CDA349"/>
              </a:solidFill>
              <a:prstDash val="solid"/>
              <a:miter/>
            </a:ln>
          </p:spPr>
        </p:sp>
      </p:grpSp>
      <p:sp>
        <p:nvSpPr>
          <p:cNvPr name="TextBox 9" id="9"/>
          <p:cNvSpPr txBox="true"/>
          <p:nvPr/>
        </p:nvSpPr>
        <p:spPr>
          <a:xfrm rot="0">
            <a:off x="1345473" y="3510096"/>
            <a:ext cx="1852603" cy="237049"/>
          </a:xfrm>
          <a:prstGeom prst="rect">
            <a:avLst/>
          </a:prstGeom>
        </p:spPr>
        <p:txBody>
          <a:bodyPr anchor="t" rtlCol="false" tIns="0" lIns="0" bIns="0" rIns="0">
            <a:spAutoFit/>
          </a:bodyPr>
          <a:lstStyle/>
          <a:p>
            <a:pPr algn="l">
              <a:lnSpc>
                <a:spcPts val="1711"/>
              </a:lnSpc>
            </a:pPr>
            <a:r>
              <a:rPr lang="en-US" sz="1501" b="true">
                <a:solidFill>
                  <a:srgbClr val="CDA349"/>
                </a:solidFill>
                <a:latin typeface="Aptos Bold"/>
                <a:ea typeface="Aptos Bold"/>
                <a:cs typeface="Aptos Bold"/>
                <a:sym typeface="Aptos Bold"/>
              </a:rPr>
              <a:t>Faculty</a:t>
            </a:r>
          </a:p>
        </p:txBody>
      </p:sp>
      <p:sp>
        <p:nvSpPr>
          <p:cNvPr name="TextBox 10" id="10"/>
          <p:cNvSpPr txBox="true"/>
          <p:nvPr/>
        </p:nvSpPr>
        <p:spPr>
          <a:xfrm rot="0">
            <a:off x="3363306" y="3341170"/>
            <a:ext cx="6862858" cy="556965"/>
          </a:xfrm>
          <a:prstGeom prst="rect">
            <a:avLst/>
          </a:prstGeom>
        </p:spPr>
        <p:txBody>
          <a:bodyPr anchor="t" rtlCol="false" tIns="0" lIns="0" bIns="0" rIns="0">
            <a:spAutoFit/>
          </a:bodyPr>
          <a:lstStyle/>
          <a:p>
            <a:pPr algn="l">
              <a:lnSpc>
                <a:spcPts val="2087"/>
              </a:lnSpc>
            </a:pPr>
            <a:r>
              <a:rPr lang="en-US" sz="1831" b="true">
                <a:solidFill>
                  <a:srgbClr val="122B40"/>
                </a:solidFill>
                <a:latin typeface="Aptos Bold"/>
                <a:ea typeface="Aptos Bold"/>
                <a:cs typeface="Aptos Bold"/>
                <a:sym typeface="Aptos Bold"/>
              </a:rPr>
              <a:t>Carey Jones, PharmD</a:t>
            </a:r>
          </a:p>
          <a:p>
            <a:pPr algn="l">
              <a:lnSpc>
                <a:spcPts val="2087"/>
              </a:lnSpc>
            </a:pPr>
            <a:r>
              <a:rPr lang="en-US" sz="1831" b="true">
                <a:solidFill>
                  <a:srgbClr val="122B40"/>
                </a:solidFill>
                <a:latin typeface="Aptos Bold"/>
                <a:ea typeface="Aptos Bold"/>
                <a:cs typeface="Aptos Bold"/>
                <a:sym typeface="Aptos Bold"/>
              </a:rPr>
              <a:t>[Insert title, organization, and credentials as appropriate]</a:t>
            </a:r>
          </a:p>
        </p:txBody>
      </p:sp>
      <p:grpSp>
        <p:nvGrpSpPr>
          <p:cNvPr name="Group 11" id="11"/>
          <p:cNvGrpSpPr/>
          <p:nvPr/>
        </p:nvGrpSpPr>
        <p:grpSpPr>
          <a:xfrm rot="0">
            <a:off x="1021880" y="4618282"/>
            <a:ext cx="9761230" cy="1140847"/>
            <a:chOff x="0" y="0"/>
            <a:chExt cx="13014973" cy="1521130"/>
          </a:xfrm>
        </p:grpSpPr>
        <p:sp>
          <p:nvSpPr>
            <p:cNvPr name="Freeform 12" id="12"/>
            <p:cNvSpPr/>
            <p:nvPr/>
          </p:nvSpPr>
          <p:spPr>
            <a:xfrm flipH="false" flipV="false" rot="0">
              <a:off x="0" y="0"/>
              <a:ext cx="13015088" cy="1521206"/>
            </a:xfrm>
            <a:custGeom>
              <a:avLst/>
              <a:gdLst/>
              <a:ahLst/>
              <a:cxnLst/>
              <a:rect r="r" b="b" t="t" l="l"/>
              <a:pathLst>
                <a:path h="1521206" w="13015088">
                  <a:moveTo>
                    <a:pt x="0" y="148463"/>
                  </a:moveTo>
                  <a:cubicBezTo>
                    <a:pt x="0" y="66421"/>
                    <a:pt x="66421" y="0"/>
                    <a:pt x="148463" y="0"/>
                  </a:cubicBezTo>
                  <a:lnTo>
                    <a:pt x="12866624" y="0"/>
                  </a:lnTo>
                  <a:cubicBezTo>
                    <a:pt x="12948539" y="0"/>
                    <a:pt x="13015088" y="66421"/>
                    <a:pt x="13015088" y="148463"/>
                  </a:cubicBezTo>
                  <a:lnTo>
                    <a:pt x="13015088" y="1372743"/>
                  </a:lnTo>
                  <a:cubicBezTo>
                    <a:pt x="13015088" y="1454658"/>
                    <a:pt x="12948666" y="1521206"/>
                    <a:pt x="12866624" y="1521206"/>
                  </a:cubicBezTo>
                  <a:lnTo>
                    <a:pt x="148463" y="1521206"/>
                  </a:lnTo>
                  <a:cubicBezTo>
                    <a:pt x="66421" y="1521079"/>
                    <a:pt x="0" y="1454658"/>
                    <a:pt x="0" y="1372743"/>
                  </a:cubicBezTo>
                  <a:close/>
                </a:path>
              </a:pathLst>
            </a:custGeom>
            <a:solidFill>
              <a:srgbClr val="FFFFFF">
                <a:alpha val="80784"/>
              </a:srgbClr>
            </a:solidFill>
            <a:ln w="15252" cap="sq">
              <a:solidFill>
                <a:srgbClr val="CDA349"/>
              </a:solidFill>
              <a:prstDash val="solid"/>
              <a:miter/>
            </a:ln>
          </p:spPr>
        </p:sp>
      </p:grpSp>
      <p:sp>
        <p:nvSpPr>
          <p:cNvPr name="TextBox 13" id="13"/>
          <p:cNvSpPr txBox="true"/>
          <p:nvPr/>
        </p:nvSpPr>
        <p:spPr>
          <a:xfrm rot="0">
            <a:off x="1345473" y="5047488"/>
            <a:ext cx="1921231" cy="237049"/>
          </a:xfrm>
          <a:prstGeom prst="rect">
            <a:avLst/>
          </a:prstGeom>
        </p:spPr>
        <p:txBody>
          <a:bodyPr anchor="t" rtlCol="false" tIns="0" lIns="0" bIns="0" rIns="0">
            <a:spAutoFit/>
          </a:bodyPr>
          <a:lstStyle/>
          <a:p>
            <a:pPr algn="l">
              <a:lnSpc>
                <a:spcPts val="1711"/>
              </a:lnSpc>
            </a:pPr>
            <a:r>
              <a:rPr lang="en-US" sz="1501" b="true">
                <a:solidFill>
                  <a:srgbClr val="CDA349"/>
                </a:solidFill>
                <a:latin typeface="Aptos Bold"/>
                <a:ea typeface="Aptos Bold"/>
                <a:cs typeface="Aptos Bold"/>
                <a:sym typeface="Aptos Bold"/>
              </a:rPr>
              <a:t>Disclosures</a:t>
            </a:r>
          </a:p>
        </p:txBody>
      </p:sp>
      <p:sp>
        <p:nvSpPr>
          <p:cNvPr name="TextBox 14" id="14"/>
          <p:cNvSpPr txBox="true"/>
          <p:nvPr/>
        </p:nvSpPr>
        <p:spPr>
          <a:xfrm rot="0">
            <a:off x="3363306" y="4845787"/>
            <a:ext cx="7000123" cy="658378"/>
          </a:xfrm>
          <a:prstGeom prst="rect">
            <a:avLst/>
          </a:prstGeom>
        </p:spPr>
        <p:txBody>
          <a:bodyPr anchor="t" rtlCol="false" tIns="0" lIns="0" bIns="0" rIns="0">
            <a:spAutoFit/>
          </a:bodyPr>
          <a:lstStyle/>
          <a:p>
            <a:pPr algn="l">
              <a:lnSpc>
                <a:spcPts val="2019"/>
              </a:lnSpc>
            </a:pPr>
            <a:r>
              <a:rPr lang="en-US" sz="1771">
                <a:solidFill>
                  <a:srgbClr val="122B40"/>
                </a:solidFill>
                <a:latin typeface="Aptos"/>
                <a:ea typeface="Aptos"/>
                <a:cs typeface="Aptos"/>
                <a:sym typeface="Aptos"/>
              </a:rPr>
              <a:t>Relevant financial relationships: [Insert none or details]</a:t>
            </a:r>
          </a:p>
          <a:p>
            <a:pPr algn="l">
              <a:lnSpc>
                <a:spcPts val="2019"/>
              </a:lnSpc>
            </a:pPr>
            <a:r>
              <a:rPr lang="en-US" sz="1771">
                <a:solidFill>
                  <a:srgbClr val="122B40"/>
                </a:solidFill>
                <a:latin typeface="Aptos"/>
                <a:ea typeface="Aptos"/>
                <a:cs typeface="Aptos"/>
                <a:sym typeface="Aptos"/>
              </a:rPr>
              <a:t>Mitigation: [Insert approved mitigation statement]</a:t>
            </a:r>
          </a:p>
        </p:txBody>
      </p:sp>
      <p:grpSp>
        <p:nvGrpSpPr>
          <p:cNvPr name="Group 15" id="15"/>
          <p:cNvGrpSpPr/>
          <p:nvPr/>
        </p:nvGrpSpPr>
        <p:grpSpPr>
          <a:xfrm rot="0">
            <a:off x="1021880" y="6141949"/>
            <a:ext cx="9761230" cy="1140847"/>
            <a:chOff x="0" y="0"/>
            <a:chExt cx="13014973" cy="1521130"/>
          </a:xfrm>
        </p:grpSpPr>
        <p:sp>
          <p:nvSpPr>
            <p:cNvPr name="Freeform 16" id="16"/>
            <p:cNvSpPr/>
            <p:nvPr/>
          </p:nvSpPr>
          <p:spPr>
            <a:xfrm flipH="false" flipV="false" rot="0">
              <a:off x="0" y="0"/>
              <a:ext cx="13015088" cy="1521206"/>
            </a:xfrm>
            <a:custGeom>
              <a:avLst/>
              <a:gdLst/>
              <a:ahLst/>
              <a:cxnLst/>
              <a:rect r="r" b="b" t="t" l="l"/>
              <a:pathLst>
                <a:path h="1521206" w="13015088">
                  <a:moveTo>
                    <a:pt x="0" y="148463"/>
                  </a:moveTo>
                  <a:cubicBezTo>
                    <a:pt x="0" y="66421"/>
                    <a:pt x="66421" y="0"/>
                    <a:pt x="148463" y="0"/>
                  </a:cubicBezTo>
                  <a:lnTo>
                    <a:pt x="12866624" y="0"/>
                  </a:lnTo>
                  <a:cubicBezTo>
                    <a:pt x="12948539" y="0"/>
                    <a:pt x="13015088" y="66421"/>
                    <a:pt x="13015088" y="148463"/>
                  </a:cubicBezTo>
                  <a:lnTo>
                    <a:pt x="13015088" y="1372743"/>
                  </a:lnTo>
                  <a:cubicBezTo>
                    <a:pt x="13015088" y="1454658"/>
                    <a:pt x="12948666" y="1521206"/>
                    <a:pt x="12866624" y="1521206"/>
                  </a:cubicBezTo>
                  <a:lnTo>
                    <a:pt x="148463" y="1521206"/>
                  </a:lnTo>
                  <a:cubicBezTo>
                    <a:pt x="66421" y="1521079"/>
                    <a:pt x="0" y="1454658"/>
                    <a:pt x="0" y="1372743"/>
                  </a:cubicBezTo>
                  <a:close/>
                </a:path>
              </a:pathLst>
            </a:custGeom>
            <a:solidFill>
              <a:srgbClr val="FFFFFF">
                <a:alpha val="80784"/>
              </a:srgbClr>
            </a:solidFill>
            <a:ln w="15252" cap="sq">
              <a:solidFill>
                <a:srgbClr val="CDA349"/>
              </a:solidFill>
              <a:prstDash val="solid"/>
              <a:miter/>
            </a:ln>
          </p:spPr>
        </p:sp>
      </p:grpSp>
      <p:sp>
        <p:nvSpPr>
          <p:cNvPr name="TextBox 17" id="17"/>
          <p:cNvSpPr txBox="true"/>
          <p:nvPr/>
        </p:nvSpPr>
        <p:spPr>
          <a:xfrm rot="0">
            <a:off x="1345473" y="6557429"/>
            <a:ext cx="1852603" cy="237049"/>
          </a:xfrm>
          <a:prstGeom prst="rect">
            <a:avLst/>
          </a:prstGeom>
        </p:spPr>
        <p:txBody>
          <a:bodyPr anchor="t" rtlCol="false" tIns="0" lIns="0" bIns="0" rIns="0">
            <a:spAutoFit/>
          </a:bodyPr>
          <a:lstStyle/>
          <a:p>
            <a:pPr algn="l">
              <a:lnSpc>
                <a:spcPts val="1711"/>
              </a:lnSpc>
            </a:pPr>
            <a:r>
              <a:rPr lang="en-US" sz="1501" b="true">
                <a:solidFill>
                  <a:srgbClr val="CDA349"/>
                </a:solidFill>
                <a:latin typeface="Aptos Bold"/>
                <a:ea typeface="Aptos Bold"/>
                <a:cs typeface="Aptos Bold"/>
                <a:sym typeface="Aptos Bold"/>
              </a:rPr>
              <a:t>Support</a:t>
            </a:r>
          </a:p>
        </p:txBody>
      </p:sp>
      <p:sp>
        <p:nvSpPr>
          <p:cNvPr name="TextBox 18" id="18"/>
          <p:cNvSpPr txBox="true"/>
          <p:nvPr/>
        </p:nvSpPr>
        <p:spPr>
          <a:xfrm rot="0">
            <a:off x="3363306" y="6369453"/>
            <a:ext cx="7000123" cy="658378"/>
          </a:xfrm>
          <a:prstGeom prst="rect">
            <a:avLst/>
          </a:prstGeom>
        </p:spPr>
        <p:txBody>
          <a:bodyPr anchor="t" rtlCol="false" tIns="0" lIns="0" bIns="0" rIns="0">
            <a:spAutoFit/>
          </a:bodyPr>
          <a:lstStyle/>
          <a:p>
            <a:pPr algn="l">
              <a:lnSpc>
                <a:spcPts val="2019"/>
              </a:lnSpc>
            </a:pPr>
            <a:r>
              <a:rPr lang="en-US" sz="1771">
                <a:solidFill>
                  <a:srgbClr val="122B40"/>
                </a:solidFill>
                <a:latin typeface="Aptos"/>
                <a:ea typeface="Aptos"/>
                <a:cs typeface="Aptos"/>
                <a:sym typeface="Aptos"/>
              </a:rPr>
              <a:t>Commercial support: [Insert statement]</a:t>
            </a:r>
          </a:p>
          <a:p>
            <a:pPr algn="l">
              <a:lnSpc>
                <a:spcPts val="2019"/>
              </a:lnSpc>
            </a:pPr>
            <a:r>
              <a:rPr lang="en-US" sz="1771">
                <a:solidFill>
                  <a:srgbClr val="122B40"/>
                </a:solidFill>
                <a:latin typeface="Aptos"/>
                <a:ea typeface="Aptos"/>
                <a:cs typeface="Aptos"/>
                <a:sym typeface="Aptos"/>
              </a:rPr>
              <a:t>AI-assisted development: [Insert transparency statement if used]</a:t>
            </a:r>
          </a:p>
        </p:txBody>
      </p:sp>
      <p:sp>
        <p:nvSpPr>
          <p:cNvPr name="AutoShape 19" id="19"/>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20" id="20"/>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Disclosures and transparency</a:t>
            </a:r>
          </a:p>
        </p:txBody>
      </p:sp>
      <p:sp>
        <p:nvSpPr>
          <p:cNvPr name="TextBox 21" id="21"/>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human.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OFFICIAL CME SLIDE</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Learning Objectives</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After participating in this activity, learners should be able to:</a:t>
            </a:r>
          </a:p>
        </p:txBody>
      </p:sp>
      <p:grpSp>
        <p:nvGrpSpPr>
          <p:cNvPr name="Group 7" id="7"/>
          <p:cNvGrpSpPr/>
          <p:nvPr/>
        </p:nvGrpSpPr>
        <p:grpSpPr>
          <a:xfrm rot="0">
            <a:off x="1125588" y="3212049"/>
            <a:ext cx="9471441" cy="4804353"/>
            <a:chOff x="0" y="0"/>
            <a:chExt cx="12628588" cy="6405804"/>
          </a:xfrm>
        </p:grpSpPr>
        <p:sp>
          <p:nvSpPr>
            <p:cNvPr name="Freeform 8" id="8"/>
            <p:cNvSpPr/>
            <p:nvPr/>
          </p:nvSpPr>
          <p:spPr>
            <a:xfrm flipH="false" flipV="false" rot="0">
              <a:off x="0" y="0"/>
              <a:ext cx="12628586" cy="6405805"/>
            </a:xfrm>
            <a:custGeom>
              <a:avLst/>
              <a:gdLst/>
              <a:ahLst/>
              <a:cxnLst/>
              <a:rect r="r" b="b" t="t" l="l"/>
              <a:pathLst>
                <a:path h="6405805" w="12628586">
                  <a:moveTo>
                    <a:pt x="0" y="0"/>
                  </a:moveTo>
                  <a:lnTo>
                    <a:pt x="12628586" y="0"/>
                  </a:lnTo>
                  <a:lnTo>
                    <a:pt x="12628586" y="6405805"/>
                  </a:lnTo>
                  <a:lnTo>
                    <a:pt x="0" y="6405805"/>
                  </a:lnTo>
                  <a:close/>
                </a:path>
              </a:pathLst>
            </a:custGeom>
            <a:blipFill>
              <a:blip r:embed="rId4">
                <a:alphaModFix amt="0"/>
              </a:blip>
              <a:stretch>
                <a:fillRect l="-15081" t="0" r="-15081" b="0"/>
              </a:stretch>
            </a:blipFill>
          </p:spPr>
        </p:sp>
        <p:sp>
          <p:nvSpPr>
            <p:cNvPr name="TextBox 9" id="9"/>
            <p:cNvSpPr txBox="true"/>
            <p:nvPr/>
          </p:nvSpPr>
          <p:spPr>
            <a:xfrm>
              <a:off x="0" y="0"/>
              <a:ext cx="12628588" cy="6405804"/>
            </a:xfrm>
            <a:prstGeom prst="rect">
              <a:avLst/>
            </a:prstGeom>
          </p:spPr>
          <p:txBody>
            <a:bodyPr anchor="ctr" rtlCol="false" tIns="0" lIns="0" bIns="0" rIns="0"/>
            <a:lstStyle/>
            <a:p>
              <a:pPr algn="l">
                <a:lnSpc>
                  <a:spcPts val="2612"/>
                </a:lnSpc>
              </a:pPr>
              <a:r>
                <a:rPr lang="en-US" sz="2176">
                  <a:solidFill>
                    <a:srgbClr val="233A47"/>
                  </a:solidFill>
                  <a:latin typeface="Aptos"/>
                  <a:ea typeface="Aptos"/>
                  <a:cs typeface="Aptos"/>
                  <a:sym typeface="Aptos"/>
                </a:rPr>
                <a:t>Differentiate a continuous AI experience from the distributed systems operating underneath it.</a:t>
              </a:r>
            </a:p>
            <a:p>
              <a:pPr algn="l">
                <a:lnSpc>
                  <a:spcPts val="2612"/>
                </a:lnSpc>
              </a:pPr>
              <a:r>
                <a:rPr lang="en-US" sz="2176">
                  <a:solidFill>
                    <a:srgbClr val="233A47"/>
                  </a:solidFill>
                  <a:latin typeface="Aptos"/>
                  <a:ea typeface="Aptos"/>
                  <a:cs typeface="Aptos"/>
                  <a:sym typeface="Aptos"/>
                </a:rPr>
                <a:t>Describe why healthcare AI requires context-bound identity, delegated authority, and governed memory.</a:t>
              </a:r>
            </a:p>
            <a:p>
              <a:pPr algn="l">
                <a:lnSpc>
                  <a:spcPts val="2612"/>
                </a:lnSpc>
              </a:pPr>
              <a:r>
                <a:rPr lang="en-US" sz="2176">
                  <a:solidFill>
                    <a:srgbClr val="233A47"/>
                  </a:solidFill>
                  <a:latin typeface="Aptos"/>
                  <a:ea typeface="Aptos"/>
                  <a:cs typeface="Aptos"/>
                  <a:sym typeface="Aptos"/>
                </a:rPr>
                <a:t>Identify boundary risks when AI moves across patient, clinician, organizational, payer, and family contexts.</a:t>
              </a:r>
            </a:p>
            <a:p>
              <a:pPr algn="l">
                <a:lnSpc>
                  <a:spcPts val="2612"/>
                </a:lnSpc>
              </a:pPr>
              <a:r>
                <a:rPr lang="en-US" sz="2176">
                  <a:solidFill>
                    <a:srgbClr val="233A47"/>
                  </a:solidFill>
                  <a:latin typeface="Aptos"/>
                  <a:ea typeface="Aptos"/>
                  <a:cs typeface="Aptos"/>
                  <a:sym typeface="Aptos"/>
                </a:rPr>
                <a:t>Apply a practical stewardship lens before AI-supported work moves from information to action.</a:t>
              </a:r>
            </a:p>
          </p:txBody>
        </p:sp>
      </p:grpSp>
      <p:sp>
        <p:nvSpPr>
          <p:cNvPr name="AutoShape 10" id="10"/>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11" id="11"/>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Learning objectives</a:t>
            </a:r>
          </a:p>
        </p:txBody>
      </p:sp>
      <p:sp>
        <p:nvSpPr>
          <p:cNvPr name="TextBox 12" id="12"/>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boundaries.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OFFICIAL CME SLIDE</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Educational Scope &amp; Disclaimer</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This activity provides conceptual education for healthcare professionals.</a:t>
            </a:r>
          </a:p>
        </p:txBody>
      </p:sp>
      <p:grpSp>
        <p:nvGrpSpPr>
          <p:cNvPr name="Group 7" id="7"/>
          <p:cNvGrpSpPr/>
          <p:nvPr/>
        </p:nvGrpSpPr>
        <p:grpSpPr>
          <a:xfrm rot="0">
            <a:off x="1125588" y="3184598"/>
            <a:ext cx="9471441" cy="4598451"/>
            <a:chOff x="0" y="0"/>
            <a:chExt cx="12628588" cy="6131268"/>
          </a:xfrm>
        </p:grpSpPr>
        <p:sp>
          <p:nvSpPr>
            <p:cNvPr name="Freeform 8" id="8"/>
            <p:cNvSpPr/>
            <p:nvPr/>
          </p:nvSpPr>
          <p:spPr>
            <a:xfrm flipH="false" flipV="false" rot="0">
              <a:off x="0" y="0"/>
              <a:ext cx="12628586" cy="6131270"/>
            </a:xfrm>
            <a:custGeom>
              <a:avLst/>
              <a:gdLst/>
              <a:ahLst/>
              <a:cxnLst/>
              <a:rect r="r" b="b" t="t" l="l"/>
              <a:pathLst>
                <a:path h="6131270" w="12628586">
                  <a:moveTo>
                    <a:pt x="0" y="0"/>
                  </a:moveTo>
                  <a:lnTo>
                    <a:pt x="12628586" y="0"/>
                  </a:lnTo>
                  <a:lnTo>
                    <a:pt x="12628586" y="6131270"/>
                  </a:lnTo>
                  <a:lnTo>
                    <a:pt x="0" y="6131270"/>
                  </a:lnTo>
                  <a:close/>
                </a:path>
              </a:pathLst>
            </a:custGeom>
            <a:blipFill>
              <a:blip r:embed="rId4">
                <a:alphaModFix amt="0"/>
              </a:blip>
              <a:stretch>
                <a:fillRect l="-12292" t="0" r="-12292" b="0"/>
              </a:stretch>
            </a:blipFill>
          </p:spPr>
        </p:sp>
        <p:sp>
          <p:nvSpPr>
            <p:cNvPr name="TextBox 9" id="9"/>
            <p:cNvSpPr txBox="true"/>
            <p:nvPr/>
          </p:nvSpPr>
          <p:spPr>
            <a:xfrm>
              <a:off x="0" y="9525"/>
              <a:ext cx="12628588" cy="6121743"/>
            </a:xfrm>
            <a:prstGeom prst="rect">
              <a:avLst/>
            </a:prstGeom>
          </p:spPr>
          <p:txBody>
            <a:bodyPr anchor="ctr" rtlCol="false" tIns="0" lIns="0" bIns="0" rIns="0"/>
            <a:lstStyle/>
            <a:p>
              <a:pPr algn="l">
                <a:lnSpc>
                  <a:spcPts val="2576"/>
                </a:lnSpc>
              </a:pPr>
              <a:r>
                <a:rPr lang="en-US" sz="2146">
                  <a:solidFill>
                    <a:srgbClr val="233A47"/>
                  </a:solidFill>
                  <a:latin typeface="Aptos"/>
                  <a:ea typeface="Aptos"/>
                  <a:cs typeface="Aptos"/>
                  <a:sym typeface="Aptos"/>
                </a:rPr>
                <a:t>This is not legal, regulatory, cybersecurity, privacy, billing, or clinical implementation advice.</a:t>
              </a:r>
            </a:p>
            <a:p>
              <a:pPr algn="l">
                <a:lnSpc>
                  <a:spcPts val="2576"/>
                </a:lnSpc>
              </a:pPr>
              <a:r>
                <a:rPr lang="en-US" sz="2146">
                  <a:solidFill>
                    <a:srgbClr val="233A47"/>
                  </a:solidFill>
                  <a:latin typeface="Aptos"/>
                  <a:ea typeface="Aptos"/>
                  <a:cs typeface="Aptos"/>
                  <a:sym typeface="Aptos"/>
                </a:rPr>
                <a:t>Examples are illustrative and must be adapted to local policy, workflow, governance, and patient needs.</a:t>
              </a:r>
            </a:p>
            <a:p>
              <a:pPr algn="l">
                <a:lnSpc>
                  <a:spcPts val="2576"/>
                </a:lnSpc>
              </a:pPr>
              <a:r>
                <a:rPr lang="en-US" sz="2146">
                  <a:solidFill>
                    <a:srgbClr val="233A47"/>
                  </a:solidFill>
                  <a:latin typeface="Aptos"/>
                  <a:ea typeface="Aptos"/>
                  <a:cs typeface="Aptos"/>
                  <a:sym typeface="Aptos"/>
                </a:rPr>
                <a:t>AI tools should not make patient-specific decisions without appropriate validation, review, and accountability.</a:t>
              </a:r>
            </a:p>
            <a:p>
              <a:pPr algn="l">
                <a:lnSpc>
                  <a:spcPts val="2576"/>
                </a:lnSpc>
              </a:pPr>
              <a:r>
                <a:rPr lang="en-US" sz="2146">
                  <a:solidFill>
                    <a:srgbClr val="233A47"/>
                  </a:solidFill>
                  <a:latin typeface="Aptos"/>
                  <a:ea typeface="Aptos"/>
                  <a:cs typeface="Aptos"/>
                  <a:sym typeface="Aptos"/>
                </a:rPr>
                <a:t>Healthcare organizations remain responsible for safety, privacy, fairness, documentation, and professional judgment.</a:t>
              </a:r>
            </a:p>
          </p:txBody>
        </p:sp>
      </p:grpSp>
      <p:sp>
        <p:nvSpPr>
          <p:cNvPr name="AutoShape 10" id="10"/>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11" id="11"/>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Educational scope and disclaimer</a:t>
            </a:r>
          </a:p>
        </p:txBody>
      </p:sp>
      <p:sp>
        <p:nvSpPr>
          <p:cNvPr name="TextBox 12" id="12"/>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sp>
        <p:nvSpPr>
          <p:cNvPr name="TextBox 2" id="2"/>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HEALTHCARE LENS</a:t>
            </a:r>
          </a:p>
        </p:txBody>
      </p:sp>
      <p:sp>
        <p:nvSpPr>
          <p:cNvPr name="TextBox 3" id="3"/>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Why this matters in healthcare</a:t>
            </a:r>
          </a:p>
        </p:txBody>
      </p:sp>
      <p:sp>
        <p:nvSpPr>
          <p:cNvPr name="TextBox 4" id="4"/>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Healthcare already runs on many identities, roles, systems, and permissions.</a:t>
            </a:r>
          </a:p>
        </p:txBody>
      </p:sp>
      <p:grpSp>
        <p:nvGrpSpPr>
          <p:cNvPr name="Group 5" id="5"/>
          <p:cNvGrpSpPr/>
          <p:nvPr/>
        </p:nvGrpSpPr>
        <p:grpSpPr>
          <a:xfrm rot="0">
            <a:off x="1061152" y="3504505"/>
            <a:ext cx="1734903" cy="595589"/>
            <a:chOff x="0" y="0"/>
            <a:chExt cx="2313203" cy="794118"/>
          </a:xfrm>
        </p:grpSpPr>
        <p:sp>
          <p:nvSpPr>
            <p:cNvPr name="Freeform 6" id="6"/>
            <p:cNvSpPr/>
            <p:nvPr/>
          </p:nvSpPr>
          <p:spPr>
            <a:xfrm flipH="false" flipV="false" rot="0">
              <a:off x="0" y="0"/>
              <a:ext cx="2313178" cy="794131"/>
            </a:xfrm>
            <a:custGeom>
              <a:avLst/>
              <a:gdLst/>
              <a:ahLst/>
              <a:cxnLst/>
              <a:rect r="r" b="b" t="t" l="l"/>
              <a:pathLst>
                <a:path h="794131" w="2313178">
                  <a:moveTo>
                    <a:pt x="0" y="151257"/>
                  </a:moveTo>
                  <a:cubicBezTo>
                    <a:pt x="0" y="67691"/>
                    <a:pt x="67691" y="0"/>
                    <a:pt x="151257" y="0"/>
                  </a:cubicBezTo>
                  <a:lnTo>
                    <a:pt x="2161921" y="0"/>
                  </a:lnTo>
                  <a:cubicBezTo>
                    <a:pt x="2245487" y="0"/>
                    <a:pt x="2313178" y="67691"/>
                    <a:pt x="2313178" y="151257"/>
                  </a:cubicBezTo>
                  <a:lnTo>
                    <a:pt x="2313178" y="642874"/>
                  </a:lnTo>
                  <a:cubicBezTo>
                    <a:pt x="2313178" y="726440"/>
                    <a:pt x="2245487" y="794131"/>
                    <a:pt x="2161921" y="794131"/>
                  </a:cubicBezTo>
                  <a:lnTo>
                    <a:pt x="151257" y="794131"/>
                  </a:lnTo>
                  <a:cubicBezTo>
                    <a:pt x="67691" y="794131"/>
                    <a:pt x="0" y="726440"/>
                    <a:pt x="0" y="642874"/>
                  </a:cubicBezTo>
                  <a:close/>
                </a:path>
              </a:pathLst>
            </a:custGeom>
            <a:solidFill>
              <a:srgbClr val="CDA349"/>
            </a:solidFill>
          </p:spPr>
        </p:sp>
      </p:grpSp>
      <p:grpSp>
        <p:nvGrpSpPr>
          <p:cNvPr name="Group 7" id="7"/>
          <p:cNvGrpSpPr/>
          <p:nvPr/>
        </p:nvGrpSpPr>
        <p:grpSpPr>
          <a:xfrm rot="0">
            <a:off x="1180500" y="3637578"/>
            <a:ext cx="1496216" cy="411804"/>
            <a:chOff x="0" y="0"/>
            <a:chExt cx="1994954" cy="549072"/>
          </a:xfrm>
        </p:grpSpPr>
        <p:sp>
          <p:nvSpPr>
            <p:cNvPr name="Freeform 8" id="8"/>
            <p:cNvSpPr/>
            <p:nvPr/>
          </p:nvSpPr>
          <p:spPr>
            <a:xfrm flipH="false" flipV="false" rot="0">
              <a:off x="0" y="0"/>
              <a:ext cx="1994951" cy="549069"/>
            </a:xfrm>
            <a:custGeom>
              <a:avLst/>
              <a:gdLst/>
              <a:ahLst/>
              <a:cxnLst/>
              <a:rect r="r" b="b" t="t" l="l"/>
              <a:pathLst>
                <a:path h="549069" w="1994951">
                  <a:moveTo>
                    <a:pt x="0" y="0"/>
                  </a:moveTo>
                  <a:lnTo>
                    <a:pt x="1994951" y="0"/>
                  </a:lnTo>
                  <a:lnTo>
                    <a:pt x="1994951" y="549069"/>
                  </a:lnTo>
                  <a:lnTo>
                    <a:pt x="0" y="549069"/>
                  </a:lnTo>
                  <a:close/>
                </a:path>
              </a:pathLst>
            </a:custGeom>
            <a:blipFill>
              <a:blip r:embed="rId3">
                <a:alphaModFix amt="0"/>
              </a:blip>
              <a:stretch>
                <a:fillRect l="0" t="-20795" r="0" b="-20796"/>
              </a:stretch>
            </a:blipFill>
          </p:spPr>
        </p:sp>
        <p:sp>
          <p:nvSpPr>
            <p:cNvPr name="TextBox 9" id="9"/>
            <p:cNvSpPr txBox="true"/>
            <p:nvPr/>
          </p:nvSpPr>
          <p:spPr>
            <a:xfrm>
              <a:off x="0" y="9525"/>
              <a:ext cx="1994954" cy="539547"/>
            </a:xfrm>
            <a:prstGeom prst="rect">
              <a:avLst/>
            </a:prstGeom>
          </p:spPr>
          <p:txBody>
            <a:bodyPr anchor="ctr" rtlCol="false" tIns="0" lIns="0" bIns="0" rIns="0"/>
            <a:lstStyle/>
            <a:p>
              <a:pPr algn="ctr">
                <a:lnSpc>
                  <a:spcPts val="1796"/>
                </a:lnSpc>
              </a:pPr>
              <a:r>
                <a:rPr lang="en-US" sz="1576" b="true">
                  <a:solidFill>
                    <a:srgbClr val="FFFFFF"/>
                  </a:solidFill>
                  <a:latin typeface="Aptos Bold"/>
                  <a:ea typeface="Aptos Bold"/>
                  <a:cs typeface="Aptos Bold"/>
                  <a:sym typeface="Aptos Bold"/>
                </a:rPr>
                <a:t>Patient</a:t>
              </a:r>
            </a:p>
          </p:txBody>
        </p:sp>
      </p:grpSp>
      <p:grpSp>
        <p:nvGrpSpPr>
          <p:cNvPr name="Group 10" id="10"/>
          <p:cNvGrpSpPr/>
          <p:nvPr/>
        </p:nvGrpSpPr>
        <p:grpSpPr>
          <a:xfrm rot="0">
            <a:off x="2982897" y="3504505"/>
            <a:ext cx="1734903" cy="595589"/>
            <a:chOff x="0" y="0"/>
            <a:chExt cx="2313203" cy="794118"/>
          </a:xfrm>
        </p:grpSpPr>
        <p:sp>
          <p:nvSpPr>
            <p:cNvPr name="Freeform 11" id="11"/>
            <p:cNvSpPr/>
            <p:nvPr/>
          </p:nvSpPr>
          <p:spPr>
            <a:xfrm flipH="false" flipV="false" rot="0">
              <a:off x="0" y="0"/>
              <a:ext cx="2313178" cy="794131"/>
            </a:xfrm>
            <a:custGeom>
              <a:avLst/>
              <a:gdLst/>
              <a:ahLst/>
              <a:cxnLst/>
              <a:rect r="r" b="b" t="t" l="l"/>
              <a:pathLst>
                <a:path h="794131" w="2313178">
                  <a:moveTo>
                    <a:pt x="0" y="151257"/>
                  </a:moveTo>
                  <a:cubicBezTo>
                    <a:pt x="0" y="67691"/>
                    <a:pt x="67691" y="0"/>
                    <a:pt x="151257" y="0"/>
                  </a:cubicBezTo>
                  <a:lnTo>
                    <a:pt x="2161921" y="0"/>
                  </a:lnTo>
                  <a:cubicBezTo>
                    <a:pt x="2245487" y="0"/>
                    <a:pt x="2313178" y="67691"/>
                    <a:pt x="2313178" y="151257"/>
                  </a:cubicBezTo>
                  <a:lnTo>
                    <a:pt x="2313178" y="642874"/>
                  </a:lnTo>
                  <a:cubicBezTo>
                    <a:pt x="2313178" y="726440"/>
                    <a:pt x="2245487" y="794131"/>
                    <a:pt x="2161921" y="794131"/>
                  </a:cubicBezTo>
                  <a:lnTo>
                    <a:pt x="151257" y="794131"/>
                  </a:lnTo>
                  <a:cubicBezTo>
                    <a:pt x="67691" y="794131"/>
                    <a:pt x="0" y="726440"/>
                    <a:pt x="0" y="642874"/>
                  </a:cubicBezTo>
                  <a:close/>
                </a:path>
              </a:pathLst>
            </a:custGeom>
            <a:solidFill>
              <a:srgbClr val="D9E1E2"/>
            </a:solidFill>
          </p:spPr>
        </p:sp>
      </p:grpSp>
      <p:grpSp>
        <p:nvGrpSpPr>
          <p:cNvPr name="Group 12" id="12"/>
          <p:cNvGrpSpPr/>
          <p:nvPr/>
        </p:nvGrpSpPr>
        <p:grpSpPr>
          <a:xfrm rot="0">
            <a:off x="3102235" y="3637578"/>
            <a:ext cx="1496216" cy="411804"/>
            <a:chOff x="0" y="0"/>
            <a:chExt cx="1994954" cy="549072"/>
          </a:xfrm>
        </p:grpSpPr>
        <p:sp>
          <p:nvSpPr>
            <p:cNvPr name="Freeform 13" id="13"/>
            <p:cNvSpPr/>
            <p:nvPr/>
          </p:nvSpPr>
          <p:spPr>
            <a:xfrm flipH="false" flipV="false" rot="0">
              <a:off x="0" y="0"/>
              <a:ext cx="1994951" cy="549069"/>
            </a:xfrm>
            <a:custGeom>
              <a:avLst/>
              <a:gdLst/>
              <a:ahLst/>
              <a:cxnLst/>
              <a:rect r="r" b="b" t="t" l="l"/>
              <a:pathLst>
                <a:path h="549069" w="1994951">
                  <a:moveTo>
                    <a:pt x="0" y="0"/>
                  </a:moveTo>
                  <a:lnTo>
                    <a:pt x="1994951" y="0"/>
                  </a:lnTo>
                  <a:lnTo>
                    <a:pt x="1994951" y="549069"/>
                  </a:lnTo>
                  <a:lnTo>
                    <a:pt x="0" y="549069"/>
                  </a:lnTo>
                  <a:close/>
                </a:path>
              </a:pathLst>
            </a:custGeom>
            <a:blipFill>
              <a:blip r:embed="rId3">
                <a:alphaModFix amt="0"/>
              </a:blip>
              <a:stretch>
                <a:fillRect l="0" t="-20795" r="0" b="-20796"/>
              </a:stretch>
            </a:blipFill>
          </p:spPr>
        </p:sp>
        <p:sp>
          <p:nvSpPr>
            <p:cNvPr name="TextBox 14" id="14"/>
            <p:cNvSpPr txBox="true"/>
            <p:nvPr/>
          </p:nvSpPr>
          <p:spPr>
            <a:xfrm>
              <a:off x="0" y="9525"/>
              <a:ext cx="1994954" cy="539547"/>
            </a:xfrm>
            <a:prstGeom prst="rect">
              <a:avLst/>
            </a:prstGeom>
          </p:spPr>
          <p:txBody>
            <a:bodyPr anchor="ctr" rtlCol="false" tIns="0" lIns="0" bIns="0" rIns="0"/>
            <a:lstStyle/>
            <a:p>
              <a:pPr algn="ctr">
                <a:lnSpc>
                  <a:spcPts val="1796"/>
                </a:lnSpc>
              </a:pPr>
              <a:r>
                <a:rPr lang="en-US" sz="1576" b="true">
                  <a:solidFill>
                    <a:srgbClr val="122B40"/>
                  </a:solidFill>
                  <a:latin typeface="Aptos Bold"/>
                  <a:ea typeface="Aptos Bold"/>
                  <a:cs typeface="Aptos Bold"/>
                  <a:sym typeface="Aptos Bold"/>
                </a:rPr>
                <a:t>Clinician</a:t>
              </a:r>
            </a:p>
          </p:txBody>
        </p:sp>
      </p:grpSp>
      <p:grpSp>
        <p:nvGrpSpPr>
          <p:cNvPr name="Group 15" id="15"/>
          <p:cNvGrpSpPr/>
          <p:nvPr/>
        </p:nvGrpSpPr>
        <p:grpSpPr>
          <a:xfrm rot="0">
            <a:off x="4904632" y="3504505"/>
            <a:ext cx="1734903" cy="595589"/>
            <a:chOff x="0" y="0"/>
            <a:chExt cx="2313203" cy="794118"/>
          </a:xfrm>
        </p:grpSpPr>
        <p:sp>
          <p:nvSpPr>
            <p:cNvPr name="Freeform 16" id="16"/>
            <p:cNvSpPr/>
            <p:nvPr/>
          </p:nvSpPr>
          <p:spPr>
            <a:xfrm flipH="false" flipV="false" rot="0">
              <a:off x="0" y="0"/>
              <a:ext cx="2313178" cy="794131"/>
            </a:xfrm>
            <a:custGeom>
              <a:avLst/>
              <a:gdLst/>
              <a:ahLst/>
              <a:cxnLst/>
              <a:rect r="r" b="b" t="t" l="l"/>
              <a:pathLst>
                <a:path h="794131" w="2313178">
                  <a:moveTo>
                    <a:pt x="0" y="151257"/>
                  </a:moveTo>
                  <a:cubicBezTo>
                    <a:pt x="0" y="67691"/>
                    <a:pt x="67691" y="0"/>
                    <a:pt x="151257" y="0"/>
                  </a:cubicBezTo>
                  <a:lnTo>
                    <a:pt x="2161921" y="0"/>
                  </a:lnTo>
                  <a:cubicBezTo>
                    <a:pt x="2245487" y="0"/>
                    <a:pt x="2313178" y="67691"/>
                    <a:pt x="2313178" y="151257"/>
                  </a:cubicBezTo>
                  <a:lnTo>
                    <a:pt x="2313178" y="642874"/>
                  </a:lnTo>
                  <a:cubicBezTo>
                    <a:pt x="2313178" y="726440"/>
                    <a:pt x="2245487" y="794131"/>
                    <a:pt x="2161921" y="794131"/>
                  </a:cubicBezTo>
                  <a:lnTo>
                    <a:pt x="151257" y="794131"/>
                  </a:lnTo>
                  <a:cubicBezTo>
                    <a:pt x="67691" y="794131"/>
                    <a:pt x="0" y="726440"/>
                    <a:pt x="0" y="642874"/>
                  </a:cubicBezTo>
                  <a:close/>
                </a:path>
              </a:pathLst>
            </a:custGeom>
            <a:solidFill>
              <a:srgbClr val="FFFFFF"/>
            </a:solidFill>
          </p:spPr>
        </p:sp>
      </p:grpSp>
      <p:grpSp>
        <p:nvGrpSpPr>
          <p:cNvPr name="Group 17" id="17"/>
          <p:cNvGrpSpPr/>
          <p:nvPr/>
        </p:nvGrpSpPr>
        <p:grpSpPr>
          <a:xfrm rot="0">
            <a:off x="5023980" y="3637578"/>
            <a:ext cx="1496216" cy="411804"/>
            <a:chOff x="0" y="0"/>
            <a:chExt cx="1994954" cy="549072"/>
          </a:xfrm>
        </p:grpSpPr>
        <p:sp>
          <p:nvSpPr>
            <p:cNvPr name="Freeform 18" id="18"/>
            <p:cNvSpPr/>
            <p:nvPr/>
          </p:nvSpPr>
          <p:spPr>
            <a:xfrm flipH="false" flipV="false" rot="0">
              <a:off x="0" y="0"/>
              <a:ext cx="1994951" cy="549069"/>
            </a:xfrm>
            <a:custGeom>
              <a:avLst/>
              <a:gdLst/>
              <a:ahLst/>
              <a:cxnLst/>
              <a:rect r="r" b="b" t="t" l="l"/>
              <a:pathLst>
                <a:path h="549069" w="1994951">
                  <a:moveTo>
                    <a:pt x="0" y="0"/>
                  </a:moveTo>
                  <a:lnTo>
                    <a:pt x="1994951" y="0"/>
                  </a:lnTo>
                  <a:lnTo>
                    <a:pt x="1994951" y="549069"/>
                  </a:lnTo>
                  <a:lnTo>
                    <a:pt x="0" y="549069"/>
                  </a:lnTo>
                  <a:close/>
                </a:path>
              </a:pathLst>
            </a:custGeom>
            <a:blipFill>
              <a:blip r:embed="rId3">
                <a:alphaModFix amt="0"/>
              </a:blip>
              <a:stretch>
                <a:fillRect l="0" t="-20795" r="0" b="-20796"/>
              </a:stretch>
            </a:blipFill>
          </p:spPr>
        </p:sp>
        <p:sp>
          <p:nvSpPr>
            <p:cNvPr name="TextBox 19" id="19"/>
            <p:cNvSpPr txBox="true"/>
            <p:nvPr/>
          </p:nvSpPr>
          <p:spPr>
            <a:xfrm>
              <a:off x="0" y="9525"/>
              <a:ext cx="1994954" cy="539547"/>
            </a:xfrm>
            <a:prstGeom prst="rect">
              <a:avLst/>
            </a:prstGeom>
          </p:spPr>
          <p:txBody>
            <a:bodyPr anchor="ctr" rtlCol="false" tIns="0" lIns="0" bIns="0" rIns="0"/>
            <a:lstStyle/>
            <a:p>
              <a:pPr algn="ctr">
                <a:lnSpc>
                  <a:spcPts val="1796"/>
                </a:lnSpc>
              </a:pPr>
              <a:r>
                <a:rPr lang="en-US" sz="1576" b="true">
                  <a:solidFill>
                    <a:srgbClr val="122B40"/>
                  </a:solidFill>
                  <a:latin typeface="Aptos Bold"/>
                  <a:ea typeface="Aptos Bold"/>
                  <a:cs typeface="Aptos Bold"/>
                  <a:sym typeface="Aptos Bold"/>
                </a:rPr>
                <a:t>Pharmacist</a:t>
              </a:r>
            </a:p>
          </p:txBody>
        </p:sp>
      </p:grpSp>
      <p:grpSp>
        <p:nvGrpSpPr>
          <p:cNvPr name="Group 20" id="20"/>
          <p:cNvGrpSpPr/>
          <p:nvPr/>
        </p:nvGrpSpPr>
        <p:grpSpPr>
          <a:xfrm rot="0">
            <a:off x="6826377" y="3504505"/>
            <a:ext cx="1734903" cy="595589"/>
            <a:chOff x="0" y="0"/>
            <a:chExt cx="2313203" cy="794118"/>
          </a:xfrm>
        </p:grpSpPr>
        <p:sp>
          <p:nvSpPr>
            <p:cNvPr name="Freeform 21" id="21"/>
            <p:cNvSpPr/>
            <p:nvPr/>
          </p:nvSpPr>
          <p:spPr>
            <a:xfrm flipH="false" flipV="false" rot="0">
              <a:off x="0" y="0"/>
              <a:ext cx="2313178" cy="794131"/>
            </a:xfrm>
            <a:custGeom>
              <a:avLst/>
              <a:gdLst/>
              <a:ahLst/>
              <a:cxnLst/>
              <a:rect r="r" b="b" t="t" l="l"/>
              <a:pathLst>
                <a:path h="794131" w="2313178">
                  <a:moveTo>
                    <a:pt x="0" y="151257"/>
                  </a:moveTo>
                  <a:cubicBezTo>
                    <a:pt x="0" y="67691"/>
                    <a:pt x="67691" y="0"/>
                    <a:pt x="151257" y="0"/>
                  </a:cubicBezTo>
                  <a:lnTo>
                    <a:pt x="2161921" y="0"/>
                  </a:lnTo>
                  <a:cubicBezTo>
                    <a:pt x="2245487" y="0"/>
                    <a:pt x="2313178" y="67691"/>
                    <a:pt x="2313178" y="151257"/>
                  </a:cubicBezTo>
                  <a:lnTo>
                    <a:pt x="2313178" y="642874"/>
                  </a:lnTo>
                  <a:cubicBezTo>
                    <a:pt x="2313178" y="726440"/>
                    <a:pt x="2245487" y="794131"/>
                    <a:pt x="2161921" y="794131"/>
                  </a:cubicBezTo>
                  <a:lnTo>
                    <a:pt x="151257" y="794131"/>
                  </a:lnTo>
                  <a:cubicBezTo>
                    <a:pt x="67691" y="794131"/>
                    <a:pt x="0" y="726440"/>
                    <a:pt x="0" y="642874"/>
                  </a:cubicBezTo>
                  <a:close/>
                </a:path>
              </a:pathLst>
            </a:custGeom>
            <a:solidFill>
              <a:srgbClr val="CDA349"/>
            </a:solidFill>
          </p:spPr>
        </p:sp>
      </p:grpSp>
      <p:grpSp>
        <p:nvGrpSpPr>
          <p:cNvPr name="Group 22" id="22"/>
          <p:cNvGrpSpPr/>
          <p:nvPr/>
        </p:nvGrpSpPr>
        <p:grpSpPr>
          <a:xfrm rot="0">
            <a:off x="6945725" y="3637578"/>
            <a:ext cx="1496216" cy="411804"/>
            <a:chOff x="0" y="0"/>
            <a:chExt cx="1994954" cy="549072"/>
          </a:xfrm>
        </p:grpSpPr>
        <p:sp>
          <p:nvSpPr>
            <p:cNvPr name="Freeform 23" id="23"/>
            <p:cNvSpPr/>
            <p:nvPr/>
          </p:nvSpPr>
          <p:spPr>
            <a:xfrm flipH="false" flipV="false" rot="0">
              <a:off x="0" y="0"/>
              <a:ext cx="1994951" cy="549069"/>
            </a:xfrm>
            <a:custGeom>
              <a:avLst/>
              <a:gdLst/>
              <a:ahLst/>
              <a:cxnLst/>
              <a:rect r="r" b="b" t="t" l="l"/>
              <a:pathLst>
                <a:path h="549069" w="1994951">
                  <a:moveTo>
                    <a:pt x="0" y="0"/>
                  </a:moveTo>
                  <a:lnTo>
                    <a:pt x="1994951" y="0"/>
                  </a:lnTo>
                  <a:lnTo>
                    <a:pt x="1994951" y="549069"/>
                  </a:lnTo>
                  <a:lnTo>
                    <a:pt x="0" y="549069"/>
                  </a:lnTo>
                  <a:close/>
                </a:path>
              </a:pathLst>
            </a:custGeom>
            <a:blipFill>
              <a:blip r:embed="rId3">
                <a:alphaModFix amt="0"/>
              </a:blip>
              <a:stretch>
                <a:fillRect l="0" t="-20795" r="0" b="-20796"/>
              </a:stretch>
            </a:blipFill>
          </p:spPr>
        </p:sp>
        <p:sp>
          <p:nvSpPr>
            <p:cNvPr name="TextBox 24" id="24"/>
            <p:cNvSpPr txBox="true"/>
            <p:nvPr/>
          </p:nvSpPr>
          <p:spPr>
            <a:xfrm>
              <a:off x="0" y="9525"/>
              <a:ext cx="1994954" cy="539547"/>
            </a:xfrm>
            <a:prstGeom prst="rect">
              <a:avLst/>
            </a:prstGeom>
          </p:spPr>
          <p:txBody>
            <a:bodyPr anchor="ctr" rtlCol="false" tIns="0" lIns="0" bIns="0" rIns="0"/>
            <a:lstStyle/>
            <a:p>
              <a:pPr algn="ctr">
                <a:lnSpc>
                  <a:spcPts val="1796"/>
                </a:lnSpc>
              </a:pPr>
              <a:r>
                <a:rPr lang="en-US" sz="1576" b="true">
                  <a:solidFill>
                    <a:srgbClr val="FFFFFF"/>
                  </a:solidFill>
                  <a:latin typeface="Aptos Bold"/>
                  <a:ea typeface="Aptos Bold"/>
                  <a:cs typeface="Aptos Bold"/>
                  <a:sym typeface="Aptos Bold"/>
                </a:rPr>
                <a:t>Caregiver</a:t>
              </a:r>
            </a:p>
          </p:txBody>
        </p:sp>
      </p:grpSp>
      <p:grpSp>
        <p:nvGrpSpPr>
          <p:cNvPr name="Group 25" id="25"/>
          <p:cNvGrpSpPr/>
          <p:nvPr/>
        </p:nvGrpSpPr>
        <p:grpSpPr>
          <a:xfrm rot="0">
            <a:off x="8748122" y="3504505"/>
            <a:ext cx="1734903" cy="595589"/>
            <a:chOff x="0" y="0"/>
            <a:chExt cx="2313203" cy="794118"/>
          </a:xfrm>
        </p:grpSpPr>
        <p:sp>
          <p:nvSpPr>
            <p:cNvPr name="Freeform 26" id="26"/>
            <p:cNvSpPr/>
            <p:nvPr/>
          </p:nvSpPr>
          <p:spPr>
            <a:xfrm flipH="false" flipV="false" rot="0">
              <a:off x="0" y="0"/>
              <a:ext cx="2313178" cy="794131"/>
            </a:xfrm>
            <a:custGeom>
              <a:avLst/>
              <a:gdLst/>
              <a:ahLst/>
              <a:cxnLst/>
              <a:rect r="r" b="b" t="t" l="l"/>
              <a:pathLst>
                <a:path h="794131" w="2313178">
                  <a:moveTo>
                    <a:pt x="0" y="151257"/>
                  </a:moveTo>
                  <a:cubicBezTo>
                    <a:pt x="0" y="67691"/>
                    <a:pt x="67691" y="0"/>
                    <a:pt x="151257" y="0"/>
                  </a:cubicBezTo>
                  <a:lnTo>
                    <a:pt x="2161921" y="0"/>
                  </a:lnTo>
                  <a:cubicBezTo>
                    <a:pt x="2245487" y="0"/>
                    <a:pt x="2313178" y="67691"/>
                    <a:pt x="2313178" y="151257"/>
                  </a:cubicBezTo>
                  <a:lnTo>
                    <a:pt x="2313178" y="642874"/>
                  </a:lnTo>
                  <a:cubicBezTo>
                    <a:pt x="2313178" y="726440"/>
                    <a:pt x="2245487" y="794131"/>
                    <a:pt x="2161921" y="794131"/>
                  </a:cubicBezTo>
                  <a:lnTo>
                    <a:pt x="151257" y="794131"/>
                  </a:lnTo>
                  <a:cubicBezTo>
                    <a:pt x="67691" y="794131"/>
                    <a:pt x="0" y="726440"/>
                    <a:pt x="0" y="642874"/>
                  </a:cubicBezTo>
                  <a:close/>
                </a:path>
              </a:pathLst>
            </a:custGeom>
            <a:solidFill>
              <a:srgbClr val="D9E1E2"/>
            </a:solidFill>
          </p:spPr>
        </p:sp>
      </p:grpSp>
      <p:grpSp>
        <p:nvGrpSpPr>
          <p:cNvPr name="Group 27" id="27"/>
          <p:cNvGrpSpPr/>
          <p:nvPr/>
        </p:nvGrpSpPr>
        <p:grpSpPr>
          <a:xfrm rot="0">
            <a:off x="8867461" y="3637578"/>
            <a:ext cx="1496216" cy="411804"/>
            <a:chOff x="0" y="0"/>
            <a:chExt cx="1994954" cy="549072"/>
          </a:xfrm>
        </p:grpSpPr>
        <p:sp>
          <p:nvSpPr>
            <p:cNvPr name="Freeform 28" id="28"/>
            <p:cNvSpPr/>
            <p:nvPr/>
          </p:nvSpPr>
          <p:spPr>
            <a:xfrm flipH="false" flipV="false" rot="0">
              <a:off x="0" y="0"/>
              <a:ext cx="1994951" cy="549069"/>
            </a:xfrm>
            <a:custGeom>
              <a:avLst/>
              <a:gdLst/>
              <a:ahLst/>
              <a:cxnLst/>
              <a:rect r="r" b="b" t="t" l="l"/>
              <a:pathLst>
                <a:path h="549069" w="1994951">
                  <a:moveTo>
                    <a:pt x="0" y="0"/>
                  </a:moveTo>
                  <a:lnTo>
                    <a:pt x="1994951" y="0"/>
                  </a:lnTo>
                  <a:lnTo>
                    <a:pt x="1994951" y="549069"/>
                  </a:lnTo>
                  <a:lnTo>
                    <a:pt x="0" y="549069"/>
                  </a:lnTo>
                  <a:close/>
                </a:path>
              </a:pathLst>
            </a:custGeom>
            <a:blipFill>
              <a:blip r:embed="rId3">
                <a:alphaModFix amt="0"/>
              </a:blip>
              <a:stretch>
                <a:fillRect l="0" t="-20795" r="0" b="-20796"/>
              </a:stretch>
            </a:blipFill>
          </p:spPr>
        </p:sp>
        <p:sp>
          <p:nvSpPr>
            <p:cNvPr name="TextBox 29" id="29"/>
            <p:cNvSpPr txBox="true"/>
            <p:nvPr/>
          </p:nvSpPr>
          <p:spPr>
            <a:xfrm>
              <a:off x="0" y="9525"/>
              <a:ext cx="1994954" cy="539547"/>
            </a:xfrm>
            <a:prstGeom prst="rect">
              <a:avLst/>
            </a:prstGeom>
          </p:spPr>
          <p:txBody>
            <a:bodyPr anchor="ctr" rtlCol="false" tIns="0" lIns="0" bIns="0" rIns="0"/>
            <a:lstStyle/>
            <a:p>
              <a:pPr algn="ctr">
                <a:lnSpc>
                  <a:spcPts val="1796"/>
                </a:lnSpc>
              </a:pPr>
              <a:r>
                <a:rPr lang="en-US" sz="1576" b="true">
                  <a:solidFill>
                    <a:srgbClr val="122B40"/>
                  </a:solidFill>
                  <a:latin typeface="Aptos Bold"/>
                  <a:ea typeface="Aptos Bold"/>
                  <a:cs typeface="Aptos Bold"/>
                  <a:sym typeface="Aptos Bold"/>
                </a:rPr>
                <a:t>Payer</a:t>
              </a:r>
            </a:p>
          </p:txBody>
        </p:sp>
      </p:grpSp>
      <p:grpSp>
        <p:nvGrpSpPr>
          <p:cNvPr name="Group 30" id="30"/>
          <p:cNvGrpSpPr/>
          <p:nvPr/>
        </p:nvGrpSpPr>
        <p:grpSpPr>
          <a:xfrm rot="0">
            <a:off x="1061152" y="4410475"/>
            <a:ext cx="1734903" cy="595589"/>
            <a:chOff x="0" y="0"/>
            <a:chExt cx="2313203" cy="794118"/>
          </a:xfrm>
        </p:grpSpPr>
        <p:sp>
          <p:nvSpPr>
            <p:cNvPr name="Freeform 31" id="31"/>
            <p:cNvSpPr/>
            <p:nvPr/>
          </p:nvSpPr>
          <p:spPr>
            <a:xfrm flipH="false" flipV="false" rot="0">
              <a:off x="0" y="0"/>
              <a:ext cx="2313178" cy="794131"/>
            </a:xfrm>
            <a:custGeom>
              <a:avLst/>
              <a:gdLst/>
              <a:ahLst/>
              <a:cxnLst/>
              <a:rect r="r" b="b" t="t" l="l"/>
              <a:pathLst>
                <a:path h="794131" w="2313178">
                  <a:moveTo>
                    <a:pt x="0" y="151257"/>
                  </a:moveTo>
                  <a:cubicBezTo>
                    <a:pt x="0" y="67691"/>
                    <a:pt x="67691" y="0"/>
                    <a:pt x="151257" y="0"/>
                  </a:cubicBezTo>
                  <a:lnTo>
                    <a:pt x="2161921" y="0"/>
                  </a:lnTo>
                  <a:cubicBezTo>
                    <a:pt x="2245487" y="0"/>
                    <a:pt x="2313178" y="67691"/>
                    <a:pt x="2313178" y="151257"/>
                  </a:cubicBezTo>
                  <a:lnTo>
                    <a:pt x="2313178" y="642874"/>
                  </a:lnTo>
                  <a:cubicBezTo>
                    <a:pt x="2313178" y="726440"/>
                    <a:pt x="2245487" y="794131"/>
                    <a:pt x="2161921" y="794131"/>
                  </a:cubicBezTo>
                  <a:lnTo>
                    <a:pt x="151257" y="794131"/>
                  </a:lnTo>
                  <a:cubicBezTo>
                    <a:pt x="67691" y="794131"/>
                    <a:pt x="0" y="726440"/>
                    <a:pt x="0" y="642874"/>
                  </a:cubicBezTo>
                  <a:close/>
                </a:path>
              </a:pathLst>
            </a:custGeom>
            <a:solidFill>
              <a:srgbClr val="FFFFFF"/>
            </a:solidFill>
          </p:spPr>
        </p:sp>
      </p:grpSp>
      <p:grpSp>
        <p:nvGrpSpPr>
          <p:cNvPr name="Group 32" id="32"/>
          <p:cNvGrpSpPr/>
          <p:nvPr/>
        </p:nvGrpSpPr>
        <p:grpSpPr>
          <a:xfrm rot="0">
            <a:off x="1180500" y="4543549"/>
            <a:ext cx="1496216" cy="411804"/>
            <a:chOff x="0" y="0"/>
            <a:chExt cx="1994954" cy="549072"/>
          </a:xfrm>
        </p:grpSpPr>
        <p:sp>
          <p:nvSpPr>
            <p:cNvPr name="Freeform 33" id="33"/>
            <p:cNvSpPr/>
            <p:nvPr/>
          </p:nvSpPr>
          <p:spPr>
            <a:xfrm flipH="false" flipV="false" rot="0">
              <a:off x="0" y="0"/>
              <a:ext cx="1994951" cy="549069"/>
            </a:xfrm>
            <a:custGeom>
              <a:avLst/>
              <a:gdLst/>
              <a:ahLst/>
              <a:cxnLst/>
              <a:rect r="r" b="b" t="t" l="l"/>
              <a:pathLst>
                <a:path h="549069" w="1994951">
                  <a:moveTo>
                    <a:pt x="0" y="0"/>
                  </a:moveTo>
                  <a:lnTo>
                    <a:pt x="1994951" y="0"/>
                  </a:lnTo>
                  <a:lnTo>
                    <a:pt x="1994951" y="549069"/>
                  </a:lnTo>
                  <a:lnTo>
                    <a:pt x="0" y="549069"/>
                  </a:lnTo>
                  <a:close/>
                </a:path>
              </a:pathLst>
            </a:custGeom>
            <a:blipFill>
              <a:blip r:embed="rId3">
                <a:alphaModFix amt="0"/>
              </a:blip>
              <a:stretch>
                <a:fillRect l="0" t="-20795" r="0" b="-20796"/>
              </a:stretch>
            </a:blipFill>
          </p:spPr>
        </p:sp>
        <p:sp>
          <p:nvSpPr>
            <p:cNvPr name="TextBox 34" id="34"/>
            <p:cNvSpPr txBox="true"/>
            <p:nvPr/>
          </p:nvSpPr>
          <p:spPr>
            <a:xfrm>
              <a:off x="0" y="9525"/>
              <a:ext cx="1994954" cy="539547"/>
            </a:xfrm>
            <a:prstGeom prst="rect">
              <a:avLst/>
            </a:prstGeom>
          </p:spPr>
          <p:txBody>
            <a:bodyPr anchor="ctr" rtlCol="false" tIns="0" lIns="0" bIns="0" rIns="0"/>
            <a:lstStyle/>
            <a:p>
              <a:pPr algn="ctr">
                <a:lnSpc>
                  <a:spcPts val="1796"/>
                </a:lnSpc>
              </a:pPr>
              <a:r>
                <a:rPr lang="en-US" sz="1576" b="true">
                  <a:solidFill>
                    <a:srgbClr val="122B40"/>
                  </a:solidFill>
                  <a:latin typeface="Aptos Bold"/>
                  <a:ea typeface="Aptos Bold"/>
                  <a:cs typeface="Aptos Bold"/>
                  <a:sym typeface="Aptos Bold"/>
                </a:rPr>
                <a:t>EHR</a:t>
              </a:r>
            </a:p>
          </p:txBody>
        </p:sp>
      </p:grpSp>
      <p:grpSp>
        <p:nvGrpSpPr>
          <p:cNvPr name="Group 35" id="35"/>
          <p:cNvGrpSpPr/>
          <p:nvPr/>
        </p:nvGrpSpPr>
        <p:grpSpPr>
          <a:xfrm rot="0">
            <a:off x="2982897" y="4410475"/>
            <a:ext cx="1734903" cy="595589"/>
            <a:chOff x="0" y="0"/>
            <a:chExt cx="2313203" cy="794118"/>
          </a:xfrm>
        </p:grpSpPr>
        <p:sp>
          <p:nvSpPr>
            <p:cNvPr name="Freeform 36" id="36"/>
            <p:cNvSpPr/>
            <p:nvPr/>
          </p:nvSpPr>
          <p:spPr>
            <a:xfrm flipH="false" flipV="false" rot="0">
              <a:off x="0" y="0"/>
              <a:ext cx="2313178" cy="794131"/>
            </a:xfrm>
            <a:custGeom>
              <a:avLst/>
              <a:gdLst/>
              <a:ahLst/>
              <a:cxnLst/>
              <a:rect r="r" b="b" t="t" l="l"/>
              <a:pathLst>
                <a:path h="794131" w="2313178">
                  <a:moveTo>
                    <a:pt x="0" y="151257"/>
                  </a:moveTo>
                  <a:cubicBezTo>
                    <a:pt x="0" y="67691"/>
                    <a:pt x="67691" y="0"/>
                    <a:pt x="151257" y="0"/>
                  </a:cubicBezTo>
                  <a:lnTo>
                    <a:pt x="2161921" y="0"/>
                  </a:lnTo>
                  <a:cubicBezTo>
                    <a:pt x="2245487" y="0"/>
                    <a:pt x="2313178" y="67691"/>
                    <a:pt x="2313178" y="151257"/>
                  </a:cubicBezTo>
                  <a:lnTo>
                    <a:pt x="2313178" y="642874"/>
                  </a:lnTo>
                  <a:cubicBezTo>
                    <a:pt x="2313178" y="726440"/>
                    <a:pt x="2245487" y="794131"/>
                    <a:pt x="2161921" y="794131"/>
                  </a:cubicBezTo>
                  <a:lnTo>
                    <a:pt x="151257" y="794131"/>
                  </a:lnTo>
                  <a:cubicBezTo>
                    <a:pt x="67691" y="794131"/>
                    <a:pt x="0" y="726440"/>
                    <a:pt x="0" y="642874"/>
                  </a:cubicBezTo>
                  <a:close/>
                </a:path>
              </a:pathLst>
            </a:custGeom>
            <a:solidFill>
              <a:srgbClr val="CDA349"/>
            </a:solidFill>
          </p:spPr>
        </p:sp>
      </p:grpSp>
      <p:grpSp>
        <p:nvGrpSpPr>
          <p:cNvPr name="Group 37" id="37"/>
          <p:cNvGrpSpPr/>
          <p:nvPr/>
        </p:nvGrpSpPr>
        <p:grpSpPr>
          <a:xfrm rot="0">
            <a:off x="3102235" y="4543549"/>
            <a:ext cx="1496216" cy="411804"/>
            <a:chOff x="0" y="0"/>
            <a:chExt cx="1994954" cy="549072"/>
          </a:xfrm>
        </p:grpSpPr>
        <p:sp>
          <p:nvSpPr>
            <p:cNvPr name="Freeform 38" id="38"/>
            <p:cNvSpPr/>
            <p:nvPr/>
          </p:nvSpPr>
          <p:spPr>
            <a:xfrm flipH="false" flipV="false" rot="0">
              <a:off x="0" y="0"/>
              <a:ext cx="1994951" cy="549069"/>
            </a:xfrm>
            <a:custGeom>
              <a:avLst/>
              <a:gdLst/>
              <a:ahLst/>
              <a:cxnLst/>
              <a:rect r="r" b="b" t="t" l="l"/>
              <a:pathLst>
                <a:path h="549069" w="1994951">
                  <a:moveTo>
                    <a:pt x="0" y="0"/>
                  </a:moveTo>
                  <a:lnTo>
                    <a:pt x="1994951" y="0"/>
                  </a:lnTo>
                  <a:lnTo>
                    <a:pt x="1994951" y="549069"/>
                  </a:lnTo>
                  <a:lnTo>
                    <a:pt x="0" y="549069"/>
                  </a:lnTo>
                  <a:close/>
                </a:path>
              </a:pathLst>
            </a:custGeom>
            <a:blipFill>
              <a:blip r:embed="rId3">
                <a:alphaModFix amt="0"/>
              </a:blip>
              <a:stretch>
                <a:fillRect l="0" t="-20795" r="0" b="-20796"/>
              </a:stretch>
            </a:blipFill>
          </p:spPr>
        </p:sp>
        <p:sp>
          <p:nvSpPr>
            <p:cNvPr name="TextBox 39" id="39"/>
            <p:cNvSpPr txBox="true"/>
            <p:nvPr/>
          </p:nvSpPr>
          <p:spPr>
            <a:xfrm>
              <a:off x="0" y="9525"/>
              <a:ext cx="1994954" cy="539547"/>
            </a:xfrm>
            <a:prstGeom prst="rect">
              <a:avLst/>
            </a:prstGeom>
          </p:spPr>
          <p:txBody>
            <a:bodyPr anchor="ctr" rtlCol="false" tIns="0" lIns="0" bIns="0" rIns="0"/>
            <a:lstStyle/>
            <a:p>
              <a:pPr algn="ctr">
                <a:lnSpc>
                  <a:spcPts val="1796"/>
                </a:lnSpc>
              </a:pPr>
              <a:r>
                <a:rPr lang="en-US" sz="1576" b="true">
                  <a:solidFill>
                    <a:srgbClr val="FFFFFF"/>
                  </a:solidFill>
                  <a:latin typeface="Aptos Bold"/>
                  <a:ea typeface="Aptos Bold"/>
                  <a:cs typeface="Aptos Bold"/>
                  <a:sym typeface="Aptos Bold"/>
                </a:rPr>
                <a:t>Portal</a:t>
              </a:r>
            </a:p>
          </p:txBody>
        </p:sp>
      </p:grpSp>
      <p:grpSp>
        <p:nvGrpSpPr>
          <p:cNvPr name="Group 40" id="40"/>
          <p:cNvGrpSpPr/>
          <p:nvPr/>
        </p:nvGrpSpPr>
        <p:grpSpPr>
          <a:xfrm rot="0">
            <a:off x="4904632" y="4410475"/>
            <a:ext cx="1734903" cy="595589"/>
            <a:chOff x="0" y="0"/>
            <a:chExt cx="2313203" cy="794118"/>
          </a:xfrm>
        </p:grpSpPr>
        <p:sp>
          <p:nvSpPr>
            <p:cNvPr name="Freeform 41" id="41"/>
            <p:cNvSpPr/>
            <p:nvPr/>
          </p:nvSpPr>
          <p:spPr>
            <a:xfrm flipH="false" flipV="false" rot="0">
              <a:off x="0" y="0"/>
              <a:ext cx="2313178" cy="794131"/>
            </a:xfrm>
            <a:custGeom>
              <a:avLst/>
              <a:gdLst/>
              <a:ahLst/>
              <a:cxnLst/>
              <a:rect r="r" b="b" t="t" l="l"/>
              <a:pathLst>
                <a:path h="794131" w="2313178">
                  <a:moveTo>
                    <a:pt x="0" y="151257"/>
                  </a:moveTo>
                  <a:cubicBezTo>
                    <a:pt x="0" y="67691"/>
                    <a:pt x="67691" y="0"/>
                    <a:pt x="151257" y="0"/>
                  </a:cubicBezTo>
                  <a:lnTo>
                    <a:pt x="2161921" y="0"/>
                  </a:lnTo>
                  <a:cubicBezTo>
                    <a:pt x="2245487" y="0"/>
                    <a:pt x="2313178" y="67691"/>
                    <a:pt x="2313178" y="151257"/>
                  </a:cubicBezTo>
                  <a:lnTo>
                    <a:pt x="2313178" y="642874"/>
                  </a:lnTo>
                  <a:cubicBezTo>
                    <a:pt x="2313178" y="726440"/>
                    <a:pt x="2245487" y="794131"/>
                    <a:pt x="2161921" y="794131"/>
                  </a:cubicBezTo>
                  <a:lnTo>
                    <a:pt x="151257" y="794131"/>
                  </a:lnTo>
                  <a:cubicBezTo>
                    <a:pt x="67691" y="794131"/>
                    <a:pt x="0" y="726440"/>
                    <a:pt x="0" y="642874"/>
                  </a:cubicBezTo>
                  <a:close/>
                </a:path>
              </a:pathLst>
            </a:custGeom>
            <a:solidFill>
              <a:srgbClr val="D9E1E2"/>
            </a:solidFill>
          </p:spPr>
        </p:sp>
      </p:grpSp>
      <p:grpSp>
        <p:nvGrpSpPr>
          <p:cNvPr name="Group 42" id="42"/>
          <p:cNvGrpSpPr/>
          <p:nvPr/>
        </p:nvGrpSpPr>
        <p:grpSpPr>
          <a:xfrm rot="0">
            <a:off x="5023980" y="4543549"/>
            <a:ext cx="1496216" cy="411804"/>
            <a:chOff x="0" y="0"/>
            <a:chExt cx="1994954" cy="549072"/>
          </a:xfrm>
        </p:grpSpPr>
        <p:sp>
          <p:nvSpPr>
            <p:cNvPr name="Freeform 43" id="43"/>
            <p:cNvSpPr/>
            <p:nvPr/>
          </p:nvSpPr>
          <p:spPr>
            <a:xfrm flipH="false" flipV="false" rot="0">
              <a:off x="0" y="0"/>
              <a:ext cx="1994951" cy="549069"/>
            </a:xfrm>
            <a:custGeom>
              <a:avLst/>
              <a:gdLst/>
              <a:ahLst/>
              <a:cxnLst/>
              <a:rect r="r" b="b" t="t" l="l"/>
              <a:pathLst>
                <a:path h="549069" w="1994951">
                  <a:moveTo>
                    <a:pt x="0" y="0"/>
                  </a:moveTo>
                  <a:lnTo>
                    <a:pt x="1994951" y="0"/>
                  </a:lnTo>
                  <a:lnTo>
                    <a:pt x="1994951" y="549069"/>
                  </a:lnTo>
                  <a:lnTo>
                    <a:pt x="0" y="549069"/>
                  </a:lnTo>
                  <a:close/>
                </a:path>
              </a:pathLst>
            </a:custGeom>
            <a:blipFill>
              <a:blip r:embed="rId3">
                <a:alphaModFix amt="0"/>
              </a:blip>
              <a:stretch>
                <a:fillRect l="0" t="-20795" r="0" b="-20796"/>
              </a:stretch>
            </a:blipFill>
          </p:spPr>
        </p:sp>
        <p:sp>
          <p:nvSpPr>
            <p:cNvPr name="TextBox 44" id="44"/>
            <p:cNvSpPr txBox="true"/>
            <p:nvPr/>
          </p:nvSpPr>
          <p:spPr>
            <a:xfrm>
              <a:off x="0" y="9525"/>
              <a:ext cx="1994954" cy="539547"/>
            </a:xfrm>
            <a:prstGeom prst="rect">
              <a:avLst/>
            </a:prstGeom>
          </p:spPr>
          <p:txBody>
            <a:bodyPr anchor="ctr" rtlCol="false" tIns="0" lIns="0" bIns="0" rIns="0"/>
            <a:lstStyle/>
            <a:p>
              <a:pPr algn="ctr">
                <a:lnSpc>
                  <a:spcPts val="1796"/>
                </a:lnSpc>
              </a:pPr>
              <a:r>
                <a:rPr lang="en-US" sz="1576" b="true">
                  <a:solidFill>
                    <a:srgbClr val="122B40"/>
                  </a:solidFill>
                  <a:latin typeface="Aptos Bold"/>
                  <a:ea typeface="Aptos Bold"/>
                  <a:cs typeface="Aptos Bold"/>
                  <a:sym typeface="Aptos Bold"/>
                </a:rPr>
                <a:t>Pharmacy</a:t>
              </a:r>
            </a:p>
          </p:txBody>
        </p:sp>
      </p:grpSp>
      <p:grpSp>
        <p:nvGrpSpPr>
          <p:cNvPr name="Group 45" id="45"/>
          <p:cNvGrpSpPr/>
          <p:nvPr/>
        </p:nvGrpSpPr>
        <p:grpSpPr>
          <a:xfrm rot="0">
            <a:off x="6826377" y="4410475"/>
            <a:ext cx="1734903" cy="595589"/>
            <a:chOff x="0" y="0"/>
            <a:chExt cx="2313203" cy="794118"/>
          </a:xfrm>
        </p:grpSpPr>
        <p:sp>
          <p:nvSpPr>
            <p:cNvPr name="Freeform 46" id="46"/>
            <p:cNvSpPr/>
            <p:nvPr/>
          </p:nvSpPr>
          <p:spPr>
            <a:xfrm flipH="false" flipV="false" rot="0">
              <a:off x="0" y="0"/>
              <a:ext cx="2313178" cy="794131"/>
            </a:xfrm>
            <a:custGeom>
              <a:avLst/>
              <a:gdLst/>
              <a:ahLst/>
              <a:cxnLst/>
              <a:rect r="r" b="b" t="t" l="l"/>
              <a:pathLst>
                <a:path h="794131" w="2313178">
                  <a:moveTo>
                    <a:pt x="0" y="151257"/>
                  </a:moveTo>
                  <a:cubicBezTo>
                    <a:pt x="0" y="67691"/>
                    <a:pt x="67691" y="0"/>
                    <a:pt x="151257" y="0"/>
                  </a:cubicBezTo>
                  <a:lnTo>
                    <a:pt x="2161921" y="0"/>
                  </a:lnTo>
                  <a:cubicBezTo>
                    <a:pt x="2245487" y="0"/>
                    <a:pt x="2313178" y="67691"/>
                    <a:pt x="2313178" y="151257"/>
                  </a:cubicBezTo>
                  <a:lnTo>
                    <a:pt x="2313178" y="642874"/>
                  </a:lnTo>
                  <a:cubicBezTo>
                    <a:pt x="2313178" y="726440"/>
                    <a:pt x="2245487" y="794131"/>
                    <a:pt x="2161921" y="794131"/>
                  </a:cubicBezTo>
                  <a:lnTo>
                    <a:pt x="151257" y="794131"/>
                  </a:lnTo>
                  <a:cubicBezTo>
                    <a:pt x="67691" y="794131"/>
                    <a:pt x="0" y="726440"/>
                    <a:pt x="0" y="642874"/>
                  </a:cubicBezTo>
                  <a:close/>
                </a:path>
              </a:pathLst>
            </a:custGeom>
            <a:solidFill>
              <a:srgbClr val="FFFFFF"/>
            </a:solidFill>
          </p:spPr>
        </p:sp>
      </p:grpSp>
      <p:grpSp>
        <p:nvGrpSpPr>
          <p:cNvPr name="Group 47" id="47"/>
          <p:cNvGrpSpPr/>
          <p:nvPr/>
        </p:nvGrpSpPr>
        <p:grpSpPr>
          <a:xfrm rot="0">
            <a:off x="6945725" y="4543549"/>
            <a:ext cx="1496216" cy="411804"/>
            <a:chOff x="0" y="0"/>
            <a:chExt cx="1994954" cy="549072"/>
          </a:xfrm>
        </p:grpSpPr>
        <p:sp>
          <p:nvSpPr>
            <p:cNvPr name="Freeform 48" id="48"/>
            <p:cNvSpPr/>
            <p:nvPr/>
          </p:nvSpPr>
          <p:spPr>
            <a:xfrm flipH="false" flipV="false" rot="0">
              <a:off x="0" y="0"/>
              <a:ext cx="1994951" cy="549069"/>
            </a:xfrm>
            <a:custGeom>
              <a:avLst/>
              <a:gdLst/>
              <a:ahLst/>
              <a:cxnLst/>
              <a:rect r="r" b="b" t="t" l="l"/>
              <a:pathLst>
                <a:path h="549069" w="1994951">
                  <a:moveTo>
                    <a:pt x="0" y="0"/>
                  </a:moveTo>
                  <a:lnTo>
                    <a:pt x="1994951" y="0"/>
                  </a:lnTo>
                  <a:lnTo>
                    <a:pt x="1994951" y="549069"/>
                  </a:lnTo>
                  <a:lnTo>
                    <a:pt x="0" y="549069"/>
                  </a:lnTo>
                  <a:close/>
                </a:path>
              </a:pathLst>
            </a:custGeom>
            <a:blipFill>
              <a:blip r:embed="rId3">
                <a:alphaModFix amt="0"/>
              </a:blip>
              <a:stretch>
                <a:fillRect l="0" t="-20795" r="0" b="-20796"/>
              </a:stretch>
            </a:blipFill>
          </p:spPr>
        </p:sp>
        <p:sp>
          <p:nvSpPr>
            <p:cNvPr name="TextBox 49" id="49"/>
            <p:cNvSpPr txBox="true"/>
            <p:nvPr/>
          </p:nvSpPr>
          <p:spPr>
            <a:xfrm>
              <a:off x="0" y="9525"/>
              <a:ext cx="1994954" cy="539547"/>
            </a:xfrm>
            <a:prstGeom prst="rect">
              <a:avLst/>
            </a:prstGeom>
          </p:spPr>
          <p:txBody>
            <a:bodyPr anchor="ctr" rtlCol="false" tIns="0" lIns="0" bIns="0" rIns="0"/>
            <a:lstStyle/>
            <a:p>
              <a:pPr algn="ctr">
                <a:lnSpc>
                  <a:spcPts val="1796"/>
                </a:lnSpc>
              </a:pPr>
              <a:r>
                <a:rPr lang="en-US" sz="1576" b="true">
                  <a:solidFill>
                    <a:srgbClr val="122B40"/>
                  </a:solidFill>
                  <a:latin typeface="Aptos Bold"/>
                  <a:ea typeface="Aptos Bold"/>
                  <a:cs typeface="Aptos Bold"/>
                  <a:sym typeface="Aptos Bold"/>
                </a:rPr>
                <a:t>Lab</a:t>
              </a:r>
            </a:p>
          </p:txBody>
        </p:sp>
      </p:grpSp>
      <p:grpSp>
        <p:nvGrpSpPr>
          <p:cNvPr name="Group 50" id="50"/>
          <p:cNvGrpSpPr/>
          <p:nvPr/>
        </p:nvGrpSpPr>
        <p:grpSpPr>
          <a:xfrm rot="0">
            <a:off x="8748122" y="4410475"/>
            <a:ext cx="1734903" cy="595589"/>
            <a:chOff x="0" y="0"/>
            <a:chExt cx="2313203" cy="794118"/>
          </a:xfrm>
        </p:grpSpPr>
        <p:sp>
          <p:nvSpPr>
            <p:cNvPr name="Freeform 51" id="51"/>
            <p:cNvSpPr/>
            <p:nvPr/>
          </p:nvSpPr>
          <p:spPr>
            <a:xfrm flipH="false" flipV="false" rot="0">
              <a:off x="0" y="0"/>
              <a:ext cx="2313178" cy="794131"/>
            </a:xfrm>
            <a:custGeom>
              <a:avLst/>
              <a:gdLst/>
              <a:ahLst/>
              <a:cxnLst/>
              <a:rect r="r" b="b" t="t" l="l"/>
              <a:pathLst>
                <a:path h="794131" w="2313178">
                  <a:moveTo>
                    <a:pt x="0" y="151257"/>
                  </a:moveTo>
                  <a:cubicBezTo>
                    <a:pt x="0" y="67691"/>
                    <a:pt x="67691" y="0"/>
                    <a:pt x="151257" y="0"/>
                  </a:cubicBezTo>
                  <a:lnTo>
                    <a:pt x="2161921" y="0"/>
                  </a:lnTo>
                  <a:cubicBezTo>
                    <a:pt x="2245487" y="0"/>
                    <a:pt x="2313178" y="67691"/>
                    <a:pt x="2313178" y="151257"/>
                  </a:cubicBezTo>
                  <a:lnTo>
                    <a:pt x="2313178" y="642874"/>
                  </a:lnTo>
                  <a:cubicBezTo>
                    <a:pt x="2313178" y="726440"/>
                    <a:pt x="2245487" y="794131"/>
                    <a:pt x="2161921" y="794131"/>
                  </a:cubicBezTo>
                  <a:lnTo>
                    <a:pt x="151257" y="794131"/>
                  </a:lnTo>
                  <a:cubicBezTo>
                    <a:pt x="67691" y="794131"/>
                    <a:pt x="0" y="726440"/>
                    <a:pt x="0" y="642874"/>
                  </a:cubicBezTo>
                  <a:close/>
                </a:path>
              </a:pathLst>
            </a:custGeom>
            <a:solidFill>
              <a:srgbClr val="CDA349"/>
            </a:solidFill>
          </p:spPr>
        </p:sp>
      </p:grpSp>
      <p:grpSp>
        <p:nvGrpSpPr>
          <p:cNvPr name="Group 52" id="52"/>
          <p:cNvGrpSpPr/>
          <p:nvPr/>
        </p:nvGrpSpPr>
        <p:grpSpPr>
          <a:xfrm rot="0">
            <a:off x="8867461" y="4543549"/>
            <a:ext cx="1496216" cy="411804"/>
            <a:chOff x="0" y="0"/>
            <a:chExt cx="1994954" cy="549072"/>
          </a:xfrm>
        </p:grpSpPr>
        <p:sp>
          <p:nvSpPr>
            <p:cNvPr name="Freeform 53" id="53"/>
            <p:cNvSpPr/>
            <p:nvPr/>
          </p:nvSpPr>
          <p:spPr>
            <a:xfrm flipH="false" flipV="false" rot="0">
              <a:off x="0" y="0"/>
              <a:ext cx="1994951" cy="549069"/>
            </a:xfrm>
            <a:custGeom>
              <a:avLst/>
              <a:gdLst/>
              <a:ahLst/>
              <a:cxnLst/>
              <a:rect r="r" b="b" t="t" l="l"/>
              <a:pathLst>
                <a:path h="549069" w="1994951">
                  <a:moveTo>
                    <a:pt x="0" y="0"/>
                  </a:moveTo>
                  <a:lnTo>
                    <a:pt x="1994951" y="0"/>
                  </a:lnTo>
                  <a:lnTo>
                    <a:pt x="1994951" y="549069"/>
                  </a:lnTo>
                  <a:lnTo>
                    <a:pt x="0" y="549069"/>
                  </a:lnTo>
                  <a:close/>
                </a:path>
              </a:pathLst>
            </a:custGeom>
            <a:blipFill>
              <a:blip r:embed="rId3">
                <a:alphaModFix amt="0"/>
              </a:blip>
              <a:stretch>
                <a:fillRect l="0" t="-20795" r="0" b="-20796"/>
              </a:stretch>
            </a:blipFill>
          </p:spPr>
        </p:sp>
        <p:sp>
          <p:nvSpPr>
            <p:cNvPr name="TextBox 54" id="54"/>
            <p:cNvSpPr txBox="true"/>
            <p:nvPr/>
          </p:nvSpPr>
          <p:spPr>
            <a:xfrm>
              <a:off x="0" y="9525"/>
              <a:ext cx="1994954" cy="539547"/>
            </a:xfrm>
            <a:prstGeom prst="rect">
              <a:avLst/>
            </a:prstGeom>
          </p:spPr>
          <p:txBody>
            <a:bodyPr anchor="ctr" rtlCol="false" tIns="0" lIns="0" bIns="0" rIns="0"/>
            <a:lstStyle/>
            <a:p>
              <a:pPr algn="ctr">
                <a:lnSpc>
                  <a:spcPts val="1796"/>
                </a:lnSpc>
              </a:pPr>
              <a:r>
                <a:rPr lang="en-US" sz="1576" b="true">
                  <a:solidFill>
                    <a:srgbClr val="FFFFFF"/>
                  </a:solidFill>
                  <a:latin typeface="Aptos Bold"/>
                  <a:ea typeface="Aptos Bold"/>
                  <a:cs typeface="Aptos Bold"/>
                  <a:sym typeface="Aptos Bold"/>
                </a:rPr>
                <a:t>Scheduling</a:t>
              </a:r>
            </a:p>
          </p:txBody>
        </p:sp>
      </p:grpSp>
      <p:grpSp>
        <p:nvGrpSpPr>
          <p:cNvPr name="Group 55" id="55"/>
          <p:cNvGrpSpPr/>
          <p:nvPr/>
        </p:nvGrpSpPr>
        <p:grpSpPr>
          <a:xfrm rot="0">
            <a:off x="11454184" y="3355419"/>
            <a:ext cx="5437308" cy="2691965"/>
            <a:chOff x="0" y="0"/>
            <a:chExt cx="7249744" cy="3589287"/>
          </a:xfrm>
        </p:grpSpPr>
        <p:sp>
          <p:nvSpPr>
            <p:cNvPr name="Freeform 56" id="56"/>
            <p:cNvSpPr/>
            <p:nvPr/>
          </p:nvSpPr>
          <p:spPr>
            <a:xfrm flipH="false" flipV="false" rot="0">
              <a:off x="0" y="0"/>
              <a:ext cx="7249795" cy="3589274"/>
            </a:xfrm>
            <a:custGeom>
              <a:avLst/>
              <a:gdLst/>
              <a:ahLst/>
              <a:cxnLst/>
              <a:rect r="r" b="b" t="t" l="l"/>
              <a:pathLst>
                <a:path h="3589274" w="7249795">
                  <a:moveTo>
                    <a:pt x="0" y="147320"/>
                  </a:moveTo>
                  <a:cubicBezTo>
                    <a:pt x="0" y="65913"/>
                    <a:pt x="65913" y="0"/>
                    <a:pt x="147320" y="0"/>
                  </a:cubicBezTo>
                  <a:lnTo>
                    <a:pt x="7102475" y="0"/>
                  </a:lnTo>
                  <a:cubicBezTo>
                    <a:pt x="7183755" y="0"/>
                    <a:pt x="7249795" y="65913"/>
                    <a:pt x="7249795" y="147320"/>
                  </a:cubicBezTo>
                  <a:lnTo>
                    <a:pt x="7249795" y="3441954"/>
                  </a:lnTo>
                  <a:cubicBezTo>
                    <a:pt x="7249795" y="3523234"/>
                    <a:pt x="7183882" y="3589274"/>
                    <a:pt x="7102475" y="3589274"/>
                  </a:cubicBezTo>
                  <a:lnTo>
                    <a:pt x="147320" y="3589274"/>
                  </a:lnTo>
                  <a:cubicBezTo>
                    <a:pt x="66040" y="3589274"/>
                    <a:pt x="0" y="3523361"/>
                    <a:pt x="0" y="3441954"/>
                  </a:cubicBezTo>
                  <a:close/>
                </a:path>
              </a:pathLst>
            </a:custGeom>
            <a:solidFill>
              <a:srgbClr val="FFFFFF">
                <a:alpha val="80784"/>
              </a:srgbClr>
            </a:solidFill>
            <a:ln w="15252" cap="sq">
              <a:solidFill>
                <a:srgbClr val="CDA349"/>
              </a:solidFill>
              <a:prstDash val="solid"/>
              <a:miter/>
            </a:ln>
          </p:spPr>
        </p:sp>
      </p:grpSp>
      <p:grpSp>
        <p:nvGrpSpPr>
          <p:cNvPr name="Group 57" id="57"/>
          <p:cNvGrpSpPr/>
          <p:nvPr/>
        </p:nvGrpSpPr>
        <p:grpSpPr>
          <a:xfrm rot="0">
            <a:off x="11846166" y="3665039"/>
            <a:ext cx="4653363" cy="2100186"/>
            <a:chOff x="0" y="0"/>
            <a:chExt cx="6204483" cy="2800248"/>
          </a:xfrm>
        </p:grpSpPr>
        <p:sp>
          <p:nvSpPr>
            <p:cNvPr name="Freeform 58" id="58"/>
            <p:cNvSpPr/>
            <p:nvPr/>
          </p:nvSpPr>
          <p:spPr>
            <a:xfrm flipH="false" flipV="false" rot="0">
              <a:off x="0" y="0"/>
              <a:ext cx="6204479" cy="2800252"/>
            </a:xfrm>
            <a:custGeom>
              <a:avLst/>
              <a:gdLst/>
              <a:ahLst/>
              <a:cxnLst/>
              <a:rect r="r" b="b" t="t" l="l"/>
              <a:pathLst>
                <a:path h="2800252" w="6204479">
                  <a:moveTo>
                    <a:pt x="0" y="0"/>
                  </a:moveTo>
                  <a:lnTo>
                    <a:pt x="6204479" y="0"/>
                  </a:lnTo>
                  <a:lnTo>
                    <a:pt x="6204479" y="2800252"/>
                  </a:lnTo>
                  <a:lnTo>
                    <a:pt x="0" y="2800252"/>
                  </a:lnTo>
                  <a:close/>
                </a:path>
              </a:pathLst>
            </a:custGeom>
            <a:blipFill>
              <a:blip r:embed="rId3">
                <a:alphaModFix amt="0"/>
              </a:blip>
              <a:stretch>
                <a:fillRect l="-7906" t="0" r="-7906" b="0"/>
              </a:stretch>
            </a:blipFill>
          </p:spPr>
        </p:sp>
        <p:sp>
          <p:nvSpPr>
            <p:cNvPr name="TextBox 59" id="59"/>
            <p:cNvSpPr txBox="true"/>
            <p:nvPr/>
          </p:nvSpPr>
          <p:spPr>
            <a:xfrm>
              <a:off x="0" y="19050"/>
              <a:ext cx="6204483" cy="2781198"/>
            </a:xfrm>
            <a:prstGeom prst="rect">
              <a:avLst/>
            </a:prstGeom>
          </p:spPr>
          <p:txBody>
            <a:bodyPr anchor="ctr" rtlCol="false" tIns="0" lIns="0" bIns="0" rIns="0"/>
            <a:lstStyle/>
            <a:p>
              <a:pPr algn="ctr">
                <a:lnSpc>
                  <a:spcPts val="3593"/>
                </a:lnSpc>
              </a:pPr>
              <a:r>
                <a:rPr lang="en-US" sz="3152" b="true">
                  <a:solidFill>
                    <a:srgbClr val="122B40"/>
                  </a:solidFill>
                  <a:latin typeface="Aptos Bold"/>
                  <a:ea typeface="Aptos Bold"/>
                  <a:cs typeface="Aptos Bold"/>
                  <a:sym typeface="Aptos Bold"/>
                </a:rPr>
                <a:t>“Continuity is helpful only when boundaries remain visible.”</a:t>
              </a:r>
            </a:p>
          </p:txBody>
        </p:sp>
      </p:grpSp>
      <p:sp>
        <p:nvSpPr>
          <p:cNvPr name="TextBox 60" id="60"/>
          <p:cNvSpPr txBox="true"/>
          <p:nvPr/>
        </p:nvSpPr>
        <p:spPr>
          <a:xfrm rot="0">
            <a:off x="11667973" y="6498317"/>
            <a:ext cx="4872476" cy="1215847"/>
          </a:xfrm>
          <a:prstGeom prst="rect">
            <a:avLst/>
          </a:prstGeom>
        </p:spPr>
        <p:txBody>
          <a:bodyPr anchor="t" rtlCol="false" tIns="0" lIns="0" bIns="0" rIns="0">
            <a:spAutoFit/>
          </a:bodyPr>
          <a:lstStyle/>
          <a:p>
            <a:pPr algn="ctr">
              <a:lnSpc>
                <a:spcPts val="2190"/>
              </a:lnSpc>
            </a:pPr>
            <a:r>
              <a:rPr lang="en-US" sz="1921" b="true">
                <a:solidFill>
                  <a:srgbClr val="122B40"/>
                </a:solidFill>
                <a:latin typeface="Aptos Bold"/>
                <a:ea typeface="Aptos Bold"/>
                <a:cs typeface="Aptos Bold"/>
                <a:sym typeface="Aptos Bold"/>
              </a:rPr>
              <a:t>In healthcare, trust depends on knowing who is acting, in what role, with what information, and under whose authority.</a:t>
            </a:r>
          </a:p>
        </p:txBody>
      </p:sp>
      <p:sp>
        <p:nvSpPr>
          <p:cNvPr name="AutoShape 61" id="61"/>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62" id="62"/>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Healthcare framing</a:t>
            </a:r>
          </a:p>
        </p:txBody>
      </p:sp>
      <p:sp>
        <p:nvSpPr>
          <p:cNvPr name="TextBox 63" id="63"/>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human.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INTRODUCING THE HCOS™ LENS</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HCOS™ means Human-Centered Operating Systems</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A way to examine technology as part of a larger human system.</a:t>
            </a:r>
          </a:p>
        </p:txBody>
      </p:sp>
      <p:grpSp>
        <p:nvGrpSpPr>
          <p:cNvPr name="Group 7" id="7"/>
          <p:cNvGrpSpPr/>
          <p:nvPr/>
        </p:nvGrpSpPr>
        <p:grpSpPr>
          <a:xfrm rot="0">
            <a:off x="1063057" y="3218155"/>
            <a:ext cx="9486690" cy="1470289"/>
            <a:chOff x="0" y="0"/>
            <a:chExt cx="12648921" cy="1960385"/>
          </a:xfrm>
        </p:grpSpPr>
        <p:sp>
          <p:nvSpPr>
            <p:cNvPr name="Freeform 8" id="8"/>
            <p:cNvSpPr/>
            <p:nvPr/>
          </p:nvSpPr>
          <p:spPr>
            <a:xfrm flipH="false" flipV="false" rot="0">
              <a:off x="0" y="0"/>
              <a:ext cx="12648947" cy="1960372"/>
            </a:xfrm>
            <a:custGeom>
              <a:avLst/>
              <a:gdLst/>
              <a:ahLst/>
              <a:cxnLst/>
              <a:rect r="r" b="b" t="t" l="l"/>
              <a:pathLst>
                <a:path h="1960372" w="12648947">
                  <a:moveTo>
                    <a:pt x="0" y="147955"/>
                  </a:moveTo>
                  <a:cubicBezTo>
                    <a:pt x="0" y="66294"/>
                    <a:pt x="66294" y="0"/>
                    <a:pt x="147955" y="0"/>
                  </a:cubicBezTo>
                  <a:lnTo>
                    <a:pt x="12500991" y="0"/>
                  </a:lnTo>
                  <a:cubicBezTo>
                    <a:pt x="12582652" y="0"/>
                    <a:pt x="12648947" y="66294"/>
                    <a:pt x="12648947" y="147955"/>
                  </a:cubicBezTo>
                  <a:lnTo>
                    <a:pt x="12648947" y="1812417"/>
                  </a:lnTo>
                  <a:cubicBezTo>
                    <a:pt x="12648947" y="1894078"/>
                    <a:pt x="12582652" y="1960372"/>
                    <a:pt x="12500991" y="1960372"/>
                  </a:cubicBezTo>
                  <a:lnTo>
                    <a:pt x="147955" y="1960372"/>
                  </a:lnTo>
                  <a:cubicBezTo>
                    <a:pt x="66294" y="1960372"/>
                    <a:pt x="0" y="1894078"/>
                    <a:pt x="0" y="1812417"/>
                  </a:cubicBezTo>
                  <a:close/>
                </a:path>
              </a:pathLst>
            </a:custGeom>
            <a:solidFill>
              <a:srgbClr val="FFFFFF">
                <a:alpha val="80784"/>
              </a:srgbClr>
            </a:solidFill>
            <a:ln w="15252" cap="sq">
              <a:solidFill>
                <a:srgbClr val="CDA349"/>
              </a:solidFill>
              <a:prstDash val="solid"/>
              <a:miter/>
            </a:ln>
          </p:spPr>
        </p:sp>
      </p:grpSp>
      <p:sp>
        <p:nvSpPr>
          <p:cNvPr name="TextBox 9" id="9"/>
          <p:cNvSpPr txBox="true"/>
          <p:nvPr/>
        </p:nvSpPr>
        <p:spPr>
          <a:xfrm rot="0">
            <a:off x="1427836" y="3647361"/>
            <a:ext cx="2195770" cy="319411"/>
          </a:xfrm>
          <a:prstGeom prst="rect">
            <a:avLst/>
          </a:prstGeom>
        </p:spPr>
        <p:txBody>
          <a:bodyPr anchor="t" rtlCol="false" tIns="0" lIns="0" bIns="0" rIns="0">
            <a:spAutoFit/>
          </a:bodyPr>
          <a:lstStyle/>
          <a:p>
            <a:pPr algn="l">
              <a:lnSpc>
                <a:spcPts val="2224"/>
              </a:lnSpc>
            </a:pPr>
            <a:r>
              <a:rPr lang="en-US" sz="1951" b="true">
                <a:solidFill>
                  <a:srgbClr val="CDA349"/>
                </a:solidFill>
                <a:latin typeface="Aptos Bold"/>
                <a:ea typeface="Aptos Bold"/>
                <a:cs typeface="Aptos Bold"/>
                <a:sym typeface="Aptos Bold"/>
              </a:rPr>
              <a:t>HCOS asks:</a:t>
            </a:r>
          </a:p>
        </p:txBody>
      </p:sp>
      <p:sp>
        <p:nvSpPr>
          <p:cNvPr name="TextBox 10" id="10"/>
          <p:cNvSpPr txBox="true"/>
          <p:nvPr/>
        </p:nvSpPr>
        <p:spPr>
          <a:xfrm rot="0">
            <a:off x="3871189" y="3478435"/>
            <a:ext cx="6203975" cy="666779"/>
          </a:xfrm>
          <a:prstGeom prst="rect">
            <a:avLst/>
          </a:prstGeom>
        </p:spPr>
        <p:txBody>
          <a:bodyPr anchor="t" rtlCol="false" tIns="0" lIns="0" bIns="0" rIns="0">
            <a:spAutoFit/>
          </a:bodyPr>
          <a:lstStyle/>
          <a:p>
            <a:pPr algn="l">
              <a:lnSpc>
                <a:spcPts val="2567"/>
              </a:lnSpc>
            </a:pPr>
            <a:r>
              <a:rPr lang="en-US" sz="2251" b="true">
                <a:solidFill>
                  <a:srgbClr val="122B40"/>
                </a:solidFill>
                <a:latin typeface="Aptos Bold"/>
                <a:ea typeface="Aptos Bold"/>
                <a:cs typeface="Aptos Bold"/>
                <a:sym typeface="Aptos Bold"/>
              </a:rPr>
              <a:t>Does this system support people, preserve dignity, reduce unnecessary burden, and keep responsibility visible?</a:t>
            </a:r>
          </a:p>
        </p:txBody>
      </p:sp>
      <p:grpSp>
        <p:nvGrpSpPr>
          <p:cNvPr name="Group 11" id="11"/>
          <p:cNvGrpSpPr/>
          <p:nvPr/>
        </p:nvGrpSpPr>
        <p:grpSpPr>
          <a:xfrm rot="0">
            <a:off x="1159145" y="5592880"/>
            <a:ext cx="2142896" cy="1195749"/>
            <a:chOff x="0" y="0"/>
            <a:chExt cx="2857195" cy="1594333"/>
          </a:xfrm>
        </p:grpSpPr>
        <p:sp>
          <p:nvSpPr>
            <p:cNvPr name="Freeform 12" id="12"/>
            <p:cNvSpPr/>
            <p:nvPr/>
          </p:nvSpPr>
          <p:spPr>
            <a:xfrm flipH="false" flipV="false" rot="0">
              <a:off x="0" y="0"/>
              <a:ext cx="2857246" cy="1594358"/>
            </a:xfrm>
            <a:custGeom>
              <a:avLst/>
              <a:gdLst/>
              <a:ahLst/>
              <a:cxnLst/>
              <a:rect r="r" b="b" t="t" l="l"/>
              <a:pathLst>
                <a:path h="1594358" w="2857246">
                  <a:moveTo>
                    <a:pt x="0" y="148336"/>
                  </a:moveTo>
                  <a:cubicBezTo>
                    <a:pt x="0" y="66421"/>
                    <a:pt x="66421" y="0"/>
                    <a:pt x="148336" y="0"/>
                  </a:cubicBezTo>
                  <a:lnTo>
                    <a:pt x="2708910" y="0"/>
                  </a:lnTo>
                  <a:cubicBezTo>
                    <a:pt x="2790825" y="0"/>
                    <a:pt x="2857246" y="66421"/>
                    <a:pt x="2857246" y="148336"/>
                  </a:cubicBezTo>
                  <a:lnTo>
                    <a:pt x="2857246" y="1446022"/>
                  </a:lnTo>
                  <a:cubicBezTo>
                    <a:pt x="2857246" y="1527937"/>
                    <a:pt x="2790825" y="1594358"/>
                    <a:pt x="2708910" y="1594358"/>
                  </a:cubicBezTo>
                  <a:lnTo>
                    <a:pt x="148336" y="1594358"/>
                  </a:lnTo>
                  <a:cubicBezTo>
                    <a:pt x="66421" y="1594358"/>
                    <a:pt x="0" y="1527937"/>
                    <a:pt x="0" y="1446022"/>
                  </a:cubicBezTo>
                  <a:close/>
                </a:path>
              </a:pathLst>
            </a:custGeom>
            <a:solidFill>
              <a:srgbClr val="FFFFFF">
                <a:alpha val="80784"/>
              </a:srgbClr>
            </a:solidFill>
            <a:ln w="15252" cap="sq">
              <a:solidFill>
                <a:srgbClr val="EEE3CD"/>
              </a:solidFill>
              <a:prstDash val="solid"/>
              <a:miter/>
            </a:ln>
          </p:spPr>
        </p:sp>
      </p:grpSp>
      <p:sp>
        <p:nvSpPr>
          <p:cNvPr name="TextBox 13" id="13"/>
          <p:cNvSpPr txBox="true"/>
          <p:nvPr/>
        </p:nvSpPr>
        <p:spPr>
          <a:xfrm rot="0">
            <a:off x="1345473" y="5875296"/>
            <a:ext cx="1783966" cy="274025"/>
          </a:xfrm>
          <a:prstGeom prst="rect">
            <a:avLst/>
          </a:prstGeom>
        </p:spPr>
        <p:txBody>
          <a:bodyPr anchor="t" rtlCol="false" tIns="0" lIns="0" bIns="0" rIns="0">
            <a:spAutoFit/>
          </a:bodyPr>
          <a:lstStyle/>
          <a:p>
            <a:pPr algn="ctr">
              <a:lnSpc>
                <a:spcPts val="1916"/>
              </a:lnSpc>
            </a:pPr>
            <a:r>
              <a:rPr lang="en-US" sz="1681" b="true">
                <a:solidFill>
                  <a:srgbClr val="CDA349"/>
                </a:solidFill>
                <a:latin typeface="Aptos Bold"/>
                <a:ea typeface="Aptos Bold"/>
                <a:cs typeface="Aptos Bold"/>
                <a:sym typeface="Aptos Bold"/>
              </a:rPr>
              <a:t>Technology</a:t>
            </a:r>
          </a:p>
        </p:txBody>
      </p:sp>
      <p:sp>
        <p:nvSpPr>
          <p:cNvPr name="TextBox 14" id="14"/>
          <p:cNvSpPr txBox="true"/>
          <p:nvPr/>
        </p:nvSpPr>
        <p:spPr>
          <a:xfrm rot="0">
            <a:off x="1345473" y="6218463"/>
            <a:ext cx="1783966" cy="301476"/>
          </a:xfrm>
          <a:prstGeom prst="rect">
            <a:avLst/>
          </a:prstGeom>
        </p:spPr>
        <p:txBody>
          <a:bodyPr anchor="t" rtlCol="false" tIns="0" lIns="0" bIns="0" rIns="0">
            <a:spAutoFit/>
          </a:bodyPr>
          <a:lstStyle/>
          <a:p>
            <a:pPr algn="ctr">
              <a:lnSpc>
                <a:spcPts val="1505"/>
              </a:lnSpc>
            </a:pPr>
            <a:r>
              <a:rPr lang="en-US" sz="1321">
                <a:solidFill>
                  <a:srgbClr val="122B40"/>
                </a:solidFill>
                <a:latin typeface="Aptos"/>
                <a:ea typeface="Aptos"/>
                <a:cs typeface="Aptos"/>
                <a:sym typeface="Aptos"/>
              </a:rPr>
              <a:t>What the tool can do</a:t>
            </a:r>
          </a:p>
        </p:txBody>
      </p:sp>
      <p:grpSp>
        <p:nvGrpSpPr>
          <p:cNvPr name="Group 15" id="15"/>
          <p:cNvGrpSpPr/>
          <p:nvPr/>
        </p:nvGrpSpPr>
        <p:grpSpPr>
          <a:xfrm rot="0">
            <a:off x="3561321" y="5592880"/>
            <a:ext cx="2142896" cy="1195749"/>
            <a:chOff x="0" y="0"/>
            <a:chExt cx="2857195" cy="1594333"/>
          </a:xfrm>
        </p:grpSpPr>
        <p:sp>
          <p:nvSpPr>
            <p:cNvPr name="Freeform 16" id="16"/>
            <p:cNvSpPr/>
            <p:nvPr/>
          </p:nvSpPr>
          <p:spPr>
            <a:xfrm flipH="false" flipV="false" rot="0">
              <a:off x="0" y="0"/>
              <a:ext cx="2857246" cy="1594358"/>
            </a:xfrm>
            <a:custGeom>
              <a:avLst/>
              <a:gdLst/>
              <a:ahLst/>
              <a:cxnLst/>
              <a:rect r="r" b="b" t="t" l="l"/>
              <a:pathLst>
                <a:path h="1594358" w="2857246">
                  <a:moveTo>
                    <a:pt x="0" y="148336"/>
                  </a:moveTo>
                  <a:cubicBezTo>
                    <a:pt x="0" y="66421"/>
                    <a:pt x="66421" y="0"/>
                    <a:pt x="148336" y="0"/>
                  </a:cubicBezTo>
                  <a:lnTo>
                    <a:pt x="2708910" y="0"/>
                  </a:lnTo>
                  <a:cubicBezTo>
                    <a:pt x="2790825" y="0"/>
                    <a:pt x="2857246" y="66421"/>
                    <a:pt x="2857246" y="148336"/>
                  </a:cubicBezTo>
                  <a:lnTo>
                    <a:pt x="2857246" y="1446022"/>
                  </a:lnTo>
                  <a:cubicBezTo>
                    <a:pt x="2857246" y="1527937"/>
                    <a:pt x="2790825" y="1594358"/>
                    <a:pt x="2708910" y="1594358"/>
                  </a:cubicBezTo>
                  <a:lnTo>
                    <a:pt x="148336" y="1594358"/>
                  </a:lnTo>
                  <a:cubicBezTo>
                    <a:pt x="66421" y="1594358"/>
                    <a:pt x="0" y="1527937"/>
                    <a:pt x="0" y="1446022"/>
                  </a:cubicBezTo>
                  <a:close/>
                </a:path>
              </a:pathLst>
            </a:custGeom>
            <a:solidFill>
              <a:srgbClr val="FFF9EF">
                <a:alpha val="80784"/>
              </a:srgbClr>
            </a:solidFill>
            <a:ln w="15252" cap="sq">
              <a:solidFill>
                <a:srgbClr val="EEE3CD"/>
              </a:solidFill>
              <a:prstDash val="solid"/>
              <a:miter/>
            </a:ln>
          </p:spPr>
        </p:sp>
      </p:grpSp>
      <p:sp>
        <p:nvSpPr>
          <p:cNvPr name="TextBox 17" id="17"/>
          <p:cNvSpPr txBox="true"/>
          <p:nvPr/>
        </p:nvSpPr>
        <p:spPr>
          <a:xfrm rot="0">
            <a:off x="3747649" y="5875296"/>
            <a:ext cx="1783966" cy="274025"/>
          </a:xfrm>
          <a:prstGeom prst="rect">
            <a:avLst/>
          </a:prstGeom>
        </p:spPr>
        <p:txBody>
          <a:bodyPr anchor="t" rtlCol="false" tIns="0" lIns="0" bIns="0" rIns="0">
            <a:spAutoFit/>
          </a:bodyPr>
          <a:lstStyle/>
          <a:p>
            <a:pPr algn="ctr">
              <a:lnSpc>
                <a:spcPts val="1916"/>
              </a:lnSpc>
            </a:pPr>
            <a:r>
              <a:rPr lang="en-US" sz="1681" b="true">
                <a:solidFill>
                  <a:srgbClr val="CDA349"/>
                </a:solidFill>
                <a:latin typeface="Aptos Bold"/>
                <a:ea typeface="Aptos Bold"/>
                <a:cs typeface="Aptos Bold"/>
                <a:sym typeface="Aptos Bold"/>
              </a:rPr>
              <a:t>Workflow</a:t>
            </a:r>
          </a:p>
        </p:txBody>
      </p:sp>
      <p:sp>
        <p:nvSpPr>
          <p:cNvPr name="TextBox 18" id="18"/>
          <p:cNvSpPr txBox="true"/>
          <p:nvPr/>
        </p:nvSpPr>
        <p:spPr>
          <a:xfrm rot="0">
            <a:off x="3747649" y="6218463"/>
            <a:ext cx="1783966" cy="301476"/>
          </a:xfrm>
          <a:prstGeom prst="rect">
            <a:avLst/>
          </a:prstGeom>
        </p:spPr>
        <p:txBody>
          <a:bodyPr anchor="t" rtlCol="false" tIns="0" lIns="0" bIns="0" rIns="0">
            <a:spAutoFit/>
          </a:bodyPr>
          <a:lstStyle/>
          <a:p>
            <a:pPr algn="ctr">
              <a:lnSpc>
                <a:spcPts val="1505"/>
              </a:lnSpc>
            </a:pPr>
            <a:r>
              <a:rPr lang="en-US" sz="1321">
                <a:solidFill>
                  <a:srgbClr val="122B40"/>
                </a:solidFill>
                <a:latin typeface="Aptos"/>
                <a:ea typeface="Aptos"/>
                <a:cs typeface="Aptos"/>
                <a:sym typeface="Aptos"/>
              </a:rPr>
              <a:t>How work actually moves</a:t>
            </a:r>
          </a:p>
        </p:txBody>
      </p:sp>
      <p:grpSp>
        <p:nvGrpSpPr>
          <p:cNvPr name="Group 19" id="19"/>
          <p:cNvGrpSpPr/>
          <p:nvPr/>
        </p:nvGrpSpPr>
        <p:grpSpPr>
          <a:xfrm rot="0">
            <a:off x="5963498" y="5592880"/>
            <a:ext cx="2142896" cy="1195749"/>
            <a:chOff x="0" y="0"/>
            <a:chExt cx="2857195" cy="1594333"/>
          </a:xfrm>
        </p:grpSpPr>
        <p:sp>
          <p:nvSpPr>
            <p:cNvPr name="Freeform 20" id="20"/>
            <p:cNvSpPr/>
            <p:nvPr/>
          </p:nvSpPr>
          <p:spPr>
            <a:xfrm flipH="false" flipV="false" rot="0">
              <a:off x="0" y="0"/>
              <a:ext cx="2857246" cy="1594358"/>
            </a:xfrm>
            <a:custGeom>
              <a:avLst/>
              <a:gdLst/>
              <a:ahLst/>
              <a:cxnLst/>
              <a:rect r="r" b="b" t="t" l="l"/>
              <a:pathLst>
                <a:path h="1594358" w="2857246">
                  <a:moveTo>
                    <a:pt x="0" y="148336"/>
                  </a:moveTo>
                  <a:cubicBezTo>
                    <a:pt x="0" y="66421"/>
                    <a:pt x="66421" y="0"/>
                    <a:pt x="148336" y="0"/>
                  </a:cubicBezTo>
                  <a:lnTo>
                    <a:pt x="2708910" y="0"/>
                  </a:lnTo>
                  <a:cubicBezTo>
                    <a:pt x="2790825" y="0"/>
                    <a:pt x="2857246" y="66421"/>
                    <a:pt x="2857246" y="148336"/>
                  </a:cubicBezTo>
                  <a:lnTo>
                    <a:pt x="2857246" y="1446022"/>
                  </a:lnTo>
                  <a:cubicBezTo>
                    <a:pt x="2857246" y="1527937"/>
                    <a:pt x="2790825" y="1594358"/>
                    <a:pt x="2708910" y="1594358"/>
                  </a:cubicBezTo>
                  <a:lnTo>
                    <a:pt x="148336" y="1594358"/>
                  </a:lnTo>
                  <a:cubicBezTo>
                    <a:pt x="66421" y="1594358"/>
                    <a:pt x="0" y="1527937"/>
                    <a:pt x="0" y="1446022"/>
                  </a:cubicBezTo>
                  <a:close/>
                </a:path>
              </a:pathLst>
            </a:custGeom>
            <a:solidFill>
              <a:srgbClr val="FFFFFF">
                <a:alpha val="80784"/>
              </a:srgbClr>
            </a:solidFill>
            <a:ln w="15252" cap="sq">
              <a:solidFill>
                <a:srgbClr val="EEE3CD"/>
              </a:solidFill>
              <a:prstDash val="solid"/>
              <a:miter/>
            </a:ln>
          </p:spPr>
        </p:sp>
      </p:grpSp>
      <p:sp>
        <p:nvSpPr>
          <p:cNvPr name="TextBox 21" id="21"/>
          <p:cNvSpPr txBox="true"/>
          <p:nvPr/>
        </p:nvSpPr>
        <p:spPr>
          <a:xfrm rot="0">
            <a:off x="6149826" y="5875296"/>
            <a:ext cx="1783966" cy="274025"/>
          </a:xfrm>
          <a:prstGeom prst="rect">
            <a:avLst/>
          </a:prstGeom>
        </p:spPr>
        <p:txBody>
          <a:bodyPr anchor="t" rtlCol="false" tIns="0" lIns="0" bIns="0" rIns="0">
            <a:spAutoFit/>
          </a:bodyPr>
          <a:lstStyle/>
          <a:p>
            <a:pPr algn="ctr">
              <a:lnSpc>
                <a:spcPts val="1916"/>
              </a:lnSpc>
            </a:pPr>
            <a:r>
              <a:rPr lang="en-US" sz="1681" b="true">
                <a:solidFill>
                  <a:srgbClr val="CDA349"/>
                </a:solidFill>
                <a:latin typeface="Aptos Bold"/>
                <a:ea typeface="Aptos Bold"/>
                <a:cs typeface="Aptos Bold"/>
                <a:sym typeface="Aptos Bold"/>
              </a:rPr>
              <a:t>Authority</a:t>
            </a:r>
          </a:p>
        </p:txBody>
      </p:sp>
      <p:sp>
        <p:nvSpPr>
          <p:cNvPr name="TextBox 22" id="22"/>
          <p:cNvSpPr txBox="true"/>
          <p:nvPr/>
        </p:nvSpPr>
        <p:spPr>
          <a:xfrm rot="0">
            <a:off x="6149826" y="6218463"/>
            <a:ext cx="1783966" cy="301476"/>
          </a:xfrm>
          <a:prstGeom prst="rect">
            <a:avLst/>
          </a:prstGeom>
        </p:spPr>
        <p:txBody>
          <a:bodyPr anchor="t" rtlCol="false" tIns="0" lIns="0" bIns="0" rIns="0">
            <a:spAutoFit/>
          </a:bodyPr>
          <a:lstStyle/>
          <a:p>
            <a:pPr algn="ctr">
              <a:lnSpc>
                <a:spcPts val="1505"/>
              </a:lnSpc>
            </a:pPr>
            <a:r>
              <a:rPr lang="en-US" sz="1321">
                <a:solidFill>
                  <a:srgbClr val="122B40"/>
                </a:solidFill>
                <a:latin typeface="Aptos"/>
                <a:ea typeface="Aptos"/>
                <a:cs typeface="Aptos"/>
                <a:sym typeface="Aptos"/>
              </a:rPr>
              <a:t>Who may act</a:t>
            </a:r>
          </a:p>
        </p:txBody>
      </p:sp>
      <p:grpSp>
        <p:nvGrpSpPr>
          <p:cNvPr name="Group 23" id="23"/>
          <p:cNvGrpSpPr/>
          <p:nvPr/>
        </p:nvGrpSpPr>
        <p:grpSpPr>
          <a:xfrm rot="0">
            <a:off x="8365674" y="5592880"/>
            <a:ext cx="2142896" cy="1195749"/>
            <a:chOff x="0" y="0"/>
            <a:chExt cx="2857195" cy="1594333"/>
          </a:xfrm>
        </p:grpSpPr>
        <p:sp>
          <p:nvSpPr>
            <p:cNvPr name="Freeform 24" id="24"/>
            <p:cNvSpPr/>
            <p:nvPr/>
          </p:nvSpPr>
          <p:spPr>
            <a:xfrm flipH="false" flipV="false" rot="0">
              <a:off x="0" y="0"/>
              <a:ext cx="2857246" cy="1594358"/>
            </a:xfrm>
            <a:custGeom>
              <a:avLst/>
              <a:gdLst/>
              <a:ahLst/>
              <a:cxnLst/>
              <a:rect r="r" b="b" t="t" l="l"/>
              <a:pathLst>
                <a:path h="1594358" w="2857246">
                  <a:moveTo>
                    <a:pt x="0" y="148336"/>
                  </a:moveTo>
                  <a:cubicBezTo>
                    <a:pt x="0" y="66421"/>
                    <a:pt x="66421" y="0"/>
                    <a:pt x="148336" y="0"/>
                  </a:cubicBezTo>
                  <a:lnTo>
                    <a:pt x="2708910" y="0"/>
                  </a:lnTo>
                  <a:cubicBezTo>
                    <a:pt x="2790825" y="0"/>
                    <a:pt x="2857246" y="66421"/>
                    <a:pt x="2857246" y="148336"/>
                  </a:cubicBezTo>
                  <a:lnTo>
                    <a:pt x="2857246" y="1446022"/>
                  </a:lnTo>
                  <a:cubicBezTo>
                    <a:pt x="2857246" y="1527937"/>
                    <a:pt x="2790825" y="1594358"/>
                    <a:pt x="2708910" y="1594358"/>
                  </a:cubicBezTo>
                  <a:lnTo>
                    <a:pt x="148336" y="1594358"/>
                  </a:lnTo>
                  <a:cubicBezTo>
                    <a:pt x="66421" y="1594358"/>
                    <a:pt x="0" y="1527937"/>
                    <a:pt x="0" y="1446022"/>
                  </a:cubicBezTo>
                  <a:close/>
                </a:path>
              </a:pathLst>
            </a:custGeom>
            <a:solidFill>
              <a:srgbClr val="FFF9EF">
                <a:alpha val="80784"/>
              </a:srgbClr>
            </a:solidFill>
            <a:ln w="15252" cap="sq">
              <a:solidFill>
                <a:srgbClr val="EEE3CD"/>
              </a:solidFill>
              <a:prstDash val="solid"/>
              <a:miter/>
            </a:ln>
          </p:spPr>
        </p:sp>
      </p:grpSp>
      <p:sp>
        <p:nvSpPr>
          <p:cNvPr name="TextBox 25" id="25"/>
          <p:cNvSpPr txBox="true"/>
          <p:nvPr/>
        </p:nvSpPr>
        <p:spPr>
          <a:xfrm rot="0">
            <a:off x="8552002" y="5875296"/>
            <a:ext cx="1783966" cy="274025"/>
          </a:xfrm>
          <a:prstGeom prst="rect">
            <a:avLst/>
          </a:prstGeom>
        </p:spPr>
        <p:txBody>
          <a:bodyPr anchor="t" rtlCol="false" tIns="0" lIns="0" bIns="0" rIns="0">
            <a:spAutoFit/>
          </a:bodyPr>
          <a:lstStyle/>
          <a:p>
            <a:pPr algn="ctr">
              <a:lnSpc>
                <a:spcPts val="1916"/>
              </a:lnSpc>
            </a:pPr>
            <a:r>
              <a:rPr lang="en-US" sz="1681" b="true">
                <a:solidFill>
                  <a:srgbClr val="CDA349"/>
                </a:solidFill>
                <a:latin typeface="Aptos Bold"/>
                <a:ea typeface="Aptos Bold"/>
                <a:cs typeface="Aptos Bold"/>
                <a:sym typeface="Aptos Bold"/>
              </a:rPr>
              <a:t>Accountability</a:t>
            </a:r>
          </a:p>
        </p:txBody>
      </p:sp>
      <p:sp>
        <p:nvSpPr>
          <p:cNvPr name="TextBox 26" id="26"/>
          <p:cNvSpPr txBox="true"/>
          <p:nvPr/>
        </p:nvSpPr>
        <p:spPr>
          <a:xfrm rot="0">
            <a:off x="8552002" y="6218463"/>
            <a:ext cx="1783966" cy="301476"/>
          </a:xfrm>
          <a:prstGeom prst="rect">
            <a:avLst/>
          </a:prstGeom>
        </p:spPr>
        <p:txBody>
          <a:bodyPr anchor="t" rtlCol="false" tIns="0" lIns="0" bIns="0" rIns="0">
            <a:spAutoFit/>
          </a:bodyPr>
          <a:lstStyle/>
          <a:p>
            <a:pPr algn="ctr">
              <a:lnSpc>
                <a:spcPts val="1505"/>
              </a:lnSpc>
            </a:pPr>
            <a:r>
              <a:rPr lang="en-US" sz="1321">
                <a:solidFill>
                  <a:srgbClr val="122B40"/>
                </a:solidFill>
                <a:latin typeface="Aptos"/>
                <a:ea typeface="Aptos"/>
                <a:cs typeface="Aptos"/>
                <a:sym typeface="Aptos"/>
              </a:rPr>
              <a:t>Who remains responsible</a:t>
            </a:r>
          </a:p>
        </p:txBody>
      </p:sp>
      <p:sp>
        <p:nvSpPr>
          <p:cNvPr name="AutoShape 27" id="27"/>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28" id="28"/>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HCOS lens</a:t>
            </a:r>
          </a:p>
        </p:txBody>
      </p:sp>
      <p:sp>
        <p:nvSpPr>
          <p:cNvPr name="TextBox 29" id="29"/>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apps.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FROM APPS TO GOALS</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People may stop asking which application to open</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They may start asking what outcome they want.</a:t>
            </a:r>
          </a:p>
        </p:txBody>
      </p:sp>
      <p:grpSp>
        <p:nvGrpSpPr>
          <p:cNvPr name="Group 7" id="7"/>
          <p:cNvGrpSpPr/>
          <p:nvPr/>
        </p:nvGrpSpPr>
        <p:grpSpPr>
          <a:xfrm rot="0">
            <a:off x="1090508" y="3355419"/>
            <a:ext cx="4201906" cy="3378298"/>
            <a:chOff x="0" y="0"/>
            <a:chExt cx="5602542" cy="4504398"/>
          </a:xfrm>
        </p:grpSpPr>
        <p:sp>
          <p:nvSpPr>
            <p:cNvPr name="Freeform 8" id="8"/>
            <p:cNvSpPr/>
            <p:nvPr/>
          </p:nvSpPr>
          <p:spPr>
            <a:xfrm flipH="false" flipV="false" rot="0">
              <a:off x="0" y="0"/>
              <a:ext cx="5602478" cy="4504436"/>
            </a:xfrm>
            <a:custGeom>
              <a:avLst/>
              <a:gdLst/>
              <a:ahLst/>
              <a:cxnLst/>
              <a:rect r="r" b="b" t="t" l="l"/>
              <a:pathLst>
                <a:path h="4504436" w="5602478">
                  <a:moveTo>
                    <a:pt x="0" y="147066"/>
                  </a:moveTo>
                  <a:cubicBezTo>
                    <a:pt x="0" y="65786"/>
                    <a:pt x="65786" y="0"/>
                    <a:pt x="147066" y="0"/>
                  </a:cubicBezTo>
                  <a:lnTo>
                    <a:pt x="5455412" y="0"/>
                  </a:lnTo>
                  <a:cubicBezTo>
                    <a:pt x="5536692" y="0"/>
                    <a:pt x="5602478" y="65786"/>
                    <a:pt x="5602478" y="147066"/>
                  </a:cubicBezTo>
                  <a:lnTo>
                    <a:pt x="5602478" y="4357370"/>
                  </a:lnTo>
                  <a:cubicBezTo>
                    <a:pt x="5602478" y="4438650"/>
                    <a:pt x="5536692" y="4504436"/>
                    <a:pt x="5455412" y="4504436"/>
                  </a:cubicBezTo>
                  <a:lnTo>
                    <a:pt x="147066" y="4504436"/>
                  </a:lnTo>
                  <a:cubicBezTo>
                    <a:pt x="65786" y="4504436"/>
                    <a:pt x="0" y="4438523"/>
                    <a:pt x="0" y="4357370"/>
                  </a:cubicBezTo>
                  <a:close/>
                </a:path>
              </a:pathLst>
            </a:custGeom>
            <a:solidFill>
              <a:srgbClr val="FFFFFF">
                <a:alpha val="77255"/>
              </a:srgbClr>
            </a:solidFill>
            <a:ln w="15252" cap="sq">
              <a:solidFill>
                <a:srgbClr val="CDA349"/>
              </a:solidFill>
              <a:prstDash val="solid"/>
              <a:miter/>
            </a:ln>
          </p:spPr>
        </p:sp>
      </p:grpSp>
      <p:sp>
        <p:nvSpPr>
          <p:cNvPr name="TextBox 9" id="9"/>
          <p:cNvSpPr txBox="true"/>
          <p:nvPr/>
        </p:nvSpPr>
        <p:spPr>
          <a:xfrm rot="0">
            <a:off x="1441561" y="3831136"/>
            <a:ext cx="3499809" cy="382715"/>
          </a:xfrm>
          <a:prstGeom prst="rect">
            <a:avLst/>
          </a:prstGeom>
        </p:spPr>
        <p:txBody>
          <a:bodyPr anchor="t" rtlCol="false" tIns="0" lIns="0" bIns="0" rIns="0">
            <a:spAutoFit/>
          </a:bodyPr>
          <a:lstStyle/>
          <a:p>
            <a:pPr algn="ctr">
              <a:lnSpc>
                <a:spcPts val="3764"/>
              </a:lnSpc>
            </a:pPr>
            <a:r>
              <a:rPr lang="en-US" sz="3302" b="true">
                <a:solidFill>
                  <a:srgbClr val="122B40"/>
                </a:solidFill>
                <a:latin typeface="Aptos Bold"/>
                <a:ea typeface="Aptos Bold"/>
                <a:cs typeface="Aptos Bold"/>
                <a:sym typeface="Aptos Bold"/>
              </a:rPr>
              <a:t>Today</a:t>
            </a:r>
          </a:p>
        </p:txBody>
      </p:sp>
      <p:grpSp>
        <p:nvGrpSpPr>
          <p:cNvPr name="Group 10" id="10"/>
          <p:cNvGrpSpPr/>
          <p:nvPr/>
        </p:nvGrpSpPr>
        <p:grpSpPr>
          <a:xfrm rot="0">
            <a:off x="1784471" y="4598451"/>
            <a:ext cx="2882608" cy="1509941"/>
            <a:chOff x="0" y="0"/>
            <a:chExt cx="3843477" cy="2013255"/>
          </a:xfrm>
        </p:grpSpPr>
        <p:sp>
          <p:nvSpPr>
            <p:cNvPr name="Freeform 11" id="11"/>
            <p:cNvSpPr/>
            <p:nvPr/>
          </p:nvSpPr>
          <p:spPr>
            <a:xfrm flipH="false" flipV="false" rot="0">
              <a:off x="0" y="0"/>
              <a:ext cx="3843483" cy="2013253"/>
            </a:xfrm>
            <a:custGeom>
              <a:avLst/>
              <a:gdLst/>
              <a:ahLst/>
              <a:cxnLst/>
              <a:rect r="r" b="b" t="t" l="l"/>
              <a:pathLst>
                <a:path h="2013253" w="3843483">
                  <a:moveTo>
                    <a:pt x="0" y="0"/>
                  </a:moveTo>
                  <a:lnTo>
                    <a:pt x="3843483" y="0"/>
                  </a:lnTo>
                  <a:lnTo>
                    <a:pt x="3843483" y="2013253"/>
                  </a:lnTo>
                  <a:lnTo>
                    <a:pt x="0" y="2013253"/>
                  </a:lnTo>
                  <a:close/>
                </a:path>
              </a:pathLst>
            </a:custGeom>
            <a:blipFill>
              <a:blip r:embed="rId4">
                <a:alphaModFix amt="0"/>
              </a:blip>
              <a:stretch>
                <a:fillRect l="-17206" t="0" r="-17206" b="0"/>
              </a:stretch>
            </a:blipFill>
          </p:spPr>
        </p:sp>
        <p:sp>
          <p:nvSpPr>
            <p:cNvPr name="TextBox 12" id="12"/>
            <p:cNvSpPr txBox="true"/>
            <p:nvPr/>
          </p:nvSpPr>
          <p:spPr>
            <a:xfrm>
              <a:off x="0" y="0"/>
              <a:ext cx="3843477" cy="2013255"/>
            </a:xfrm>
            <a:prstGeom prst="rect">
              <a:avLst/>
            </a:prstGeom>
          </p:spPr>
          <p:txBody>
            <a:bodyPr anchor="ctr" rtlCol="false" tIns="0" lIns="0" bIns="0" rIns="0"/>
            <a:lstStyle/>
            <a:p>
              <a:pPr algn="l">
                <a:lnSpc>
                  <a:spcPts val="2251"/>
                </a:lnSpc>
              </a:pPr>
              <a:r>
                <a:rPr lang="en-US" sz="1876">
                  <a:solidFill>
                    <a:srgbClr val="233A47"/>
                  </a:solidFill>
                  <a:latin typeface="Aptos"/>
                  <a:ea typeface="Aptos"/>
                  <a:cs typeface="Aptos"/>
                  <a:sym typeface="Aptos"/>
                </a:rPr>
                <a:t>Email</a:t>
              </a:r>
            </a:p>
            <a:p>
              <a:pPr algn="l">
                <a:lnSpc>
                  <a:spcPts val="2251"/>
                </a:lnSpc>
              </a:pPr>
              <a:r>
                <a:rPr lang="en-US" sz="1876">
                  <a:solidFill>
                    <a:srgbClr val="233A47"/>
                  </a:solidFill>
                  <a:latin typeface="Aptos"/>
                  <a:ea typeface="Aptos"/>
                  <a:cs typeface="Aptos"/>
                  <a:sym typeface="Aptos"/>
                </a:rPr>
                <a:t>Calendar</a:t>
              </a:r>
            </a:p>
            <a:p>
              <a:pPr algn="l">
                <a:lnSpc>
                  <a:spcPts val="2251"/>
                </a:lnSpc>
              </a:pPr>
              <a:r>
                <a:rPr lang="en-US" sz="1876">
                  <a:solidFill>
                    <a:srgbClr val="233A47"/>
                  </a:solidFill>
                  <a:latin typeface="Aptos"/>
                  <a:ea typeface="Aptos"/>
                  <a:cs typeface="Aptos"/>
                  <a:sym typeface="Aptos"/>
                </a:rPr>
                <a:t>Maps</a:t>
              </a:r>
            </a:p>
            <a:p>
              <a:pPr algn="l">
                <a:lnSpc>
                  <a:spcPts val="2251"/>
                </a:lnSpc>
              </a:pPr>
              <a:r>
                <a:rPr lang="en-US" sz="1876">
                  <a:solidFill>
                    <a:srgbClr val="233A47"/>
                  </a:solidFill>
                  <a:latin typeface="Aptos"/>
                  <a:ea typeface="Aptos"/>
                  <a:cs typeface="Aptos"/>
                  <a:sym typeface="Aptos"/>
                </a:rPr>
                <a:t>Banking</a:t>
              </a:r>
            </a:p>
            <a:p>
              <a:pPr algn="l">
                <a:lnSpc>
                  <a:spcPts val="2251"/>
                </a:lnSpc>
              </a:pPr>
              <a:r>
                <a:rPr lang="en-US" sz="1876">
                  <a:solidFill>
                    <a:srgbClr val="233A47"/>
                  </a:solidFill>
                  <a:latin typeface="Aptos"/>
                  <a:ea typeface="Aptos"/>
                  <a:cs typeface="Aptos"/>
                  <a:sym typeface="Aptos"/>
                </a:rPr>
                <a:t>EHR / portal</a:t>
              </a:r>
            </a:p>
          </p:txBody>
        </p:sp>
      </p:grpSp>
      <p:sp>
        <p:nvSpPr>
          <p:cNvPr name="AutoShape 13" id="13"/>
          <p:cNvSpPr/>
          <p:nvPr/>
        </p:nvSpPr>
        <p:spPr>
          <a:xfrm rot="97620">
            <a:off x="5718439" y="5000730"/>
            <a:ext cx="1342711" cy="0"/>
          </a:xfrm>
          <a:prstGeom prst="line">
            <a:avLst/>
          </a:prstGeom>
          <a:ln cap="rnd" w="19050">
            <a:solidFill>
              <a:srgbClr val="CDA349"/>
            </a:solidFill>
            <a:prstDash val="solid"/>
            <a:headEnd type="none" len="sm" w="sm"/>
            <a:tailEnd type="triangle" len="med" w="lg"/>
          </a:ln>
        </p:spPr>
      </p:sp>
      <p:grpSp>
        <p:nvGrpSpPr>
          <p:cNvPr name="Group 14" id="14"/>
          <p:cNvGrpSpPr/>
          <p:nvPr/>
        </p:nvGrpSpPr>
        <p:grpSpPr>
          <a:xfrm rot="0">
            <a:off x="7198900" y="3355419"/>
            <a:ext cx="3927367" cy="3378298"/>
            <a:chOff x="0" y="0"/>
            <a:chExt cx="5236489" cy="4504398"/>
          </a:xfrm>
        </p:grpSpPr>
        <p:sp>
          <p:nvSpPr>
            <p:cNvPr name="Freeform 15" id="15"/>
            <p:cNvSpPr/>
            <p:nvPr/>
          </p:nvSpPr>
          <p:spPr>
            <a:xfrm flipH="false" flipV="false" rot="0">
              <a:off x="0" y="0"/>
              <a:ext cx="5236464" cy="4504436"/>
            </a:xfrm>
            <a:custGeom>
              <a:avLst/>
              <a:gdLst/>
              <a:ahLst/>
              <a:cxnLst/>
              <a:rect r="r" b="b" t="t" l="l"/>
              <a:pathLst>
                <a:path h="4504436" w="5236464">
                  <a:moveTo>
                    <a:pt x="0" y="147066"/>
                  </a:moveTo>
                  <a:cubicBezTo>
                    <a:pt x="0" y="65786"/>
                    <a:pt x="65786" y="0"/>
                    <a:pt x="147066" y="0"/>
                  </a:cubicBezTo>
                  <a:lnTo>
                    <a:pt x="5089398" y="0"/>
                  </a:lnTo>
                  <a:cubicBezTo>
                    <a:pt x="5170678" y="0"/>
                    <a:pt x="5236464" y="65786"/>
                    <a:pt x="5236464" y="147066"/>
                  </a:cubicBezTo>
                  <a:lnTo>
                    <a:pt x="5236464" y="4357370"/>
                  </a:lnTo>
                  <a:cubicBezTo>
                    <a:pt x="5236464" y="4438650"/>
                    <a:pt x="5170678" y="4504436"/>
                    <a:pt x="5089398" y="4504436"/>
                  </a:cubicBezTo>
                  <a:lnTo>
                    <a:pt x="147066" y="4504436"/>
                  </a:lnTo>
                  <a:cubicBezTo>
                    <a:pt x="65786" y="4504436"/>
                    <a:pt x="0" y="4438523"/>
                    <a:pt x="0" y="4357370"/>
                  </a:cubicBezTo>
                  <a:close/>
                </a:path>
              </a:pathLst>
            </a:custGeom>
            <a:solidFill>
              <a:srgbClr val="FFFFFF">
                <a:alpha val="77255"/>
              </a:srgbClr>
            </a:solidFill>
            <a:ln w="15252" cap="sq">
              <a:solidFill>
                <a:srgbClr val="CDA349"/>
              </a:solidFill>
              <a:prstDash val="solid"/>
              <a:miter/>
            </a:ln>
          </p:spPr>
        </p:sp>
      </p:grpSp>
      <p:sp>
        <p:nvSpPr>
          <p:cNvPr name="TextBox 16" id="16"/>
          <p:cNvSpPr txBox="true"/>
          <p:nvPr/>
        </p:nvSpPr>
        <p:spPr>
          <a:xfrm rot="0">
            <a:off x="7577404" y="3831136"/>
            <a:ext cx="3225270" cy="382715"/>
          </a:xfrm>
          <a:prstGeom prst="rect">
            <a:avLst/>
          </a:prstGeom>
        </p:spPr>
        <p:txBody>
          <a:bodyPr anchor="t" rtlCol="false" tIns="0" lIns="0" bIns="0" rIns="0">
            <a:spAutoFit/>
          </a:bodyPr>
          <a:lstStyle/>
          <a:p>
            <a:pPr algn="ctr">
              <a:lnSpc>
                <a:spcPts val="3764"/>
              </a:lnSpc>
            </a:pPr>
            <a:r>
              <a:rPr lang="en-US" sz="3302" b="true">
                <a:solidFill>
                  <a:srgbClr val="122B40"/>
                </a:solidFill>
                <a:latin typeface="Aptos Bold"/>
                <a:ea typeface="Aptos Bold"/>
                <a:cs typeface="Aptos Bold"/>
                <a:sym typeface="Aptos Bold"/>
              </a:rPr>
              <a:t>Tomorrow</a:t>
            </a:r>
          </a:p>
        </p:txBody>
      </p:sp>
      <p:grpSp>
        <p:nvGrpSpPr>
          <p:cNvPr name="Group 17" id="17"/>
          <p:cNvGrpSpPr/>
          <p:nvPr/>
        </p:nvGrpSpPr>
        <p:grpSpPr>
          <a:xfrm rot="0">
            <a:off x="7714421" y="4598451"/>
            <a:ext cx="2992422" cy="1235402"/>
            <a:chOff x="0" y="0"/>
            <a:chExt cx="3989896" cy="1647203"/>
          </a:xfrm>
        </p:grpSpPr>
        <p:sp>
          <p:nvSpPr>
            <p:cNvPr name="Freeform 18" id="18"/>
            <p:cNvSpPr/>
            <p:nvPr/>
          </p:nvSpPr>
          <p:spPr>
            <a:xfrm flipH="false" flipV="false" rot="0">
              <a:off x="0" y="0"/>
              <a:ext cx="3989901" cy="1647207"/>
            </a:xfrm>
            <a:custGeom>
              <a:avLst/>
              <a:gdLst/>
              <a:ahLst/>
              <a:cxnLst/>
              <a:rect r="r" b="b" t="t" l="l"/>
              <a:pathLst>
                <a:path h="1647207" w="3989901">
                  <a:moveTo>
                    <a:pt x="0" y="0"/>
                  </a:moveTo>
                  <a:lnTo>
                    <a:pt x="3989901" y="0"/>
                  </a:lnTo>
                  <a:lnTo>
                    <a:pt x="3989901" y="1647207"/>
                  </a:lnTo>
                  <a:lnTo>
                    <a:pt x="0" y="1647207"/>
                  </a:lnTo>
                  <a:close/>
                </a:path>
              </a:pathLst>
            </a:custGeom>
            <a:blipFill>
              <a:blip r:embed="rId4">
                <a:alphaModFix amt="0"/>
              </a:blip>
              <a:stretch>
                <a:fillRect l="-2969" t="0" r="-2969" b="0"/>
              </a:stretch>
            </a:blipFill>
          </p:spPr>
        </p:sp>
        <p:sp>
          <p:nvSpPr>
            <p:cNvPr name="TextBox 19" id="19"/>
            <p:cNvSpPr txBox="true"/>
            <p:nvPr/>
          </p:nvSpPr>
          <p:spPr>
            <a:xfrm>
              <a:off x="0" y="19050"/>
              <a:ext cx="3989896" cy="1628153"/>
            </a:xfrm>
            <a:prstGeom prst="rect">
              <a:avLst/>
            </a:prstGeom>
          </p:spPr>
          <p:txBody>
            <a:bodyPr anchor="ctr" rtlCol="false" tIns="0" lIns="0" bIns="0" rIns="0"/>
            <a:lstStyle/>
            <a:p>
              <a:pPr algn="ctr">
                <a:lnSpc>
                  <a:spcPts val="3165"/>
                </a:lnSpc>
              </a:pPr>
              <a:r>
                <a:rPr lang="en-US" sz="2777" b="true">
                  <a:solidFill>
                    <a:srgbClr val="CDA349"/>
                  </a:solidFill>
                  <a:latin typeface="Aptos Bold"/>
                  <a:ea typeface="Aptos Bold"/>
                  <a:cs typeface="Aptos Bold"/>
                  <a:sym typeface="Aptos Bold"/>
                </a:rPr>
                <a:t>“Help me plan</a:t>
              </a:r>
            </a:p>
            <a:p>
              <a:pPr algn="ctr">
                <a:lnSpc>
                  <a:spcPts val="3165"/>
                </a:lnSpc>
              </a:pPr>
              <a:r>
                <a:rPr lang="en-US" sz="2777" b="true">
                  <a:solidFill>
                    <a:srgbClr val="CDA349"/>
                  </a:solidFill>
                  <a:latin typeface="Aptos Bold"/>
                  <a:ea typeface="Aptos Bold"/>
                  <a:cs typeface="Aptos Bold"/>
                  <a:sym typeface="Aptos Bold"/>
                </a:rPr>
                <a:t>my daughter’s</a:t>
              </a:r>
            </a:p>
            <a:p>
              <a:pPr algn="ctr">
                <a:lnSpc>
                  <a:spcPts val="3165"/>
                </a:lnSpc>
              </a:pPr>
              <a:r>
                <a:rPr lang="en-US" sz="2777" b="true">
                  <a:solidFill>
                    <a:srgbClr val="CDA349"/>
                  </a:solidFill>
                  <a:latin typeface="Aptos Bold"/>
                  <a:ea typeface="Aptos Bold"/>
                  <a:cs typeface="Aptos Bold"/>
                  <a:sym typeface="Aptos Bold"/>
                </a:rPr>
                <a:t>birthday.”</a:t>
              </a:r>
            </a:p>
          </p:txBody>
        </p:sp>
      </p:grpSp>
      <p:sp>
        <p:nvSpPr>
          <p:cNvPr name="AutoShape 20" id="20"/>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21" id="21"/>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From applications to goals</a:t>
            </a:r>
          </a:p>
        </p:txBody>
      </p:sp>
      <p:sp>
        <p:nvSpPr>
          <p:cNvPr name="TextBox 22" id="22"/>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human.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A SIMPLE PERSONAL AI SCENARIO</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One request may require many systems</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The person experiences one request. The system performs coordinated work.</a:t>
            </a:r>
          </a:p>
        </p:txBody>
      </p:sp>
      <p:sp>
        <p:nvSpPr>
          <p:cNvPr name="TextBox 7" id="7"/>
          <p:cNvSpPr txBox="true"/>
          <p:nvPr/>
        </p:nvSpPr>
        <p:spPr>
          <a:xfrm rot="0">
            <a:off x="1125845" y="3431934"/>
            <a:ext cx="685829" cy="274025"/>
          </a:xfrm>
          <a:prstGeom prst="rect">
            <a:avLst/>
          </a:prstGeom>
        </p:spPr>
        <p:txBody>
          <a:bodyPr anchor="t" rtlCol="false" tIns="0" lIns="0" bIns="0" rIns="0">
            <a:spAutoFit/>
          </a:bodyPr>
          <a:lstStyle/>
          <a:p>
            <a:pPr algn="l">
              <a:lnSpc>
                <a:spcPts val="1574"/>
              </a:lnSpc>
            </a:pPr>
            <a:r>
              <a:rPr lang="en-US" sz="1381" b="true">
                <a:solidFill>
                  <a:srgbClr val="CDA349"/>
                </a:solidFill>
                <a:latin typeface="Aptos Bold"/>
                <a:ea typeface="Aptos Bold"/>
                <a:cs typeface="Aptos Bold"/>
                <a:sym typeface="Aptos Bold"/>
              </a:rPr>
              <a:t>01</a:t>
            </a:r>
          </a:p>
        </p:txBody>
      </p:sp>
      <p:sp>
        <p:nvSpPr>
          <p:cNvPr name="TextBox 8" id="8"/>
          <p:cNvSpPr txBox="true"/>
          <p:nvPr/>
        </p:nvSpPr>
        <p:spPr>
          <a:xfrm rot="0">
            <a:off x="1812179" y="3386557"/>
            <a:ext cx="7274652" cy="374313"/>
          </a:xfrm>
          <a:prstGeom prst="rect">
            <a:avLst/>
          </a:prstGeom>
        </p:spPr>
        <p:txBody>
          <a:bodyPr anchor="t" rtlCol="false" tIns="0" lIns="0" bIns="0" rIns="0">
            <a:spAutoFit/>
          </a:bodyPr>
          <a:lstStyle/>
          <a:p>
            <a:pPr algn="l">
              <a:lnSpc>
                <a:spcPts val="2772"/>
              </a:lnSpc>
            </a:pPr>
            <a:r>
              <a:rPr lang="en-US" sz="2431" b="true">
                <a:solidFill>
                  <a:srgbClr val="122B40"/>
                </a:solidFill>
                <a:latin typeface="Aptos Bold"/>
                <a:ea typeface="Aptos Bold"/>
                <a:cs typeface="Aptos Bold"/>
                <a:sym typeface="Aptos Bold"/>
              </a:rPr>
              <a:t>Check calendars</a:t>
            </a:r>
          </a:p>
        </p:txBody>
      </p:sp>
      <p:sp>
        <p:nvSpPr>
          <p:cNvPr name="AutoShape 9" id="9"/>
          <p:cNvSpPr/>
          <p:nvPr/>
        </p:nvSpPr>
        <p:spPr>
          <a:xfrm rot="2940">
            <a:off x="1149229" y="3907355"/>
            <a:ext cx="8998629" cy="0"/>
          </a:xfrm>
          <a:prstGeom prst="line">
            <a:avLst/>
          </a:prstGeom>
          <a:ln cap="rnd" w="9525">
            <a:solidFill>
              <a:srgbClr val="CDA349">
                <a:alpha val="34902"/>
              </a:srgbClr>
            </a:solidFill>
            <a:prstDash val="solid"/>
            <a:headEnd type="none" len="sm" w="sm"/>
            <a:tailEnd type="none" len="sm" w="sm"/>
          </a:ln>
        </p:spPr>
      </p:sp>
      <p:sp>
        <p:nvSpPr>
          <p:cNvPr name="TextBox 10" id="10"/>
          <p:cNvSpPr txBox="true"/>
          <p:nvPr/>
        </p:nvSpPr>
        <p:spPr>
          <a:xfrm rot="0">
            <a:off x="1125845" y="4186904"/>
            <a:ext cx="685829" cy="274025"/>
          </a:xfrm>
          <a:prstGeom prst="rect">
            <a:avLst/>
          </a:prstGeom>
        </p:spPr>
        <p:txBody>
          <a:bodyPr anchor="t" rtlCol="false" tIns="0" lIns="0" bIns="0" rIns="0">
            <a:spAutoFit/>
          </a:bodyPr>
          <a:lstStyle/>
          <a:p>
            <a:pPr algn="l">
              <a:lnSpc>
                <a:spcPts val="1574"/>
              </a:lnSpc>
            </a:pPr>
            <a:r>
              <a:rPr lang="en-US" sz="1381" b="true">
                <a:solidFill>
                  <a:srgbClr val="CDA349"/>
                </a:solidFill>
                <a:latin typeface="Aptos Bold"/>
                <a:ea typeface="Aptos Bold"/>
                <a:cs typeface="Aptos Bold"/>
                <a:sym typeface="Aptos Bold"/>
              </a:rPr>
              <a:t>02</a:t>
            </a:r>
          </a:p>
        </p:txBody>
      </p:sp>
      <p:sp>
        <p:nvSpPr>
          <p:cNvPr name="TextBox 11" id="11"/>
          <p:cNvSpPr txBox="true"/>
          <p:nvPr/>
        </p:nvSpPr>
        <p:spPr>
          <a:xfrm rot="0">
            <a:off x="1812179" y="4141527"/>
            <a:ext cx="7274652" cy="374313"/>
          </a:xfrm>
          <a:prstGeom prst="rect">
            <a:avLst/>
          </a:prstGeom>
        </p:spPr>
        <p:txBody>
          <a:bodyPr anchor="t" rtlCol="false" tIns="0" lIns="0" bIns="0" rIns="0">
            <a:spAutoFit/>
          </a:bodyPr>
          <a:lstStyle/>
          <a:p>
            <a:pPr algn="l">
              <a:lnSpc>
                <a:spcPts val="2772"/>
              </a:lnSpc>
            </a:pPr>
            <a:r>
              <a:rPr lang="en-US" sz="2431" b="true">
                <a:solidFill>
                  <a:srgbClr val="122B40"/>
                </a:solidFill>
                <a:latin typeface="Aptos Bold"/>
                <a:ea typeface="Aptos Bold"/>
                <a:cs typeface="Aptos Bold"/>
                <a:sym typeface="Aptos Bold"/>
              </a:rPr>
              <a:t>Find venues</a:t>
            </a:r>
          </a:p>
        </p:txBody>
      </p:sp>
      <p:sp>
        <p:nvSpPr>
          <p:cNvPr name="AutoShape 12" id="12"/>
          <p:cNvSpPr/>
          <p:nvPr/>
        </p:nvSpPr>
        <p:spPr>
          <a:xfrm rot="2940">
            <a:off x="1149229" y="4662326"/>
            <a:ext cx="8998629" cy="0"/>
          </a:xfrm>
          <a:prstGeom prst="line">
            <a:avLst/>
          </a:prstGeom>
          <a:ln cap="rnd" w="9525">
            <a:solidFill>
              <a:srgbClr val="CDA349">
                <a:alpha val="34902"/>
              </a:srgbClr>
            </a:solidFill>
            <a:prstDash val="solid"/>
            <a:headEnd type="none" len="sm" w="sm"/>
            <a:tailEnd type="none" len="sm" w="sm"/>
          </a:ln>
        </p:spPr>
      </p:sp>
      <p:sp>
        <p:nvSpPr>
          <p:cNvPr name="TextBox 13" id="13"/>
          <p:cNvSpPr txBox="true"/>
          <p:nvPr/>
        </p:nvSpPr>
        <p:spPr>
          <a:xfrm rot="0">
            <a:off x="1125845" y="4941875"/>
            <a:ext cx="685829" cy="274025"/>
          </a:xfrm>
          <a:prstGeom prst="rect">
            <a:avLst/>
          </a:prstGeom>
        </p:spPr>
        <p:txBody>
          <a:bodyPr anchor="t" rtlCol="false" tIns="0" lIns="0" bIns="0" rIns="0">
            <a:spAutoFit/>
          </a:bodyPr>
          <a:lstStyle/>
          <a:p>
            <a:pPr algn="l">
              <a:lnSpc>
                <a:spcPts val="1574"/>
              </a:lnSpc>
            </a:pPr>
            <a:r>
              <a:rPr lang="en-US" sz="1381" b="true">
                <a:solidFill>
                  <a:srgbClr val="CDA349"/>
                </a:solidFill>
                <a:latin typeface="Aptos Bold"/>
                <a:ea typeface="Aptos Bold"/>
                <a:cs typeface="Aptos Bold"/>
                <a:sym typeface="Aptos Bold"/>
              </a:rPr>
              <a:t>03</a:t>
            </a:r>
          </a:p>
        </p:txBody>
      </p:sp>
      <p:sp>
        <p:nvSpPr>
          <p:cNvPr name="TextBox 14" id="14"/>
          <p:cNvSpPr txBox="true"/>
          <p:nvPr/>
        </p:nvSpPr>
        <p:spPr>
          <a:xfrm rot="0">
            <a:off x="1812179" y="4896488"/>
            <a:ext cx="7274652" cy="374313"/>
          </a:xfrm>
          <a:prstGeom prst="rect">
            <a:avLst/>
          </a:prstGeom>
        </p:spPr>
        <p:txBody>
          <a:bodyPr anchor="t" rtlCol="false" tIns="0" lIns="0" bIns="0" rIns="0">
            <a:spAutoFit/>
          </a:bodyPr>
          <a:lstStyle/>
          <a:p>
            <a:pPr algn="l">
              <a:lnSpc>
                <a:spcPts val="2772"/>
              </a:lnSpc>
            </a:pPr>
            <a:r>
              <a:rPr lang="en-US" sz="2431" b="true">
                <a:solidFill>
                  <a:srgbClr val="122B40"/>
                </a:solidFill>
                <a:latin typeface="Aptos Bold"/>
                <a:ea typeface="Aptos Bold"/>
                <a:cs typeface="Aptos Bold"/>
                <a:sym typeface="Aptos Bold"/>
              </a:rPr>
              <a:t>Draft invitations</a:t>
            </a:r>
          </a:p>
        </p:txBody>
      </p:sp>
      <p:sp>
        <p:nvSpPr>
          <p:cNvPr name="AutoShape 15" id="15"/>
          <p:cNvSpPr/>
          <p:nvPr/>
        </p:nvSpPr>
        <p:spPr>
          <a:xfrm rot="2940">
            <a:off x="1149229" y="5417296"/>
            <a:ext cx="8998629" cy="0"/>
          </a:xfrm>
          <a:prstGeom prst="line">
            <a:avLst/>
          </a:prstGeom>
          <a:ln cap="rnd" w="9525">
            <a:solidFill>
              <a:srgbClr val="CDA349">
                <a:alpha val="34902"/>
              </a:srgbClr>
            </a:solidFill>
            <a:prstDash val="solid"/>
            <a:headEnd type="none" len="sm" w="sm"/>
            <a:tailEnd type="none" len="sm" w="sm"/>
          </a:ln>
        </p:spPr>
      </p:sp>
      <p:sp>
        <p:nvSpPr>
          <p:cNvPr name="TextBox 16" id="16"/>
          <p:cNvSpPr txBox="true"/>
          <p:nvPr/>
        </p:nvSpPr>
        <p:spPr>
          <a:xfrm rot="0">
            <a:off x="1125845" y="5696845"/>
            <a:ext cx="685829" cy="274025"/>
          </a:xfrm>
          <a:prstGeom prst="rect">
            <a:avLst/>
          </a:prstGeom>
        </p:spPr>
        <p:txBody>
          <a:bodyPr anchor="t" rtlCol="false" tIns="0" lIns="0" bIns="0" rIns="0">
            <a:spAutoFit/>
          </a:bodyPr>
          <a:lstStyle/>
          <a:p>
            <a:pPr algn="l">
              <a:lnSpc>
                <a:spcPts val="1574"/>
              </a:lnSpc>
            </a:pPr>
            <a:r>
              <a:rPr lang="en-US" sz="1381" b="true">
                <a:solidFill>
                  <a:srgbClr val="CDA349"/>
                </a:solidFill>
                <a:latin typeface="Aptos Bold"/>
                <a:ea typeface="Aptos Bold"/>
                <a:cs typeface="Aptos Bold"/>
                <a:sym typeface="Aptos Bold"/>
              </a:rPr>
              <a:t>04</a:t>
            </a:r>
          </a:p>
        </p:txBody>
      </p:sp>
      <p:sp>
        <p:nvSpPr>
          <p:cNvPr name="TextBox 17" id="17"/>
          <p:cNvSpPr txBox="true"/>
          <p:nvPr/>
        </p:nvSpPr>
        <p:spPr>
          <a:xfrm rot="0">
            <a:off x="1812179" y="5651459"/>
            <a:ext cx="7274652" cy="374313"/>
          </a:xfrm>
          <a:prstGeom prst="rect">
            <a:avLst/>
          </a:prstGeom>
        </p:spPr>
        <p:txBody>
          <a:bodyPr anchor="t" rtlCol="false" tIns="0" lIns="0" bIns="0" rIns="0">
            <a:spAutoFit/>
          </a:bodyPr>
          <a:lstStyle/>
          <a:p>
            <a:pPr algn="l">
              <a:lnSpc>
                <a:spcPts val="2772"/>
              </a:lnSpc>
            </a:pPr>
            <a:r>
              <a:rPr lang="en-US" sz="2431" b="true">
                <a:solidFill>
                  <a:srgbClr val="122B40"/>
                </a:solidFill>
                <a:latin typeface="Aptos Bold"/>
                <a:ea typeface="Aptos Bold"/>
                <a:cs typeface="Aptos Bold"/>
                <a:sym typeface="Aptos Bold"/>
              </a:rPr>
              <a:t>Coordinate family</a:t>
            </a:r>
          </a:p>
        </p:txBody>
      </p:sp>
      <p:sp>
        <p:nvSpPr>
          <p:cNvPr name="AutoShape 18" id="18"/>
          <p:cNvSpPr/>
          <p:nvPr/>
        </p:nvSpPr>
        <p:spPr>
          <a:xfrm rot="2940">
            <a:off x="1149229" y="6172267"/>
            <a:ext cx="8998629" cy="0"/>
          </a:xfrm>
          <a:prstGeom prst="line">
            <a:avLst/>
          </a:prstGeom>
          <a:ln cap="rnd" w="9525">
            <a:solidFill>
              <a:srgbClr val="CDA349">
                <a:alpha val="34902"/>
              </a:srgbClr>
            </a:solidFill>
            <a:prstDash val="solid"/>
            <a:headEnd type="none" len="sm" w="sm"/>
            <a:tailEnd type="none" len="sm" w="sm"/>
          </a:ln>
        </p:spPr>
      </p:sp>
      <p:sp>
        <p:nvSpPr>
          <p:cNvPr name="TextBox 19" id="19"/>
          <p:cNvSpPr txBox="true"/>
          <p:nvPr/>
        </p:nvSpPr>
        <p:spPr>
          <a:xfrm rot="0">
            <a:off x="1125845" y="6451816"/>
            <a:ext cx="685829" cy="274025"/>
          </a:xfrm>
          <a:prstGeom prst="rect">
            <a:avLst/>
          </a:prstGeom>
        </p:spPr>
        <p:txBody>
          <a:bodyPr anchor="t" rtlCol="false" tIns="0" lIns="0" bIns="0" rIns="0">
            <a:spAutoFit/>
          </a:bodyPr>
          <a:lstStyle/>
          <a:p>
            <a:pPr algn="l">
              <a:lnSpc>
                <a:spcPts val="1574"/>
              </a:lnSpc>
            </a:pPr>
            <a:r>
              <a:rPr lang="en-US" sz="1381" b="true">
                <a:solidFill>
                  <a:srgbClr val="CDA349"/>
                </a:solidFill>
                <a:latin typeface="Aptos Bold"/>
                <a:ea typeface="Aptos Bold"/>
                <a:cs typeface="Aptos Bold"/>
                <a:sym typeface="Aptos Bold"/>
              </a:rPr>
              <a:t>05</a:t>
            </a:r>
          </a:p>
        </p:txBody>
      </p:sp>
      <p:sp>
        <p:nvSpPr>
          <p:cNvPr name="TextBox 20" id="20"/>
          <p:cNvSpPr txBox="true"/>
          <p:nvPr/>
        </p:nvSpPr>
        <p:spPr>
          <a:xfrm rot="0">
            <a:off x="1812179" y="6406429"/>
            <a:ext cx="7274652" cy="374313"/>
          </a:xfrm>
          <a:prstGeom prst="rect">
            <a:avLst/>
          </a:prstGeom>
        </p:spPr>
        <p:txBody>
          <a:bodyPr anchor="t" rtlCol="false" tIns="0" lIns="0" bIns="0" rIns="0">
            <a:spAutoFit/>
          </a:bodyPr>
          <a:lstStyle/>
          <a:p>
            <a:pPr algn="l">
              <a:lnSpc>
                <a:spcPts val="2772"/>
              </a:lnSpc>
            </a:pPr>
            <a:r>
              <a:rPr lang="en-US" sz="2431" b="true">
                <a:solidFill>
                  <a:srgbClr val="122B40"/>
                </a:solidFill>
                <a:latin typeface="Aptos Bold"/>
                <a:ea typeface="Aptos Bold"/>
                <a:cs typeface="Aptos Bold"/>
                <a:sym typeface="Aptos Bold"/>
              </a:rPr>
              <a:t>Update budget</a:t>
            </a:r>
          </a:p>
        </p:txBody>
      </p:sp>
      <p:sp>
        <p:nvSpPr>
          <p:cNvPr name="AutoShape 21" id="21"/>
          <p:cNvSpPr/>
          <p:nvPr/>
        </p:nvSpPr>
        <p:spPr>
          <a:xfrm rot="2940">
            <a:off x="1149229" y="6927237"/>
            <a:ext cx="8998629" cy="0"/>
          </a:xfrm>
          <a:prstGeom prst="line">
            <a:avLst/>
          </a:prstGeom>
          <a:ln cap="rnd" w="9525">
            <a:solidFill>
              <a:srgbClr val="CDA349">
                <a:alpha val="34902"/>
              </a:srgbClr>
            </a:solidFill>
            <a:prstDash val="solid"/>
            <a:headEnd type="none" len="sm" w="sm"/>
            <a:tailEnd type="none" len="sm" w="sm"/>
          </a:ln>
        </p:spPr>
      </p:sp>
      <p:sp>
        <p:nvSpPr>
          <p:cNvPr name="TextBox 22" id="22"/>
          <p:cNvSpPr txBox="true"/>
          <p:nvPr/>
        </p:nvSpPr>
        <p:spPr>
          <a:xfrm rot="0">
            <a:off x="1125845" y="7206786"/>
            <a:ext cx="685829" cy="274025"/>
          </a:xfrm>
          <a:prstGeom prst="rect">
            <a:avLst/>
          </a:prstGeom>
        </p:spPr>
        <p:txBody>
          <a:bodyPr anchor="t" rtlCol="false" tIns="0" lIns="0" bIns="0" rIns="0">
            <a:spAutoFit/>
          </a:bodyPr>
          <a:lstStyle/>
          <a:p>
            <a:pPr algn="l">
              <a:lnSpc>
                <a:spcPts val="1574"/>
              </a:lnSpc>
            </a:pPr>
            <a:r>
              <a:rPr lang="en-US" sz="1381" b="true">
                <a:solidFill>
                  <a:srgbClr val="CDA349"/>
                </a:solidFill>
                <a:latin typeface="Aptos Bold"/>
                <a:ea typeface="Aptos Bold"/>
                <a:cs typeface="Aptos Bold"/>
                <a:sym typeface="Aptos Bold"/>
              </a:rPr>
              <a:t>06</a:t>
            </a:r>
          </a:p>
        </p:txBody>
      </p:sp>
      <p:sp>
        <p:nvSpPr>
          <p:cNvPr name="TextBox 23" id="23"/>
          <p:cNvSpPr txBox="true"/>
          <p:nvPr/>
        </p:nvSpPr>
        <p:spPr>
          <a:xfrm rot="0">
            <a:off x="1812179" y="7161400"/>
            <a:ext cx="7274652" cy="374313"/>
          </a:xfrm>
          <a:prstGeom prst="rect">
            <a:avLst/>
          </a:prstGeom>
        </p:spPr>
        <p:txBody>
          <a:bodyPr anchor="t" rtlCol="false" tIns="0" lIns="0" bIns="0" rIns="0">
            <a:spAutoFit/>
          </a:bodyPr>
          <a:lstStyle/>
          <a:p>
            <a:pPr algn="l">
              <a:lnSpc>
                <a:spcPts val="2772"/>
              </a:lnSpc>
            </a:pPr>
            <a:r>
              <a:rPr lang="en-US" sz="2431" b="true">
                <a:solidFill>
                  <a:srgbClr val="122B40"/>
                </a:solidFill>
                <a:latin typeface="Aptos Bold"/>
                <a:ea typeface="Aptos Bold"/>
                <a:cs typeface="Aptos Bold"/>
                <a:sym typeface="Aptos Bold"/>
              </a:rPr>
              <a:t>Set reminders</a:t>
            </a:r>
          </a:p>
        </p:txBody>
      </p:sp>
      <p:sp>
        <p:nvSpPr>
          <p:cNvPr name="AutoShape 24" id="24"/>
          <p:cNvSpPr/>
          <p:nvPr/>
        </p:nvSpPr>
        <p:spPr>
          <a:xfrm rot="2940">
            <a:off x="1149229" y="7682198"/>
            <a:ext cx="8998629" cy="0"/>
          </a:xfrm>
          <a:prstGeom prst="line">
            <a:avLst/>
          </a:prstGeom>
          <a:ln cap="rnd" w="9525">
            <a:solidFill>
              <a:srgbClr val="CDA349">
                <a:alpha val="34902"/>
              </a:srgbClr>
            </a:solidFill>
            <a:prstDash val="solid"/>
            <a:headEnd type="none" len="sm" w="sm"/>
            <a:tailEnd type="none" len="sm" w="sm"/>
          </a:ln>
        </p:spPr>
      </p:sp>
      <p:grpSp>
        <p:nvGrpSpPr>
          <p:cNvPr name="Group 25" id="25"/>
          <p:cNvGrpSpPr/>
          <p:nvPr/>
        </p:nvGrpSpPr>
        <p:grpSpPr>
          <a:xfrm rot="0">
            <a:off x="1159145" y="8132321"/>
            <a:ext cx="9006259" cy="1003573"/>
            <a:chOff x="0" y="0"/>
            <a:chExt cx="12008345" cy="1338097"/>
          </a:xfrm>
        </p:grpSpPr>
        <p:sp>
          <p:nvSpPr>
            <p:cNvPr name="Freeform 26" id="26"/>
            <p:cNvSpPr/>
            <p:nvPr/>
          </p:nvSpPr>
          <p:spPr>
            <a:xfrm flipH="false" flipV="false" rot="0">
              <a:off x="0" y="0"/>
              <a:ext cx="12008358" cy="1338199"/>
            </a:xfrm>
            <a:custGeom>
              <a:avLst/>
              <a:gdLst/>
              <a:ahLst/>
              <a:cxnLst/>
              <a:rect r="r" b="b" t="t" l="l"/>
              <a:pathLst>
                <a:path h="1338199" w="12008358">
                  <a:moveTo>
                    <a:pt x="0" y="148717"/>
                  </a:moveTo>
                  <a:cubicBezTo>
                    <a:pt x="0" y="66548"/>
                    <a:pt x="66548" y="0"/>
                    <a:pt x="148717" y="0"/>
                  </a:cubicBezTo>
                  <a:lnTo>
                    <a:pt x="11859641" y="0"/>
                  </a:lnTo>
                  <a:cubicBezTo>
                    <a:pt x="11941810" y="0"/>
                    <a:pt x="12008358" y="66548"/>
                    <a:pt x="12008358" y="148717"/>
                  </a:cubicBezTo>
                  <a:lnTo>
                    <a:pt x="12008358" y="1189482"/>
                  </a:lnTo>
                  <a:cubicBezTo>
                    <a:pt x="12008358" y="1271651"/>
                    <a:pt x="11941810" y="1338199"/>
                    <a:pt x="11859641" y="1338199"/>
                  </a:cubicBezTo>
                  <a:lnTo>
                    <a:pt x="148717" y="1338199"/>
                  </a:lnTo>
                  <a:cubicBezTo>
                    <a:pt x="66548" y="1338072"/>
                    <a:pt x="0" y="1271524"/>
                    <a:pt x="0" y="1189482"/>
                  </a:cubicBezTo>
                  <a:close/>
                </a:path>
              </a:pathLst>
            </a:custGeom>
            <a:solidFill>
              <a:srgbClr val="FFFFFF">
                <a:alpha val="80784"/>
              </a:srgbClr>
            </a:solidFill>
            <a:ln w="15252" cap="sq">
              <a:solidFill>
                <a:srgbClr val="CDA349"/>
              </a:solidFill>
              <a:prstDash val="solid"/>
              <a:miter/>
            </a:ln>
          </p:spPr>
        </p:sp>
      </p:grpSp>
      <p:grpSp>
        <p:nvGrpSpPr>
          <p:cNvPr name="Group 27" id="27"/>
          <p:cNvGrpSpPr/>
          <p:nvPr/>
        </p:nvGrpSpPr>
        <p:grpSpPr>
          <a:xfrm rot="0">
            <a:off x="1551118" y="8441931"/>
            <a:ext cx="8222304" cy="411804"/>
            <a:chOff x="0" y="0"/>
            <a:chExt cx="10963072" cy="549072"/>
          </a:xfrm>
        </p:grpSpPr>
        <p:sp>
          <p:nvSpPr>
            <p:cNvPr name="Freeform 28" id="28"/>
            <p:cNvSpPr/>
            <p:nvPr/>
          </p:nvSpPr>
          <p:spPr>
            <a:xfrm flipH="false" flipV="false" rot="0">
              <a:off x="0" y="0"/>
              <a:ext cx="10963077" cy="549069"/>
            </a:xfrm>
            <a:custGeom>
              <a:avLst/>
              <a:gdLst/>
              <a:ahLst/>
              <a:cxnLst/>
              <a:rect r="r" b="b" t="t" l="l"/>
              <a:pathLst>
                <a:path h="549069" w="10963077">
                  <a:moveTo>
                    <a:pt x="0" y="0"/>
                  </a:moveTo>
                  <a:lnTo>
                    <a:pt x="10963077" y="0"/>
                  </a:lnTo>
                  <a:lnTo>
                    <a:pt x="10963077" y="549069"/>
                  </a:lnTo>
                  <a:lnTo>
                    <a:pt x="0" y="549069"/>
                  </a:lnTo>
                  <a:close/>
                </a:path>
              </a:pathLst>
            </a:custGeom>
            <a:blipFill>
              <a:blip r:embed="rId4">
                <a:alphaModFix amt="0"/>
              </a:blip>
              <a:stretch>
                <a:fillRect l="0" t="-339050" r="0" b="-339051"/>
              </a:stretch>
            </a:blipFill>
          </p:spPr>
        </p:sp>
        <p:sp>
          <p:nvSpPr>
            <p:cNvPr name="TextBox 29" id="29"/>
            <p:cNvSpPr txBox="true"/>
            <p:nvPr/>
          </p:nvSpPr>
          <p:spPr>
            <a:xfrm>
              <a:off x="0" y="19050"/>
              <a:ext cx="10963072" cy="530022"/>
            </a:xfrm>
            <a:prstGeom prst="rect">
              <a:avLst/>
            </a:prstGeom>
          </p:spPr>
          <p:txBody>
            <a:bodyPr anchor="ctr" rtlCol="false" tIns="0" lIns="0" bIns="0" rIns="0"/>
            <a:lstStyle/>
            <a:p>
              <a:pPr algn="ctr">
                <a:lnSpc>
                  <a:spcPts val="3080"/>
                </a:lnSpc>
              </a:pPr>
              <a:r>
                <a:rPr lang="en-US" sz="2702" b="true">
                  <a:solidFill>
                    <a:srgbClr val="122B40"/>
                  </a:solidFill>
                  <a:latin typeface="Aptos Bold"/>
                  <a:ea typeface="Aptos Bold"/>
                  <a:cs typeface="Aptos Bold"/>
                  <a:sym typeface="Aptos Bold"/>
                </a:rPr>
                <a:t>“The experience may be simple. The architecture is not.”</a:t>
              </a:r>
            </a:p>
          </p:txBody>
        </p:sp>
      </p:grpSp>
      <p:sp>
        <p:nvSpPr>
          <p:cNvPr name="AutoShape 30" id="30"/>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31" id="31"/>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Personal AI scenario</a:t>
            </a:r>
          </a:p>
        </p:txBody>
      </p:sp>
      <p:sp>
        <p:nvSpPr>
          <p:cNvPr name="TextBox 32" id="32"/>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arch.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HEALTHCARE PARALLEL</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A healthcare AI request is rarely one task</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A single goal may cross clinical, operational, financial, and patient-support systems.</a:t>
            </a:r>
          </a:p>
        </p:txBody>
      </p:sp>
      <p:grpSp>
        <p:nvGrpSpPr>
          <p:cNvPr name="Group 7" id="7"/>
          <p:cNvGrpSpPr/>
          <p:nvPr/>
        </p:nvGrpSpPr>
        <p:grpSpPr>
          <a:xfrm rot="0">
            <a:off x="1117968" y="3012253"/>
            <a:ext cx="9280789" cy="1113387"/>
            <a:chOff x="0" y="0"/>
            <a:chExt cx="12374385" cy="1484516"/>
          </a:xfrm>
        </p:grpSpPr>
        <p:sp>
          <p:nvSpPr>
            <p:cNvPr name="Freeform 8" id="8"/>
            <p:cNvSpPr/>
            <p:nvPr/>
          </p:nvSpPr>
          <p:spPr>
            <a:xfrm flipH="false" flipV="false" rot="0">
              <a:off x="0" y="0"/>
              <a:ext cx="12374372" cy="1484503"/>
            </a:xfrm>
            <a:custGeom>
              <a:avLst/>
              <a:gdLst/>
              <a:ahLst/>
              <a:cxnLst/>
              <a:rect r="r" b="b" t="t" l="l"/>
              <a:pathLst>
                <a:path h="1484503" w="12374372">
                  <a:moveTo>
                    <a:pt x="0" y="148463"/>
                  </a:moveTo>
                  <a:cubicBezTo>
                    <a:pt x="0" y="66421"/>
                    <a:pt x="66421" y="0"/>
                    <a:pt x="148463" y="0"/>
                  </a:cubicBezTo>
                  <a:lnTo>
                    <a:pt x="12225909" y="0"/>
                  </a:lnTo>
                  <a:cubicBezTo>
                    <a:pt x="12307951" y="0"/>
                    <a:pt x="12374372" y="66421"/>
                    <a:pt x="12374372" y="148463"/>
                  </a:cubicBezTo>
                  <a:lnTo>
                    <a:pt x="12374372" y="1336040"/>
                  </a:lnTo>
                  <a:cubicBezTo>
                    <a:pt x="12374372" y="1418082"/>
                    <a:pt x="12307951" y="1484503"/>
                    <a:pt x="12225909" y="1484503"/>
                  </a:cubicBezTo>
                  <a:lnTo>
                    <a:pt x="148463" y="1484503"/>
                  </a:lnTo>
                  <a:cubicBezTo>
                    <a:pt x="66421" y="1484503"/>
                    <a:pt x="0" y="1418082"/>
                    <a:pt x="0" y="1336040"/>
                  </a:cubicBezTo>
                  <a:close/>
                </a:path>
              </a:pathLst>
            </a:custGeom>
            <a:solidFill>
              <a:srgbClr val="FFFFFF">
                <a:alpha val="80784"/>
              </a:srgbClr>
            </a:solidFill>
            <a:ln w="15252" cap="sq">
              <a:solidFill>
                <a:srgbClr val="CDA349"/>
              </a:solidFill>
              <a:prstDash val="solid"/>
              <a:miter/>
            </a:ln>
          </p:spPr>
        </p:sp>
      </p:grpSp>
      <p:grpSp>
        <p:nvGrpSpPr>
          <p:cNvPr name="Group 9" id="9"/>
          <p:cNvGrpSpPr/>
          <p:nvPr/>
        </p:nvGrpSpPr>
        <p:grpSpPr>
          <a:xfrm rot="0">
            <a:off x="1509941" y="3321863"/>
            <a:ext cx="8496843" cy="521618"/>
            <a:chOff x="0" y="0"/>
            <a:chExt cx="11329124" cy="695490"/>
          </a:xfrm>
        </p:grpSpPr>
        <p:sp>
          <p:nvSpPr>
            <p:cNvPr name="Freeform 10" id="10"/>
            <p:cNvSpPr/>
            <p:nvPr/>
          </p:nvSpPr>
          <p:spPr>
            <a:xfrm flipH="false" flipV="false" rot="0">
              <a:off x="0" y="0"/>
              <a:ext cx="11329123" cy="695487"/>
            </a:xfrm>
            <a:custGeom>
              <a:avLst/>
              <a:gdLst/>
              <a:ahLst/>
              <a:cxnLst/>
              <a:rect r="r" b="b" t="t" l="l"/>
              <a:pathLst>
                <a:path h="695487" w="11329123">
                  <a:moveTo>
                    <a:pt x="0" y="0"/>
                  </a:moveTo>
                  <a:lnTo>
                    <a:pt x="11329123" y="0"/>
                  </a:lnTo>
                  <a:lnTo>
                    <a:pt x="11329123" y="695487"/>
                  </a:lnTo>
                  <a:lnTo>
                    <a:pt x="0" y="695487"/>
                  </a:lnTo>
                  <a:close/>
                </a:path>
              </a:pathLst>
            </a:custGeom>
            <a:blipFill>
              <a:blip r:embed="rId4">
                <a:alphaModFix amt="0"/>
              </a:blip>
              <a:stretch>
                <a:fillRect l="0" t="-267400" r="0" b="-267401"/>
              </a:stretch>
            </a:blipFill>
          </p:spPr>
        </p:sp>
        <p:sp>
          <p:nvSpPr>
            <p:cNvPr name="TextBox 11" id="11"/>
            <p:cNvSpPr txBox="true"/>
            <p:nvPr/>
          </p:nvSpPr>
          <p:spPr>
            <a:xfrm>
              <a:off x="0" y="19050"/>
              <a:ext cx="11329124" cy="676440"/>
            </a:xfrm>
            <a:prstGeom prst="rect">
              <a:avLst/>
            </a:prstGeom>
          </p:spPr>
          <p:txBody>
            <a:bodyPr anchor="ctr" rtlCol="false" tIns="0" lIns="0" bIns="0" rIns="0"/>
            <a:lstStyle/>
            <a:p>
              <a:pPr algn="ctr">
                <a:lnSpc>
                  <a:spcPts val="3593"/>
                </a:lnSpc>
              </a:pPr>
              <a:r>
                <a:rPr lang="en-US" sz="3152" b="true">
                  <a:solidFill>
                    <a:srgbClr val="122B40"/>
                  </a:solidFill>
                  <a:latin typeface="Aptos Bold"/>
                  <a:ea typeface="Aptos Bold"/>
                  <a:cs typeface="Aptos Bold"/>
                  <a:sym typeface="Aptos Bold"/>
                </a:rPr>
                <a:t>“Help this patient start therapy safely and on time.”</a:t>
              </a:r>
            </a:p>
          </p:txBody>
        </p:sp>
      </p:grpSp>
      <p:grpSp>
        <p:nvGrpSpPr>
          <p:cNvPr name="Group 12" id="12"/>
          <p:cNvGrpSpPr/>
          <p:nvPr/>
        </p:nvGrpSpPr>
        <p:grpSpPr>
          <a:xfrm rot="0">
            <a:off x="1372676" y="4584725"/>
            <a:ext cx="8579206" cy="2813980"/>
            <a:chOff x="0" y="0"/>
            <a:chExt cx="11438941" cy="3751974"/>
          </a:xfrm>
        </p:grpSpPr>
        <p:sp>
          <p:nvSpPr>
            <p:cNvPr name="Freeform 13" id="13"/>
            <p:cNvSpPr/>
            <p:nvPr/>
          </p:nvSpPr>
          <p:spPr>
            <a:xfrm flipH="false" flipV="false" rot="0">
              <a:off x="0" y="0"/>
              <a:ext cx="11438937" cy="3751971"/>
            </a:xfrm>
            <a:custGeom>
              <a:avLst/>
              <a:gdLst/>
              <a:ahLst/>
              <a:cxnLst/>
              <a:rect r="r" b="b" t="t" l="l"/>
              <a:pathLst>
                <a:path h="3751971" w="11438937">
                  <a:moveTo>
                    <a:pt x="0" y="0"/>
                  </a:moveTo>
                  <a:lnTo>
                    <a:pt x="11438937" y="0"/>
                  </a:lnTo>
                  <a:lnTo>
                    <a:pt x="11438937" y="3751971"/>
                  </a:lnTo>
                  <a:lnTo>
                    <a:pt x="0" y="3751971"/>
                  </a:lnTo>
                  <a:close/>
                </a:path>
              </a:pathLst>
            </a:custGeom>
            <a:blipFill>
              <a:blip r:embed="rId4">
                <a:alphaModFix amt="0"/>
              </a:blip>
              <a:stretch>
                <a:fillRect l="0" t="-9405" r="0" b="-9405"/>
              </a:stretch>
            </a:blipFill>
          </p:spPr>
        </p:sp>
        <p:sp>
          <p:nvSpPr>
            <p:cNvPr name="TextBox 14" id="14"/>
            <p:cNvSpPr txBox="true"/>
            <p:nvPr/>
          </p:nvSpPr>
          <p:spPr>
            <a:xfrm>
              <a:off x="0" y="0"/>
              <a:ext cx="11438941" cy="3751974"/>
            </a:xfrm>
            <a:prstGeom prst="rect">
              <a:avLst/>
            </a:prstGeom>
          </p:spPr>
          <p:txBody>
            <a:bodyPr anchor="ctr" rtlCol="false" tIns="0" lIns="0" bIns="0" rIns="0"/>
            <a:lstStyle/>
            <a:p>
              <a:pPr algn="l">
                <a:lnSpc>
                  <a:spcPts val="2485"/>
                </a:lnSpc>
              </a:pPr>
              <a:r>
                <a:rPr lang="en-US" sz="2071">
                  <a:solidFill>
                    <a:srgbClr val="233A47"/>
                  </a:solidFill>
                  <a:latin typeface="Aptos"/>
                  <a:ea typeface="Aptos"/>
                  <a:cs typeface="Aptos"/>
                  <a:sym typeface="Aptos"/>
                </a:rPr>
                <a:t>Clinical criteria and documentation</a:t>
              </a:r>
            </a:p>
            <a:p>
              <a:pPr algn="l">
                <a:lnSpc>
                  <a:spcPts val="2485"/>
                </a:lnSpc>
              </a:pPr>
              <a:r>
                <a:rPr lang="en-US" sz="2071">
                  <a:solidFill>
                    <a:srgbClr val="233A47"/>
                  </a:solidFill>
                  <a:latin typeface="Aptos"/>
                  <a:ea typeface="Aptos"/>
                  <a:cs typeface="Aptos"/>
                  <a:sym typeface="Aptos"/>
                </a:rPr>
                <a:t>Benefit coverage and prior authorization</a:t>
              </a:r>
            </a:p>
            <a:p>
              <a:pPr algn="l">
                <a:lnSpc>
                  <a:spcPts val="2485"/>
                </a:lnSpc>
              </a:pPr>
              <a:r>
                <a:rPr lang="en-US" sz="2071">
                  <a:solidFill>
                    <a:srgbClr val="233A47"/>
                  </a:solidFill>
                  <a:latin typeface="Aptos"/>
                  <a:ea typeface="Aptos"/>
                  <a:cs typeface="Aptos"/>
                  <a:sym typeface="Aptos"/>
                </a:rPr>
                <a:t>Lab and safety monitoring</a:t>
              </a:r>
            </a:p>
            <a:p>
              <a:pPr algn="l">
                <a:lnSpc>
                  <a:spcPts val="2485"/>
                </a:lnSpc>
              </a:pPr>
              <a:r>
                <a:rPr lang="en-US" sz="2071">
                  <a:solidFill>
                    <a:srgbClr val="233A47"/>
                  </a:solidFill>
                  <a:latin typeface="Aptos"/>
                  <a:ea typeface="Aptos"/>
                  <a:cs typeface="Aptos"/>
                  <a:sym typeface="Aptos"/>
                </a:rPr>
                <a:t>Patient education and adherence support</a:t>
              </a:r>
            </a:p>
            <a:p>
              <a:pPr algn="l">
                <a:lnSpc>
                  <a:spcPts val="2485"/>
                </a:lnSpc>
              </a:pPr>
              <a:r>
                <a:rPr lang="en-US" sz="2071">
                  <a:solidFill>
                    <a:srgbClr val="233A47"/>
                  </a:solidFill>
                  <a:latin typeface="Aptos"/>
                  <a:ea typeface="Aptos"/>
                  <a:cs typeface="Aptos"/>
                  <a:sym typeface="Aptos"/>
                </a:rPr>
                <a:t>Scheduling, pharmacy, and follow-up</a:t>
              </a:r>
            </a:p>
          </p:txBody>
        </p:sp>
      </p:grpSp>
      <p:sp>
        <p:nvSpPr>
          <p:cNvPr name="TextBox 15" id="15"/>
          <p:cNvSpPr txBox="true"/>
          <p:nvPr/>
        </p:nvSpPr>
        <p:spPr>
          <a:xfrm rot="0">
            <a:off x="1345473" y="8190909"/>
            <a:ext cx="8853230" cy="429225"/>
          </a:xfrm>
          <a:prstGeom prst="rect">
            <a:avLst/>
          </a:prstGeom>
        </p:spPr>
        <p:txBody>
          <a:bodyPr anchor="t" rtlCol="false" tIns="0" lIns="0" bIns="0" rIns="0">
            <a:spAutoFit/>
          </a:bodyPr>
          <a:lstStyle/>
          <a:p>
            <a:pPr algn="ctr">
              <a:lnSpc>
                <a:spcPts val="2293"/>
              </a:lnSpc>
            </a:pPr>
            <a:r>
              <a:rPr lang="en-US" sz="2011" b="true">
                <a:solidFill>
                  <a:srgbClr val="122B40"/>
                </a:solidFill>
                <a:latin typeface="Aptos Bold"/>
                <a:ea typeface="Aptos Bold"/>
                <a:cs typeface="Aptos Bold"/>
                <a:sym typeface="Aptos Bold"/>
              </a:rPr>
              <a:t>Key question: what may the AI see, remember, decide, draft, send, or do?</a:t>
            </a:r>
          </a:p>
        </p:txBody>
      </p:sp>
      <p:sp>
        <p:nvSpPr>
          <p:cNvPr name="AutoShape 16" id="16"/>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17" id="17"/>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Healthcare parallel scenario</a:t>
            </a:r>
          </a:p>
        </p:txBody>
      </p:sp>
      <p:sp>
        <p:nvSpPr>
          <p:cNvPr name="TextBox 18" id="18"/>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boundaries.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KNOWLEDGE CHECK 1</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Which safeguard matters most?</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A healthcare AI coordinates follow-up across scheduling, pharmacy, and insurance systems.</a:t>
            </a:r>
          </a:p>
        </p:txBody>
      </p:sp>
      <p:sp>
        <p:nvSpPr>
          <p:cNvPr name="TextBox 7" id="7"/>
          <p:cNvSpPr txBox="true"/>
          <p:nvPr/>
        </p:nvSpPr>
        <p:spPr>
          <a:xfrm rot="0">
            <a:off x="1125845" y="3066640"/>
            <a:ext cx="9470936" cy="460877"/>
          </a:xfrm>
          <a:prstGeom prst="rect">
            <a:avLst/>
          </a:prstGeom>
        </p:spPr>
        <p:txBody>
          <a:bodyPr anchor="t" rtlCol="false" tIns="0" lIns="0" bIns="0" rIns="0">
            <a:spAutoFit/>
          </a:bodyPr>
          <a:lstStyle/>
          <a:p>
            <a:pPr algn="l">
              <a:lnSpc>
                <a:spcPts val="3080"/>
              </a:lnSpc>
            </a:pPr>
            <a:r>
              <a:rPr lang="en-US" sz="2702" b="true">
                <a:solidFill>
                  <a:srgbClr val="122B40"/>
                </a:solidFill>
                <a:latin typeface="Aptos Bold"/>
                <a:ea typeface="Aptos Bold"/>
                <a:cs typeface="Aptos Bold"/>
                <a:sym typeface="Aptos Bold"/>
              </a:rPr>
              <a:t>What is the most important architectural safeguard?</a:t>
            </a:r>
          </a:p>
        </p:txBody>
      </p:sp>
      <p:grpSp>
        <p:nvGrpSpPr>
          <p:cNvPr name="Group 8" id="8"/>
          <p:cNvGrpSpPr/>
          <p:nvPr/>
        </p:nvGrpSpPr>
        <p:grpSpPr>
          <a:xfrm rot="0">
            <a:off x="1227782" y="3904488"/>
            <a:ext cx="9239612" cy="701592"/>
            <a:chOff x="0" y="0"/>
            <a:chExt cx="12319483" cy="935457"/>
          </a:xfrm>
        </p:grpSpPr>
        <p:sp>
          <p:nvSpPr>
            <p:cNvPr name="Freeform 9" id="9"/>
            <p:cNvSpPr/>
            <p:nvPr/>
          </p:nvSpPr>
          <p:spPr>
            <a:xfrm flipH="false" flipV="false" rot="0">
              <a:off x="0" y="0"/>
              <a:ext cx="12319508" cy="935482"/>
            </a:xfrm>
            <a:custGeom>
              <a:avLst/>
              <a:gdLst/>
              <a:ahLst/>
              <a:cxnLst/>
              <a:rect r="r" b="b" t="t" l="l"/>
              <a:pathLst>
                <a:path h="935482" w="12319508">
                  <a:moveTo>
                    <a:pt x="0" y="149733"/>
                  </a:moveTo>
                  <a:cubicBezTo>
                    <a:pt x="0" y="67056"/>
                    <a:pt x="67056" y="0"/>
                    <a:pt x="149733" y="0"/>
                  </a:cubicBezTo>
                  <a:lnTo>
                    <a:pt x="12169775" y="0"/>
                  </a:lnTo>
                  <a:cubicBezTo>
                    <a:pt x="12252452" y="0"/>
                    <a:pt x="12319508" y="67056"/>
                    <a:pt x="12319508" y="149733"/>
                  </a:cubicBezTo>
                  <a:lnTo>
                    <a:pt x="12319508" y="785749"/>
                  </a:lnTo>
                  <a:cubicBezTo>
                    <a:pt x="12319508" y="868426"/>
                    <a:pt x="12252452" y="935482"/>
                    <a:pt x="12169775" y="935482"/>
                  </a:cubicBezTo>
                  <a:lnTo>
                    <a:pt x="149733" y="935482"/>
                  </a:lnTo>
                  <a:cubicBezTo>
                    <a:pt x="67056" y="935482"/>
                    <a:pt x="0" y="868426"/>
                    <a:pt x="0" y="785749"/>
                  </a:cubicBezTo>
                  <a:close/>
                </a:path>
              </a:pathLst>
            </a:custGeom>
            <a:solidFill>
              <a:srgbClr val="FFFFFF">
                <a:alpha val="80784"/>
              </a:srgbClr>
            </a:solidFill>
            <a:ln w="15252" cap="sq">
              <a:solidFill>
                <a:srgbClr val="EEE3CD"/>
              </a:solidFill>
              <a:prstDash val="solid"/>
              <a:miter/>
            </a:ln>
          </p:spPr>
        </p:sp>
      </p:grpSp>
      <p:sp>
        <p:nvSpPr>
          <p:cNvPr name="TextBox 10" id="10"/>
          <p:cNvSpPr txBox="true"/>
          <p:nvPr/>
        </p:nvSpPr>
        <p:spPr>
          <a:xfrm rot="0">
            <a:off x="1510198" y="4100341"/>
            <a:ext cx="8578691" cy="291951"/>
          </a:xfrm>
          <a:prstGeom prst="rect">
            <a:avLst/>
          </a:prstGeom>
        </p:spPr>
        <p:txBody>
          <a:bodyPr anchor="t" rtlCol="false" tIns="0" lIns="0" bIns="0" rIns="0">
            <a:spAutoFit/>
          </a:bodyPr>
          <a:lstStyle/>
          <a:p>
            <a:pPr algn="l">
              <a:lnSpc>
                <a:spcPts val="2139"/>
              </a:lnSpc>
            </a:pPr>
            <a:r>
              <a:rPr lang="en-US" sz="1876">
                <a:solidFill>
                  <a:srgbClr val="122B40"/>
                </a:solidFill>
                <a:latin typeface="Aptos"/>
                <a:ea typeface="Aptos"/>
                <a:cs typeface="Aptos"/>
                <a:sym typeface="Aptos"/>
              </a:rPr>
              <a:t>A. Use the same AI model for every task</a:t>
            </a:r>
          </a:p>
        </p:txBody>
      </p:sp>
      <p:grpSp>
        <p:nvGrpSpPr>
          <p:cNvPr name="Group 11" id="11"/>
          <p:cNvGrpSpPr/>
          <p:nvPr/>
        </p:nvGrpSpPr>
        <p:grpSpPr>
          <a:xfrm rot="0">
            <a:off x="1227782" y="4755547"/>
            <a:ext cx="9239612" cy="701592"/>
            <a:chOff x="0" y="0"/>
            <a:chExt cx="12319483" cy="935457"/>
          </a:xfrm>
        </p:grpSpPr>
        <p:sp>
          <p:nvSpPr>
            <p:cNvPr name="Freeform 12" id="12"/>
            <p:cNvSpPr/>
            <p:nvPr/>
          </p:nvSpPr>
          <p:spPr>
            <a:xfrm flipH="false" flipV="false" rot="0">
              <a:off x="0" y="0"/>
              <a:ext cx="12319508" cy="935482"/>
            </a:xfrm>
            <a:custGeom>
              <a:avLst/>
              <a:gdLst/>
              <a:ahLst/>
              <a:cxnLst/>
              <a:rect r="r" b="b" t="t" l="l"/>
              <a:pathLst>
                <a:path h="935482" w="12319508">
                  <a:moveTo>
                    <a:pt x="0" y="149733"/>
                  </a:moveTo>
                  <a:cubicBezTo>
                    <a:pt x="0" y="67056"/>
                    <a:pt x="67056" y="0"/>
                    <a:pt x="149733" y="0"/>
                  </a:cubicBezTo>
                  <a:lnTo>
                    <a:pt x="12169775" y="0"/>
                  </a:lnTo>
                  <a:cubicBezTo>
                    <a:pt x="12252452" y="0"/>
                    <a:pt x="12319508" y="67056"/>
                    <a:pt x="12319508" y="149733"/>
                  </a:cubicBezTo>
                  <a:lnTo>
                    <a:pt x="12319508" y="785749"/>
                  </a:lnTo>
                  <a:cubicBezTo>
                    <a:pt x="12319508" y="868426"/>
                    <a:pt x="12252452" y="935482"/>
                    <a:pt x="12169775" y="935482"/>
                  </a:cubicBezTo>
                  <a:lnTo>
                    <a:pt x="149733" y="935482"/>
                  </a:lnTo>
                  <a:cubicBezTo>
                    <a:pt x="67056" y="935482"/>
                    <a:pt x="0" y="868426"/>
                    <a:pt x="0" y="785749"/>
                  </a:cubicBezTo>
                  <a:close/>
                </a:path>
              </a:pathLst>
            </a:custGeom>
            <a:solidFill>
              <a:srgbClr val="FFFFFF">
                <a:alpha val="80784"/>
              </a:srgbClr>
            </a:solidFill>
            <a:ln w="15252" cap="sq">
              <a:solidFill>
                <a:srgbClr val="EEE3CD"/>
              </a:solidFill>
              <a:prstDash val="solid"/>
              <a:miter/>
            </a:ln>
          </p:spPr>
        </p:sp>
      </p:grpSp>
      <p:sp>
        <p:nvSpPr>
          <p:cNvPr name="TextBox 13" id="13"/>
          <p:cNvSpPr txBox="true"/>
          <p:nvPr/>
        </p:nvSpPr>
        <p:spPr>
          <a:xfrm rot="0">
            <a:off x="1510198" y="4951400"/>
            <a:ext cx="8578691" cy="291951"/>
          </a:xfrm>
          <a:prstGeom prst="rect">
            <a:avLst/>
          </a:prstGeom>
        </p:spPr>
        <p:txBody>
          <a:bodyPr anchor="t" rtlCol="false" tIns="0" lIns="0" bIns="0" rIns="0">
            <a:spAutoFit/>
          </a:bodyPr>
          <a:lstStyle/>
          <a:p>
            <a:pPr algn="l">
              <a:lnSpc>
                <a:spcPts val="2139"/>
              </a:lnSpc>
            </a:pPr>
            <a:r>
              <a:rPr lang="en-US" sz="1876">
                <a:solidFill>
                  <a:srgbClr val="122B40"/>
                </a:solidFill>
                <a:latin typeface="Aptos"/>
                <a:ea typeface="Aptos"/>
                <a:cs typeface="Aptos"/>
                <a:sym typeface="Aptos"/>
              </a:rPr>
              <a:t>B. Allow all systems to access the complete patient record</a:t>
            </a:r>
          </a:p>
        </p:txBody>
      </p:sp>
      <p:grpSp>
        <p:nvGrpSpPr>
          <p:cNvPr name="Group 14" id="14"/>
          <p:cNvGrpSpPr/>
          <p:nvPr/>
        </p:nvGrpSpPr>
        <p:grpSpPr>
          <a:xfrm rot="0">
            <a:off x="1227782" y="5606606"/>
            <a:ext cx="9239612" cy="701592"/>
            <a:chOff x="0" y="0"/>
            <a:chExt cx="12319483" cy="935457"/>
          </a:xfrm>
        </p:grpSpPr>
        <p:sp>
          <p:nvSpPr>
            <p:cNvPr name="Freeform 15" id="15"/>
            <p:cNvSpPr/>
            <p:nvPr/>
          </p:nvSpPr>
          <p:spPr>
            <a:xfrm flipH="false" flipV="false" rot="0">
              <a:off x="0" y="0"/>
              <a:ext cx="12319508" cy="935482"/>
            </a:xfrm>
            <a:custGeom>
              <a:avLst/>
              <a:gdLst/>
              <a:ahLst/>
              <a:cxnLst/>
              <a:rect r="r" b="b" t="t" l="l"/>
              <a:pathLst>
                <a:path h="935482" w="12319508">
                  <a:moveTo>
                    <a:pt x="0" y="149733"/>
                  </a:moveTo>
                  <a:cubicBezTo>
                    <a:pt x="0" y="67056"/>
                    <a:pt x="67056" y="0"/>
                    <a:pt x="149733" y="0"/>
                  </a:cubicBezTo>
                  <a:lnTo>
                    <a:pt x="12169775" y="0"/>
                  </a:lnTo>
                  <a:cubicBezTo>
                    <a:pt x="12252452" y="0"/>
                    <a:pt x="12319508" y="67056"/>
                    <a:pt x="12319508" y="149733"/>
                  </a:cubicBezTo>
                  <a:lnTo>
                    <a:pt x="12319508" y="785749"/>
                  </a:lnTo>
                  <a:cubicBezTo>
                    <a:pt x="12319508" y="868426"/>
                    <a:pt x="12252452" y="935482"/>
                    <a:pt x="12169775" y="935482"/>
                  </a:cubicBezTo>
                  <a:lnTo>
                    <a:pt x="149733" y="935482"/>
                  </a:lnTo>
                  <a:cubicBezTo>
                    <a:pt x="67056" y="935482"/>
                    <a:pt x="0" y="868426"/>
                    <a:pt x="0" y="785749"/>
                  </a:cubicBezTo>
                  <a:close/>
                </a:path>
              </a:pathLst>
            </a:custGeom>
            <a:solidFill>
              <a:srgbClr val="FFFFFF">
                <a:alpha val="80784"/>
              </a:srgbClr>
            </a:solidFill>
            <a:ln w="15252" cap="sq">
              <a:solidFill>
                <a:srgbClr val="EEE3CD"/>
              </a:solidFill>
              <a:prstDash val="solid"/>
              <a:miter/>
            </a:ln>
          </p:spPr>
        </p:sp>
      </p:grpSp>
      <p:sp>
        <p:nvSpPr>
          <p:cNvPr name="TextBox 16" id="16"/>
          <p:cNvSpPr txBox="true"/>
          <p:nvPr/>
        </p:nvSpPr>
        <p:spPr>
          <a:xfrm rot="0">
            <a:off x="1510198" y="5802459"/>
            <a:ext cx="8578691" cy="291951"/>
          </a:xfrm>
          <a:prstGeom prst="rect">
            <a:avLst/>
          </a:prstGeom>
        </p:spPr>
        <p:txBody>
          <a:bodyPr anchor="t" rtlCol="false" tIns="0" lIns="0" bIns="0" rIns="0">
            <a:spAutoFit/>
          </a:bodyPr>
          <a:lstStyle/>
          <a:p>
            <a:pPr algn="l">
              <a:lnSpc>
                <a:spcPts val="2139"/>
              </a:lnSpc>
            </a:pPr>
            <a:r>
              <a:rPr lang="en-US" sz="1876" b="true">
                <a:solidFill>
                  <a:srgbClr val="122B40"/>
                </a:solidFill>
                <a:latin typeface="Aptos Bold"/>
                <a:ea typeface="Aptos Bold"/>
                <a:cs typeface="Aptos Bold"/>
                <a:sym typeface="Aptos Bold"/>
              </a:rPr>
              <a:t>C. Limit each capability to the identity, context, and authority needed for its task</a:t>
            </a:r>
          </a:p>
        </p:txBody>
      </p:sp>
      <p:grpSp>
        <p:nvGrpSpPr>
          <p:cNvPr name="Group 17" id="17"/>
          <p:cNvGrpSpPr/>
          <p:nvPr/>
        </p:nvGrpSpPr>
        <p:grpSpPr>
          <a:xfrm rot="0">
            <a:off x="1227782" y="6457664"/>
            <a:ext cx="9239612" cy="701592"/>
            <a:chOff x="0" y="0"/>
            <a:chExt cx="12319483" cy="935457"/>
          </a:xfrm>
        </p:grpSpPr>
        <p:sp>
          <p:nvSpPr>
            <p:cNvPr name="Freeform 18" id="18"/>
            <p:cNvSpPr/>
            <p:nvPr/>
          </p:nvSpPr>
          <p:spPr>
            <a:xfrm flipH="false" flipV="false" rot="0">
              <a:off x="0" y="0"/>
              <a:ext cx="12319508" cy="935482"/>
            </a:xfrm>
            <a:custGeom>
              <a:avLst/>
              <a:gdLst/>
              <a:ahLst/>
              <a:cxnLst/>
              <a:rect r="r" b="b" t="t" l="l"/>
              <a:pathLst>
                <a:path h="935482" w="12319508">
                  <a:moveTo>
                    <a:pt x="0" y="149733"/>
                  </a:moveTo>
                  <a:cubicBezTo>
                    <a:pt x="0" y="67056"/>
                    <a:pt x="67056" y="0"/>
                    <a:pt x="149733" y="0"/>
                  </a:cubicBezTo>
                  <a:lnTo>
                    <a:pt x="12169775" y="0"/>
                  </a:lnTo>
                  <a:cubicBezTo>
                    <a:pt x="12252452" y="0"/>
                    <a:pt x="12319508" y="67056"/>
                    <a:pt x="12319508" y="149733"/>
                  </a:cubicBezTo>
                  <a:lnTo>
                    <a:pt x="12319508" y="785749"/>
                  </a:lnTo>
                  <a:cubicBezTo>
                    <a:pt x="12319508" y="868426"/>
                    <a:pt x="12252452" y="935482"/>
                    <a:pt x="12169775" y="935482"/>
                  </a:cubicBezTo>
                  <a:lnTo>
                    <a:pt x="149733" y="935482"/>
                  </a:lnTo>
                  <a:cubicBezTo>
                    <a:pt x="67056" y="935482"/>
                    <a:pt x="0" y="868426"/>
                    <a:pt x="0" y="785749"/>
                  </a:cubicBezTo>
                  <a:close/>
                </a:path>
              </a:pathLst>
            </a:custGeom>
            <a:solidFill>
              <a:srgbClr val="FFFFFF">
                <a:alpha val="80784"/>
              </a:srgbClr>
            </a:solidFill>
            <a:ln w="15252" cap="sq">
              <a:solidFill>
                <a:srgbClr val="EEE3CD"/>
              </a:solidFill>
              <a:prstDash val="solid"/>
              <a:miter/>
            </a:ln>
          </p:spPr>
        </p:sp>
      </p:grpSp>
      <p:sp>
        <p:nvSpPr>
          <p:cNvPr name="TextBox 19" id="19"/>
          <p:cNvSpPr txBox="true"/>
          <p:nvPr/>
        </p:nvSpPr>
        <p:spPr>
          <a:xfrm rot="0">
            <a:off x="1510198" y="6653517"/>
            <a:ext cx="8578691" cy="291951"/>
          </a:xfrm>
          <a:prstGeom prst="rect">
            <a:avLst/>
          </a:prstGeom>
        </p:spPr>
        <p:txBody>
          <a:bodyPr anchor="t" rtlCol="false" tIns="0" lIns="0" bIns="0" rIns="0">
            <a:spAutoFit/>
          </a:bodyPr>
          <a:lstStyle/>
          <a:p>
            <a:pPr algn="l">
              <a:lnSpc>
                <a:spcPts val="2139"/>
              </a:lnSpc>
            </a:pPr>
            <a:r>
              <a:rPr lang="en-US" sz="1876">
                <a:solidFill>
                  <a:srgbClr val="122B40"/>
                </a:solidFill>
                <a:latin typeface="Aptos"/>
                <a:ea typeface="Aptos"/>
                <a:cs typeface="Aptos"/>
                <a:sym typeface="Aptos"/>
              </a:rPr>
              <a:t>D. Remove human review to improve efficiency</a:t>
            </a:r>
          </a:p>
        </p:txBody>
      </p:sp>
      <p:sp>
        <p:nvSpPr>
          <p:cNvPr name="AutoShape 20" id="20"/>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21" id="21"/>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Knowledge check 1</a:t>
            </a:r>
          </a:p>
        </p:txBody>
      </p:sp>
      <p:sp>
        <p:nvSpPr>
          <p:cNvPr name="TextBox 22" id="22"/>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boundaries.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ANSWER + EXPLANATION</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Correct answer: C</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Limit each capability to the identity, context, and authority needed for its task.</a:t>
            </a:r>
          </a:p>
        </p:txBody>
      </p:sp>
      <p:grpSp>
        <p:nvGrpSpPr>
          <p:cNvPr name="Group 7" id="7"/>
          <p:cNvGrpSpPr/>
          <p:nvPr/>
        </p:nvGrpSpPr>
        <p:grpSpPr>
          <a:xfrm rot="0">
            <a:off x="1117968" y="3122066"/>
            <a:ext cx="9623955" cy="1113387"/>
            <a:chOff x="0" y="0"/>
            <a:chExt cx="12831940" cy="1484516"/>
          </a:xfrm>
        </p:grpSpPr>
        <p:sp>
          <p:nvSpPr>
            <p:cNvPr name="Freeform 8" id="8"/>
            <p:cNvSpPr/>
            <p:nvPr/>
          </p:nvSpPr>
          <p:spPr>
            <a:xfrm flipH="false" flipV="false" rot="0">
              <a:off x="0" y="0"/>
              <a:ext cx="12831953" cy="1484503"/>
            </a:xfrm>
            <a:custGeom>
              <a:avLst/>
              <a:gdLst/>
              <a:ahLst/>
              <a:cxnLst/>
              <a:rect r="r" b="b" t="t" l="l"/>
              <a:pathLst>
                <a:path h="1484503" w="12831953">
                  <a:moveTo>
                    <a:pt x="0" y="148463"/>
                  </a:moveTo>
                  <a:cubicBezTo>
                    <a:pt x="0" y="66421"/>
                    <a:pt x="66421" y="0"/>
                    <a:pt x="148463" y="0"/>
                  </a:cubicBezTo>
                  <a:lnTo>
                    <a:pt x="12683490" y="0"/>
                  </a:lnTo>
                  <a:cubicBezTo>
                    <a:pt x="12765532" y="0"/>
                    <a:pt x="12831953" y="66421"/>
                    <a:pt x="12831953" y="148463"/>
                  </a:cubicBezTo>
                  <a:lnTo>
                    <a:pt x="12831953" y="1336040"/>
                  </a:lnTo>
                  <a:cubicBezTo>
                    <a:pt x="12831953" y="1418082"/>
                    <a:pt x="12765532" y="1484503"/>
                    <a:pt x="12683490" y="1484503"/>
                  </a:cubicBezTo>
                  <a:lnTo>
                    <a:pt x="148463" y="1484503"/>
                  </a:lnTo>
                  <a:cubicBezTo>
                    <a:pt x="66421" y="1484503"/>
                    <a:pt x="0" y="1418082"/>
                    <a:pt x="0" y="1336040"/>
                  </a:cubicBezTo>
                  <a:close/>
                </a:path>
              </a:pathLst>
            </a:custGeom>
            <a:solidFill>
              <a:srgbClr val="FFFFFF">
                <a:alpha val="80784"/>
              </a:srgbClr>
            </a:solidFill>
            <a:ln w="15252" cap="sq">
              <a:solidFill>
                <a:srgbClr val="CDA349"/>
              </a:solidFill>
              <a:prstDash val="solid"/>
              <a:miter/>
            </a:ln>
          </p:spPr>
        </p:sp>
      </p:grpSp>
      <p:grpSp>
        <p:nvGrpSpPr>
          <p:cNvPr name="Group 9" id="9"/>
          <p:cNvGrpSpPr/>
          <p:nvPr/>
        </p:nvGrpSpPr>
        <p:grpSpPr>
          <a:xfrm rot="0">
            <a:off x="1509941" y="3431677"/>
            <a:ext cx="8840010" cy="521618"/>
            <a:chOff x="0" y="0"/>
            <a:chExt cx="11786680" cy="695490"/>
          </a:xfrm>
        </p:grpSpPr>
        <p:sp>
          <p:nvSpPr>
            <p:cNvPr name="Freeform 10" id="10"/>
            <p:cNvSpPr/>
            <p:nvPr/>
          </p:nvSpPr>
          <p:spPr>
            <a:xfrm flipH="false" flipV="false" rot="0">
              <a:off x="0" y="0"/>
              <a:ext cx="11786681" cy="695487"/>
            </a:xfrm>
            <a:custGeom>
              <a:avLst/>
              <a:gdLst/>
              <a:ahLst/>
              <a:cxnLst/>
              <a:rect r="r" b="b" t="t" l="l"/>
              <a:pathLst>
                <a:path h="695487" w="11786681">
                  <a:moveTo>
                    <a:pt x="0" y="0"/>
                  </a:moveTo>
                  <a:lnTo>
                    <a:pt x="11786681" y="0"/>
                  </a:lnTo>
                  <a:lnTo>
                    <a:pt x="11786681" y="695487"/>
                  </a:lnTo>
                  <a:lnTo>
                    <a:pt x="0" y="695487"/>
                  </a:lnTo>
                  <a:close/>
                </a:path>
              </a:pathLst>
            </a:custGeom>
            <a:blipFill>
              <a:blip r:embed="rId4">
                <a:alphaModFix amt="0"/>
              </a:blip>
              <a:stretch>
                <a:fillRect l="0" t="-280219" r="0" b="-280220"/>
              </a:stretch>
            </a:blipFill>
          </p:spPr>
        </p:sp>
        <p:sp>
          <p:nvSpPr>
            <p:cNvPr name="TextBox 11" id="11"/>
            <p:cNvSpPr txBox="true"/>
            <p:nvPr/>
          </p:nvSpPr>
          <p:spPr>
            <a:xfrm>
              <a:off x="0" y="19050"/>
              <a:ext cx="11786680" cy="676440"/>
            </a:xfrm>
            <a:prstGeom prst="rect">
              <a:avLst/>
            </a:prstGeom>
          </p:spPr>
          <p:txBody>
            <a:bodyPr anchor="ctr" rtlCol="false" tIns="0" lIns="0" bIns="0" rIns="0"/>
            <a:lstStyle/>
            <a:p>
              <a:pPr algn="ctr">
                <a:lnSpc>
                  <a:spcPts val="3422"/>
                </a:lnSpc>
              </a:pPr>
              <a:r>
                <a:rPr lang="en-US" sz="3002" b="true">
                  <a:solidFill>
                    <a:srgbClr val="122B40"/>
                  </a:solidFill>
                  <a:latin typeface="Aptos Bold"/>
                  <a:ea typeface="Aptos Bold"/>
                  <a:cs typeface="Aptos Bold"/>
                  <a:sym typeface="Aptos Bold"/>
                </a:rPr>
                <a:t>“A continuous experience should not mean unlimited access.”</a:t>
              </a:r>
            </a:p>
          </p:txBody>
        </p:sp>
      </p:grpSp>
      <p:grpSp>
        <p:nvGrpSpPr>
          <p:cNvPr name="Group 12" id="12"/>
          <p:cNvGrpSpPr/>
          <p:nvPr/>
        </p:nvGrpSpPr>
        <p:grpSpPr>
          <a:xfrm rot="0">
            <a:off x="1441304" y="4914167"/>
            <a:ext cx="8991000" cy="2333539"/>
            <a:chOff x="0" y="0"/>
            <a:chExt cx="11988000" cy="3111386"/>
          </a:xfrm>
        </p:grpSpPr>
        <p:sp>
          <p:nvSpPr>
            <p:cNvPr name="Freeform 13" id="13"/>
            <p:cNvSpPr/>
            <p:nvPr/>
          </p:nvSpPr>
          <p:spPr>
            <a:xfrm flipH="false" flipV="false" rot="0">
              <a:off x="0" y="0"/>
              <a:ext cx="11988005" cy="3111391"/>
            </a:xfrm>
            <a:custGeom>
              <a:avLst/>
              <a:gdLst/>
              <a:ahLst/>
              <a:cxnLst/>
              <a:rect r="r" b="b" t="t" l="l"/>
              <a:pathLst>
                <a:path h="3111391" w="11988005">
                  <a:moveTo>
                    <a:pt x="0" y="0"/>
                  </a:moveTo>
                  <a:lnTo>
                    <a:pt x="11988005" y="0"/>
                  </a:lnTo>
                  <a:lnTo>
                    <a:pt x="11988005" y="3111391"/>
                  </a:lnTo>
                  <a:lnTo>
                    <a:pt x="0" y="3111391"/>
                  </a:lnTo>
                  <a:close/>
                </a:path>
              </a:pathLst>
            </a:custGeom>
            <a:blipFill>
              <a:blip r:embed="rId4">
                <a:alphaModFix amt="0"/>
              </a:blip>
              <a:stretch>
                <a:fillRect l="0" t="-25074" r="0" b="-25074"/>
              </a:stretch>
            </a:blipFill>
          </p:spPr>
        </p:sp>
        <p:sp>
          <p:nvSpPr>
            <p:cNvPr name="TextBox 14" id="14"/>
            <p:cNvSpPr txBox="true"/>
            <p:nvPr/>
          </p:nvSpPr>
          <p:spPr>
            <a:xfrm>
              <a:off x="0" y="9525"/>
              <a:ext cx="11988000" cy="3101861"/>
            </a:xfrm>
            <a:prstGeom prst="rect">
              <a:avLst/>
            </a:prstGeom>
          </p:spPr>
          <p:txBody>
            <a:bodyPr anchor="ctr" rtlCol="false" tIns="0" lIns="0" bIns="0" rIns="0"/>
            <a:lstStyle/>
            <a:p>
              <a:pPr algn="l">
                <a:lnSpc>
                  <a:spcPts val="2557"/>
                </a:lnSpc>
              </a:pPr>
              <a:r>
                <a:rPr lang="en-US" sz="2131">
                  <a:solidFill>
                    <a:srgbClr val="233A47"/>
                  </a:solidFill>
                  <a:latin typeface="Aptos"/>
                  <a:ea typeface="Aptos"/>
                  <a:cs typeface="Aptos"/>
                  <a:sym typeface="Aptos"/>
                </a:rPr>
                <a:t>Use the minimum information needed for the task.</a:t>
              </a:r>
            </a:p>
            <a:p>
              <a:pPr algn="l">
                <a:lnSpc>
                  <a:spcPts val="2557"/>
                </a:lnSpc>
              </a:pPr>
              <a:r>
                <a:rPr lang="en-US" sz="2131">
                  <a:solidFill>
                    <a:srgbClr val="233A47"/>
                  </a:solidFill>
                  <a:latin typeface="Aptos"/>
                  <a:ea typeface="Aptos"/>
                  <a:cs typeface="Aptos"/>
                  <a:sym typeface="Aptos"/>
                </a:rPr>
                <a:t>Separate retrieval, drafting, communication, submission, and decision-making.</a:t>
              </a:r>
            </a:p>
            <a:p>
              <a:pPr algn="l">
                <a:lnSpc>
                  <a:spcPts val="2557"/>
                </a:lnSpc>
              </a:pPr>
              <a:r>
                <a:rPr lang="en-US" sz="2131">
                  <a:solidFill>
                    <a:srgbClr val="233A47"/>
                  </a:solidFill>
                  <a:latin typeface="Aptos"/>
                  <a:ea typeface="Aptos"/>
                  <a:cs typeface="Aptos"/>
                  <a:sym typeface="Aptos"/>
                </a:rPr>
                <a:t>Preserve human review where the action becomes consequential.</a:t>
              </a:r>
            </a:p>
          </p:txBody>
        </p:sp>
      </p:grpSp>
      <p:sp>
        <p:nvSpPr>
          <p:cNvPr name="TextBox 15" id="15"/>
          <p:cNvSpPr txBox="true"/>
          <p:nvPr/>
        </p:nvSpPr>
        <p:spPr>
          <a:xfrm rot="0">
            <a:off x="1304296" y="7912170"/>
            <a:ext cx="9402299" cy="474602"/>
          </a:xfrm>
          <a:prstGeom prst="rect">
            <a:avLst/>
          </a:prstGeom>
        </p:spPr>
        <p:txBody>
          <a:bodyPr anchor="t" rtlCol="false" tIns="0" lIns="0" bIns="0" rIns="0">
            <a:spAutoFit/>
          </a:bodyPr>
          <a:lstStyle/>
          <a:p>
            <a:pPr algn="ctr">
              <a:lnSpc>
                <a:spcPts val="2430"/>
              </a:lnSpc>
            </a:pPr>
            <a:r>
              <a:rPr lang="en-US" sz="2131" b="true">
                <a:solidFill>
                  <a:srgbClr val="122B40"/>
                </a:solidFill>
                <a:latin typeface="Aptos Bold"/>
                <a:ea typeface="Aptos Bold"/>
                <a:cs typeface="Aptos Bold"/>
                <a:sym typeface="Aptos Bold"/>
              </a:rPr>
              <a:t>Teaching point: continuity should reduce burden without collapsing permission boundaries.</a:t>
            </a:r>
          </a:p>
        </p:txBody>
      </p:sp>
      <p:sp>
        <p:nvSpPr>
          <p:cNvPr name="AutoShape 16" id="16"/>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17" id="17"/>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Knowledge check 1 answer</a:t>
            </a:r>
          </a:p>
        </p:txBody>
      </p:sp>
      <p:sp>
        <p:nvSpPr>
          <p:cNvPr name="TextBox 18" id="18"/>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sp>
        <p:nvSpPr>
          <p:cNvPr name="TextBox 2" id="2"/>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WHAT CHANGES WHEN AI COORDINATES WORK?</a:t>
            </a:r>
          </a:p>
        </p:txBody>
      </p:sp>
      <p:sp>
        <p:nvSpPr>
          <p:cNvPr name="TextBox 3" id="3"/>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AI actions exist at different levels of consequence</a:t>
            </a:r>
          </a:p>
        </p:txBody>
      </p:sp>
      <p:sp>
        <p:nvSpPr>
          <p:cNvPr name="TextBox 4" id="4"/>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Risk increases as AI moves from information toward action.</a:t>
            </a:r>
          </a:p>
        </p:txBody>
      </p:sp>
      <p:grpSp>
        <p:nvGrpSpPr>
          <p:cNvPr name="Group 5" id="5"/>
          <p:cNvGrpSpPr/>
          <p:nvPr/>
        </p:nvGrpSpPr>
        <p:grpSpPr>
          <a:xfrm rot="0">
            <a:off x="1116063" y="4177122"/>
            <a:ext cx="1611363" cy="677951"/>
            <a:chOff x="0" y="0"/>
            <a:chExt cx="2148484" cy="903935"/>
          </a:xfrm>
        </p:grpSpPr>
        <p:sp>
          <p:nvSpPr>
            <p:cNvPr name="Freeform 6" id="6"/>
            <p:cNvSpPr/>
            <p:nvPr/>
          </p:nvSpPr>
          <p:spPr>
            <a:xfrm flipH="false" flipV="false" rot="0">
              <a:off x="0" y="0"/>
              <a:ext cx="2148459" cy="903859"/>
            </a:xfrm>
            <a:custGeom>
              <a:avLst/>
              <a:gdLst/>
              <a:ahLst/>
              <a:cxnLst/>
              <a:rect r="r" b="b" t="t" l="l"/>
              <a:pathLst>
                <a:path h="903859" w="2148459">
                  <a:moveTo>
                    <a:pt x="0" y="150622"/>
                  </a:moveTo>
                  <a:cubicBezTo>
                    <a:pt x="0" y="67437"/>
                    <a:pt x="67437" y="0"/>
                    <a:pt x="150622" y="0"/>
                  </a:cubicBezTo>
                  <a:lnTo>
                    <a:pt x="1997837" y="0"/>
                  </a:lnTo>
                  <a:cubicBezTo>
                    <a:pt x="2081022" y="0"/>
                    <a:pt x="2148459" y="67437"/>
                    <a:pt x="2148459" y="150622"/>
                  </a:cubicBezTo>
                  <a:lnTo>
                    <a:pt x="2148459" y="753237"/>
                  </a:lnTo>
                  <a:cubicBezTo>
                    <a:pt x="2148459" y="836422"/>
                    <a:pt x="2081022" y="903859"/>
                    <a:pt x="1997837" y="903859"/>
                  </a:cubicBezTo>
                  <a:lnTo>
                    <a:pt x="150622" y="903859"/>
                  </a:lnTo>
                  <a:cubicBezTo>
                    <a:pt x="67437" y="903986"/>
                    <a:pt x="0" y="836422"/>
                    <a:pt x="0" y="753237"/>
                  </a:cubicBezTo>
                  <a:close/>
                </a:path>
              </a:pathLst>
            </a:custGeom>
            <a:solidFill>
              <a:srgbClr val="D9E1E2"/>
            </a:solidFill>
          </p:spPr>
        </p:sp>
      </p:grpSp>
      <p:grpSp>
        <p:nvGrpSpPr>
          <p:cNvPr name="Group 7" id="7"/>
          <p:cNvGrpSpPr/>
          <p:nvPr/>
        </p:nvGrpSpPr>
        <p:grpSpPr>
          <a:xfrm rot="0">
            <a:off x="1235402" y="4310196"/>
            <a:ext cx="1372676" cy="494167"/>
            <a:chOff x="0" y="0"/>
            <a:chExt cx="1830235" cy="658889"/>
          </a:xfrm>
        </p:grpSpPr>
        <p:sp>
          <p:nvSpPr>
            <p:cNvPr name="Freeform 8" id="8"/>
            <p:cNvSpPr/>
            <p:nvPr/>
          </p:nvSpPr>
          <p:spPr>
            <a:xfrm flipH="false" flipV="false" rot="0">
              <a:off x="0" y="0"/>
              <a:ext cx="1830230" cy="658883"/>
            </a:xfrm>
            <a:custGeom>
              <a:avLst/>
              <a:gdLst/>
              <a:ahLst/>
              <a:cxnLst/>
              <a:rect r="r" b="b" t="t" l="l"/>
              <a:pathLst>
                <a:path h="658883" w="1830230">
                  <a:moveTo>
                    <a:pt x="0" y="0"/>
                  </a:moveTo>
                  <a:lnTo>
                    <a:pt x="1830230" y="0"/>
                  </a:lnTo>
                  <a:lnTo>
                    <a:pt x="1830230" y="658883"/>
                  </a:lnTo>
                  <a:lnTo>
                    <a:pt x="0" y="658883"/>
                  </a:lnTo>
                  <a:close/>
                </a:path>
              </a:pathLst>
            </a:custGeom>
            <a:blipFill>
              <a:blip r:embed="rId3">
                <a:alphaModFix amt="0"/>
              </a:blip>
              <a:stretch>
                <a:fillRect l="0" t="-4124" r="0" b="-4125"/>
              </a:stretch>
            </a:blipFill>
          </p:spPr>
        </p:sp>
        <p:sp>
          <p:nvSpPr>
            <p:cNvPr name="TextBox 9" id="9"/>
            <p:cNvSpPr txBox="true"/>
            <p:nvPr/>
          </p:nvSpPr>
          <p:spPr>
            <a:xfrm>
              <a:off x="0" y="9525"/>
              <a:ext cx="1830235" cy="649364"/>
            </a:xfrm>
            <a:prstGeom prst="rect">
              <a:avLst/>
            </a:prstGeom>
          </p:spPr>
          <p:txBody>
            <a:bodyPr anchor="ctr" rtlCol="false" tIns="0" lIns="0" bIns="0" rIns="0"/>
            <a:lstStyle/>
            <a:p>
              <a:pPr algn="ctr">
                <a:lnSpc>
                  <a:spcPts val="1796"/>
                </a:lnSpc>
              </a:pPr>
              <a:r>
                <a:rPr lang="en-US" sz="1576" b="true">
                  <a:solidFill>
                    <a:srgbClr val="122B40"/>
                  </a:solidFill>
                  <a:latin typeface="Aptos Bold"/>
                  <a:ea typeface="Aptos Bold"/>
                  <a:cs typeface="Aptos Bold"/>
                  <a:sym typeface="Aptos Bold"/>
                </a:rPr>
                <a:t>Inform</a:t>
              </a:r>
            </a:p>
          </p:txBody>
        </p:sp>
      </p:grpSp>
      <p:sp>
        <p:nvSpPr>
          <p:cNvPr name="AutoShape 10" id="10"/>
          <p:cNvSpPr/>
          <p:nvPr/>
        </p:nvSpPr>
        <p:spPr>
          <a:xfrm rot="155280">
            <a:off x="2730722" y="4506563"/>
            <a:ext cx="633222" cy="0"/>
          </a:xfrm>
          <a:prstGeom prst="line">
            <a:avLst/>
          </a:prstGeom>
          <a:ln cap="rnd" w="19050">
            <a:solidFill>
              <a:srgbClr val="CDA349"/>
            </a:solidFill>
            <a:prstDash val="solid"/>
            <a:headEnd type="none" len="sm" w="sm"/>
            <a:tailEnd type="triangle" len="med" w="lg"/>
          </a:ln>
        </p:spPr>
      </p:sp>
      <p:grpSp>
        <p:nvGrpSpPr>
          <p:cNvPr name="Group 11" id="11"/>
          <p:cNvGrpSpPr/>
          <p:nvPr/>
        </p:nvGrpSpPr>
        <p:grpSpPr>
          <a:xfrm rot="0">
            <a:off x="3394691" y="4177122"/>
            <a:ext cx="1611363" cy="677951"/>
            <a:chOff x="0" y="0"/>
            <a:chExt cx="2148484" cy="903935"/>
          </a:xfrm>
        </p:grpSpPr>
        <p:sp>
          <p:nvSpPr>
            <p:cNvPr name="Freeform 12" id="12"/>
            <p:cNvSpPr/>
            <p:nvPr/>
          </p:nvSpPr>
          <p:spPr>
            <a:xfrm flipH="false" flipV="false" rot="0">
              <a:off x="0" y="0"/>
              <a:ext cx="2148459" cy="903859"/>
            </a:xfrm>
            <a:custGeom>
              <a:avLst/>
              <a:gdLst/>
              <a:ahLst/>
              <a:cxnLst/>
              <a:rect r="r" b="b" t="t" l="l"/>
              <a:pathLst>
                <a:path h="903859" w="2148459">
                  <a:moveTo>
                    <a:pt x="0" y="150622"/>
                  </a:moveTo>
                  <a:cubicBezTo>
                    <a:pt x="0" y="67437"/>
                    <a:pt x="67437" y="0"/>
                    <a:pt x="150622" y="0"/>
                  </a:cubicBezTo>
                  <a:lnTo>
                    <a:pt x="1997837" y="0"/>
                  </a:lnTo>
                  <a:cubicBezTo>
                    <a:pt x="2081022" y="0"/>
                    <a:pt x="2148459" y="67437"/>
                    <a:pt x="2148459" y="150622"/>
                  </a:cubicBezTo>
                  <a:lnTo>
                    <a:pt x="2148459" y="753237"/>
                  </a:lnTo>
                  <a:cubicBezTo>
                    <a:pt x="2148459" y="836422"/>
                    <a:pt x="2081022" y="903859"/>
                    <a:pt x="1997837" y="903859"/>
                  </a:cubicBezTo>
                  <a:lnTo>
                    <a:pt x="150622" y="903859"/>
                  </a:lnTo>
                  <a:cubicBezTo>
                    <a:pt x="67437" y="903986"/>
                    <a:pt x="0" y="836422"/>
                    <a:pt x="0" y="753237"/>
                  </a:cubicBezTo>
                  <a:close/>
                </a:path>
              </a:pathLst>
            </a:custGeom>
            <a:solidFill>
              <a:srgbClr val="D9E1E2"/>
            </a:solidFill>
          </p:spPr>
        </p:sp>
      </p:grpSp>
      <p:grpSp>
        <p:nvGrpSpPr>
          <p:cNvPr name="Group 13" id="13"/>
          <p:cNvGrpSpPr/>
          <p:nvPr/>
        </p:nvGrpSpPr>
        <p:grpSpPr>
          <a:xfrm rot="0">
            <a:off x="3514039" y="4310196"/>
            <a:ext cx="1372676" cy="494167"/>
            <a:chOff x="0" y="0"/>
            <a:chExt cx="1830235" cy="658889"/>
          </a:xfrm>
        </p:grpSpPr>
        <p:sp>
          <p:nvSpPr>
            <p:cNvPr name="Freeform 14" id="14"/>
            <p:cNvSpPr/>
            <p:nvPr/>
          </p:nvSpPr>
          <p:spPr>
            <a:xfrm flipH="false" flipV="false" rot="0">
              <a:off x="0" y="0"/>
              <a:ext cx="1830230" cy="658883"/>
            </a:xfrm>
            <a:custGeom>
              <a:avLst/>
              <a:gdLst/>
              <a:ahLst/>
              <a:cxnLst/>
              <a:rect r="r" b="b" t="t" l="l"/>
              <a:pathLst>
                <a:path h="658883" w="1830230">
                  <a:moveTo>
                    <a:pt x="0" y="0"/>
                  </a:moveTo>
                  <a:lnTo>
                    <a:pt x="1830230" y="0"/>
                  </a:lnTo>
                  <a:lnTo>
                    <a:pt x="1830230" y="658883"/>
                  </a:lnTo>
                  <a:lnTo>
                    <a:pt x="0" y="658883"/>
                  </a:lnTo>
                  <a:close/>
                </a:path>
              </a:pathLst>
            </a:custGeom>
            <a:blipFill>
              <a:blip r:embed="rId3">
                <a:alphaModFix amt="0"/>
              </a:blip>
              <a:stretch>
                <a:fillRect l="0" t="-4124" r="0" b="-4125"/>
              </a:stretch>
            </a:blipFill>
          </p:spPr>
        </p:sp>
        <p:sp>
          <p:nvSpPr>
            <p:cNvPr name="TextBox 15" id="15"/>
            <p:cNvSpPr txBox="true"/>
            <p:nvPr/>
          </p:nvSpPr>
          <p:spPr>
            <a:xfrm>
              <a:off x="0" y="9525"/>
              <a:ext cx="1830235" cy="649364"/>
            </a:xfrm>
            <a:prstGeom prst="rect">
              <a:avLst/>
            </a:prstGeom>
          </p:spPr>
          <p:txBody>
            <a:bodyPr anchor="ctr" rtlCol="false" tIns="0" lIns="0" bIns="0" rIns="0"/>
            <a:lstStyle/>
            <a:p>
              <a:pPr algn="ctr">
                <a:lnSpc>
                  <a:spcPts val="1796"/>
                </a:lnSpc>
              </a:pPr>
              <a:r>
                <a:rPr lang="en-US" sz="1576" b="true">
                  <a:solidFill>
                    <a:srgbClr val="122B40"/>
                  </a:solidFill>
                  <a:latin typeface="Aptos Bold"/>
                  <a:ea typeface="Aptos Bold"/>
                  <a:cs typeface="Aptos Bold"/>
                  <a:sym typeface="Aptos Bold"/>
                </a:rPr>
                <a:t>Recommend</a:t>
              </a:r>
            </a:p>
          </p:txBody>
        </p:sp>
      </p:grpSp>
      <p:sp>
        <p:nvSpPr>
          <p:cNvPr name="AutoShape 16" id="16"/>
          <p:cNvSpPr/>
          <p:nvPr/>
        </p:nvSpPr>
        <p:spPr>
          <a:xfrm rot="155280">
            <a:off x="5009359" y="4506563"/>
            <a:ext cx="633222" cy="0"/>
          </a:xfrm>
          <a:prstGeom prst="line">
            <a:avLst/>
          </a:prstGeom>
          <a:ln cap="rnd" w="19050">
            <a:solidFill>
              <a:srgbClr val="CDA349"/>
            </a:solidFill>
            <a:prstDash val="solid"/>
            <a:headEnd type="none" len="sm" w="sm"/>
            <a:tailEnd type="triangle" len="med" w="lg"/>
          </a:ln>
        </p:spPr>
      </p:sp>
      <p:grpSp>
        <p:nvGrpSpPr>
          <p:cNvPr name="Group 17" id="17"/>
          <p:cNvGrpSpPr/>
          <p:nvPr/>
        </p:nvGrpSpPr>
        <p:grpSpPr>
          <a:xfrm rot="0">
            <a:off x="5673328" y="4177122"/>
            <a:ext cx="1611363" cy="677951"/>
            <a:chOff x="0" y="0"/>
            <a:chExt cx="2148484" cy="903935"/>
          </a:xfrm>
        </p:grpSpPr>
        <p:sp>
          <p:nvSpPr>
            <p:cNvPr name="Freeform 18" id="18"/>
            <p:cNvSpPr/>
            <p:nvPr/>
          </p:nvSpPr>
          <p:spPr>
            <a:xfrm flipH="false" flipV="false" rot="0">
              <a:off x="0" y="0"/>
              <a:ext cx="2148459" cy="903859"/>
            </a:xfrm>
            <a:custGeom>
              <a:avLst/>
              <a:gdLst/>
              <a:ahLst/>
              <a:cxnLst/>
              <a:rect r="r" b="b" t="t" l="l"/>
              <a:pathLst>
                <a:path h="903859" w="2148459">
                  <a:moveTo>
                    <a:pt x="0" y="150622"/>
                  </a:moveTo>
                  <a:cubicBezTo>
                    <a:pt x="0" y="67437"/>
                    <a:pt x="67437" y="0"/>
                    <a:pt x="150622" y="0"/>
                  </a:cubicBezTo>
                  <a:lnTo>
                    <a:pt x="1997837" y="0"/>
                  </a:lnTo>
                  <a:cubicBezTo>
                    <a:pt x="2081022" y="0"/>
                    <a:pt x="2148459" y="67437"/>
                    <a:pt x="2148459" y="150622"/>
                  </a:cubicBezTo>
                  <a:lnTo>
                    <a:pt x="2148459" y="753237"/>
                  </a:lnTo>
                  <a:cubicBezTo>
                    <a:pt x="2148459" y="836422"/>
                    <a:pt x="2081022" y="903859"/>
                    <a:pt x="1997837" y="903859"/>
                  </a:cubicBezTo>
                  <a:lnTo>
                    <a:pt x="150622" y="903859"/>
                  </a:lnTo>
                  <a:cubicBezTo>
                    <a:pt x="67437" y="903986"/>
                    <a:pt x="0" y="836422"/>
                    <a:pt x="0" y="753237"/>
                  </a:cubicBezTo>
                  <a:close/>
                </a:path>
              </a:pathLst>
            </a:custGeom>
            <a:solidFill>
              <a:srgbClr val="CDA349"/>
            </a:solidFill>
          </p:spPr>
        </p:sp>
      </p:grpSp>
      <p:grpSp>
        <p:nvGrpSpPr>
          <p:cNvPr name="Group 19" id="19"/>
          <p:cNvGrpSpPr/>
          <p:nvPr/>
        </p:nvGrpSpPr>
        <p:grpSpPr>
          <a:xfrm rot="0">
            <a:off x="5792676" y="4310196"/>
            <a:ext cx="1372676" cy="494167"/>
            <a:chOff x="0" y="0"/>
            <a:chExt cx="1830235" cy="658889"/>
          </a:xfrm>
        </p:grpSpPr>
        <p:sp>
          <p:nvSpPr>
            <p:cNvPr name="Freeform 20" id="20"/>
            <p:cNvSpPr/>
            <p:nvPr/>
          </p:nvSpPr>
          <p:spPr>
            <a:xfrm flipH="false" flipV="false" rot="0">
              <a:off x="0" y="0"/>
              <a:ext cx="1830230" cy="658883"/>
            </a:xfrm>
            <a:custGeom>
              <a:avLst/>
              <a:gdLst/>
              <a:ahLst/>
              <a:cxnLst/>
              <a:rect r="r" b="b" t="t" l="l"/>
              <a:pathLst>
                <a:path h="658883" w="1830230">
                  <a:moveTo>
                    <a:pt x="0" y="0"/>
                  </a:moveTo>
                  <a:lnTo>
                    <a:pt x="1830230" y="0"/>
                  </a:lnTo>
                  <a:lnTo>
                    <a:pt x="1830230" y="658883"/>
                  </a:lnTo>
                  <a:lnTo>
                    <a:pt x="0" y="658883"/>
                  </a:lnTo>
                  <a:close/>
                </a:path>
              </a:pathLst>
            </a:custGeom>
            <a:blipFill>
              <a:blip r:embed="rId3">
                <a:alphaModFix amt="0"/>
              </a:blip>
              <a:stretch>
                <a:fillRect l="0" t="-4124" r="0" b="-4125"/>
              </a:stretch>
            </a:blipFill>
          </p:spPr>
        </p:sp>
        <p:sp>
          <p:nvSpPr>
            <p:cNvPr name="TextBox 21" id="21"/>
            <p:cNvSpPr txBox="true"/>
            <p:nvPr/>
          </p:nvSpPr>
          <p:spPr>
            <a:xfrm>
              <a:off x="0" y="9525"/>
              <a:ext cx="1830235" cy="649364"/>
            </a:xfrm>
            <a:prstGeom prst="rect">
              <a:avLst/>
            </a:prstGeom>
          </p:spPr>
          <p:txBody>
            <a:bodyPr anchor="ctr" rtlCol="false" tIns="0" lIns="0" bIns="0" rIns="0"/>
            <a:lstStyle/>
            <a:p>
              <a:pPr algn="ctr">
                <a:lnSpc>
                  <a:spcPts val="1796"/>
                </a:lnSpc>
              </a:pPr>
              <a:r>
                <a:rPr lang="en-US" sz="1576" b="true">
                  <a:solidFill>
                    <a:srgbClr val="FFFFFF"/>
                  </a:solidFill>
                  <a:latin typeface="Aptos Bold"/>
                  <a:ea typeface="Aptos Bold"/>
                  <a:cs typeface="Aptos Bold"/>
                  <a:sym typeface="Aptos Bold"/>
                </a:rPr>
                <a:t>Draft</a:t>
              </a:r>
            </a:p>
          </p:txBody>
        </p:sp>
      </p:grpSp>
      <p:sp>
        <p:nvSpPr>
          <p:cNvPr name="AutoShape 22" id="22"/>
          <p:cNvSpPr/>
          <p:nvPr/>
        </p:nvSpPr>
        <p:spPr>
          <a:xfrm rot="155280">
            <a:off x="7287997" y="4506563"/>
            <a:ext cx="633222" cy="0"/>
          </a:xfrm>
          <a:prstGeom prst="line">
            <a:avLst/>
          </a:prstGeom>
          <a:ln cap="rnd" w="19050">
            <a:solidFill>
              <a:srgbClr val="CDA349"/>
            </a:solidFill>
            <a:prstDash val="solid"/>
            <a:headEnd type="none" len="sm" w="sm"/>
            <a:tailEnd type="triangle" len="med" w="lg"/>
          </a:ln>
        </p:spPr>
      </p:sp>
      <p:grpSp>
        <p:nvGrpSpPr>
          <p:cNvPr name="Group 23" id="23"/>
          <p:cNvGrpSpPr/>
          <p:nvPr/>
        </p:nvGrpSpPr>
        <p:grpSpPr>
          <a:xfrm rot="0">
            <a:off x="7951965" y="4177122"/>
            <a:ext cx="1611363" cy="677951"/>
            <a:chOff x="0" y="0"/>
            <a:chExt cx="2148484" cy="903935"/>
          </a:xfrm>
        </p:grpSpPr>
        <p:sp>
          <p:nvSpPr>
            <p:cNvPr name="Freeform 24" id="24"/>
            <p:cNvSpPr/>
            <p:nvPr/>
          </p:nvSpPr>
          <p:spPr>
            <a:xfrm flipH="false" flipV="false" rot="0">
              <a:off x="0" y="0"/>
              <a:ext cx="2148459" cy="903859"/>
            </a:xfrm>
            <a:custGeom>
              <a:avLst/>
              <a:gdLst/>
              <a:ahLst/>
              <a:cxnLst/>
              <a:rect r="r" b="b" t="t" l="l"/>
              <a:pathLst>
                <a:path h="903859" w="2148459">
                  <a:moveTo>
                    <a:pt x="0" y="150622"/>
                  </a:moveTo>
                  <a:cubicBezTo>
                    <a:pt x="0" y="67437"/>
                    <a:pt x="67437" y="0"/>
                    <a:pt x="150622" y="0"/>
                  </a:cubicBezTo>
                  <a:lnTo>
                    <a:pt x="1997837" y="0"/>
                  </a:lnTo>
                  <a:cubicBezTo>
                    <a:pt x="2081022" y="0"/>
                    <a:pt x="2148459" y="67437"/>
                    <a:pt x="2148459" y="150622"/>
                  </a:cubicBezTo>
                  <a:lnTo>
                    <a:pt x="2148459" y="753237"/>
                  </a:lnTo>
                  <a:cubicBezTo>
                    <a:pt x="2148459" y="836422"/>
                    <a:pt x="2081022" y="903859"/>
                    <a:pt x="1997837" y="903859"/>
                  </a:cubicBezTo>
                  <a:lnTo>
                    <a:pt x="150622" y="903859"/>
                  </a:lnTo>
                  <a:cubicBezTo>
                    <a:pt x="67437" y="903986"/>
                    <a:pt x="0" y="836422"/>
                    <a:pt x="0" y="753237"/>
                  </a:cubicBezTo>
                  <a:close/>
                </a:path>
              </a:pathLst>
            </a:custGeom>
            <a:solidFill>
              <a:srgbClr val="CDA349"/>
            </a:solidFill>
          </p:spPr>
        </p:sp>
      </p:grpSp>
      <p:grpSp>
        <p:nvGrpSpPr>
          <p:cNvPr name="Group 25" id="25"/>
          <p:cNvGrpSpPr/>
          <p:nvPr/>
        </p:nvGrpSpPr>
        <p:grpSpPr>
          <a:xfrm rot="0">
            <a:off x="8071314" y="4310196"/>
            <a:ext cx="1372676" cy="494167"/>
            <a:chOff x="0" y="0"/>
            <a:chExt cx="1830235" cy="658889"/>
          </a:xfrm>
        </p:grpSpPr>
        <p:sp>
          <p:nvSpPr>
            <p:cNvPr name="Freeform 26" id="26"/>
            <p:cNvSpPr/>
            <p:nvPr/>
          </p:nvSpPr>
          <p:spPr>
            <a:xfrm flipH="false" flipV="false" rot="0">
              <a:off x="0" y="0"/>
              <a:ext cx="1830230" cy="658883"/>
            </a:xfrm>
            <a:custGeom>
              <a:avLst/>
              <a:gdLst/>
              <a:ahLst/>
              <a:cxnLst/>
              <a:rect r="r" b="b" t="t" l="l"/>
              <a:pathLst>
                <a:path h="658883" w="1830230">
                  <a:moveTo>
                    <a:pt x="0" y="0"/>
                  </a:moveTo>
                  <a:lnTo>
                    <a:pt x="1830230" y="0"/>
                  </a:lnTo>
                  <a:lnTo>
                    <a:pt x="1830230" y="658883"/>
                  </a:lnTo>
                  <a:lnTo>
                    <a:pt x="0" y="658883"/>
                  </a:lnTo>
                  <a:close/>
                </a:path>
              </a:pathLst>
            </a:custGeom>
            <a:blipFill>
              <a:blip r:embed="rId3">
                <a:alphaModFix amt="0"/>
              </a:blip>
              <a:stretch>
                <a:fillRect l="0" t="-4124" r="0" b="-4125"/>
              </a:stretch>
            </a:blipFill>
          </p:spPr>
        </p:sp>
        <p:sp>
          <p:nvSpPr>
            <p:cNvPr name="TextBox 27" id="27"/>
            <p:cNvSpPr txBox="true"/>
            <p:nvPr/>
          </p:nvSpPr>
          <p:spPr>
            <a:xfrm>
              <a:off x="0" y="9525"/>
              <a:ext cx="1830235" cy="649364"/>
            </a:xfrm>
            <a:prstGeom prst="rect">
              <a:avLst/>
            </a:prstGeom>
          </p:spPr>
          <p:txBody>
            <a:bodyPr anchor="ctr" rtlCol="false" tIns="0" lIns="0" bIns="0" rIns="0"/>
            <a:lstStyle/>
            <a:p>
              <a:pPr algn="ctr">
                <a:lnSpc>
                  <a:spcPts val="1796"/>
                </a:lnSpc>
              </a:pPr>
              <a:r>
                <a:rPr lang="en-US" sz="1576" b="true">
                  <a:solidFill>
                    <a:srgbClr val="FFFFFF"/>
                  </a:solidFill>
                  <a:latin typeface="Aptos Bold"/>
                  <a:ea typeface="Aptos Bold"/>
                  <a:cs typeface="Aptos Bold"/>
                  <a:sym typeface="Aptos Bold"/>
                </a:rPr>
                <a:t>Communicate</a:t>
              </a:r>
            </a:p>
          </p:txBody>
        </p:sp>
      </p:grpSp>
      <p:sp>
        <p:nvSpPr>
          <p:cNvPr name="AutoShape 28" id="28"/>
          <p:cNvSpPr/>
          <p:nvPr/>
        </p:nvSpPr>
        <p:spPr>
          <a:xfrm rot="155280">
            <a:off x="9566634" y="4506563"/>
            <a:ext cx="633222" cy="0"/>
          </a:xfrm>
          <a:prstGeom prst="line">
            <a:avLst/>
          </a:prstGeom>
          <a:ln cap="rnd" w="19050">
            <a:solidFill>
              <a:srgbClr val="CDA349"/>
            </a:solidFill>
            <a:prstDash val="solid"/>
            <a:headEnd type="none" len="sm" w="sm"/>
            <a:tailEnd type="triangle" len="med" w="lg"/>
          </a:ln>
        </p:spPr>
      </p:sp>
      <p:grpSp>
        <p:nvGrpSpPr>
          <p:cNvPr name="Group 29" id="29"/>
          <p:cNvGrpSpPr/>
          <p:nvPr/>
        </p:nvGrpSpPr>
        <p:grpSpPr>
          <a:xfrm rot="0">
            <a:off x="10230602" y="4177122"/>
            <a:ext cx="1611363" cy="677951"/>
            <a:chOff x="0" y="0"/>
            <a:chExt cx="2148484" cy="903935"/>
          </a:xfrm>
        </p:grpSpPr>
        <p:sp>
          <p:nvSpPr>
            <p:cNvPr name="Freeform 30" id="30"/>
            <p:cNvSpPr/>
            <p:nvPr/>
          </p:nvSpPr>
          <p:spPr>
            <a:xfrm flipH="false" flipV="false" rot="0">
              <a:off x="0" y="0"/>
              <a:ext cx="2148459" cy="903859"/>
            </a:xfrm>
            <a:custGeom>
              <a:avLst/>
              <a:gdLst/>
              <a:ahLst/>
              <a:cxnLst/>
              <a:rect r="r" b="b" t="t" l="l"/>
              <a:pathLst>
                <a:path h="903859" w="2148459">
                  <a:moveTo>
                    <a:pt x="0" y="150622"/>
                  </a:moveTo>
                  <a:cubicBezTo>
                    <a:pt x="0" y="67437"/>
                    <a:pt x="67437" y="0"/>
                    <a:pt x="150622" y="0"/>
                  </a:cubicBezTo>
                  <a:lnTo>
                    <a:pt x="1997837" y="0"/>
                  </a:lnTo>
                  <a:cubicBezTo>
                    <a:pt x="2081022" y="0"/>
                    <a:pt x="2148459" y="67437"/>
                    <a:pt x="2148459" y="150622"/>
                  </a:cubicBezTo>
                  <a:lnTo>
                    <a:pt x="2148459" y="753237"/>
                  </a:lnTo>
                  <a:cubicBezTo>
                    <a:pt x="2148459" y="836422"/>
                    <a:pt x="2081022" y="903859"/>
                    <a:pt x="1997837" y="903859"/>
                  </a:cubicBezTo>
                  <a:lnTo>
                    <a:pt x="150622" y="903859"/>
                  </a:lnTo>
                  <a:cubicBezTo>
                    <a:pt x="67437" y="903986"/>
                    <a:pt x="0" y="836422"/>
                    <a:pt x="0" y="753237"/>
                  </a:cubicBezTo>
                  <a:close/>
                </a:path>
              </a:pathLst>
            </a:custGeom>
            <a:solidFill>
              <a:srgbClr val="4E8E8D"/>
            </a:solidFill>
          </p:spPr>
        </p:sp>
      </p:grpSp>
      <p:grpSp>
        <p:nvGrpSpPr>
          <p:cNvPr name="Group 31" id="31"/>
          <p:cNvGrpSpPr/>
          <p:nvPr/>
        </p:nvGrpSpPr>
        <p:grpSpPr>
          <a:xfrm rot="0">
            <a:off x="10349951" y="4310196"/>
            <a:ext cx="1372676" cy="494167"/>
            <a:chOff x="0" y="0"/>
            <a:chExt cx="1830235" cy="658889"/>
          </a:xfrm>
        </p:grpSpPr>
        <p:sp>
          <p:nvSpPr>
            <p:cNvPr name="Freeform 32" id="32"/>
            <p:cNvSpPr/>
            <p:nvPr/>
          </p:nvSpPr>
          <p:spPr>
            <a:xfrm flipH="false" flipV="false" rot="0">
              <a:off x="0" y="0"/>
              <a:ext cx="1830230" cy="658883"/>
            </a:xfrm>
            <a:custGeom>
              <a:avLst/>
              <a:gdLst/>
              <a:ahLst/>
              <a:cxnLst/>
              <a:rect r="r" b="b" t="t" l="l"/>
              <a:pathLst>
                <a:path h="658883" w="1830230">
                  <a:moveTo>
                    <a:pt x="0" y="0"/>
                  </a:moveTo>
                  <a:lnTo>
                    <a:pt x="1830230" y="0"/>
                  </a:lnTo>
                  <a:lnTo>
                    <a:pt x="1830230" y="658883"/>
                  </a:lnTo>
                  <a:lnTo>
                    <a:pt x="0" y="658883"/>
                  </a:lnTo>
                  <a:close/>
                </a:path>
              </a:pathLst>
            </a:custGeom>
            <a:blipFill>
              <a:blip r:embed="rId3">
                <a:alphaModFix amt="0"/>
              </a:blip>
              <a:stretch>
                <a:fillRect l="0" t="-4124" r="0" b="-4125"/>
              </a:stretch>
            </a:blipFill>
          </p:spPr>
        </p:sp>
        <p:sp>
          <p:nvSpPr>
            <p:cNvPr name="TextBox 33" id="33"/>
            <p:cNvSpPr txBox="true"/>
            <p:nvPr/>
          </p:nvSpPr>
          <p:spPr>
            <a:xfrm>
              <a:off x="0" y="9525"/>
              <a:ext cx="1830235" cy="649364"/>
            </a:xfrm>
            <a:prstGeom prst="rect">
              <a:avLst/>
            </a:prstGeom>
          </p:spPr>
          <p:txBody>
            <a:bodyPr anchor="ctr" rtlCol="false" tIns="0" lIns="0" bIns="0" rIns="0"/>
            <a:lstStyle/>
            <a:p>
              <a:pPr algn="ctr">
                <a:lnSpc>
                  <a:spcPts val="1796"/>
                </a:lnSpc>
              </a:pPr>
              <a:r>
                <a:rPr lang="en-US" sz="1576" b="true">
                  <a:solidFill>
                    <a:srgbClr val="FFFFFF"/>
                  </a:solidFill>
                  <a:latin typeface="Aptos Bold"/>
                  <a:ea typeface="Aptos Bold"/>
                  <a:cs typeface="Aptos Bold"/>
                  <a:sym typeface="Aptos Bold"/>
                </a:rPr>
                <a:t>Initiate</a:t>
              </a:r>
            </a:p>
          </p:txBody>
        </p:sp>
      </p:grpSp>
      <p:sp>
        <p:nvSpPr>
          <p:cNvPr name="AutoShape 34" id="34"/>
          <p:cNvSpPr/>
          <p:nvPr/>
        </p:nvSpPr>
        <p:spPr>
          <a:xfrm rot="155280">
            <a:off x="11845271" y="4506563"/>
            <a:ext cx="633222" cy="0"/>
          </a:xfrm>
          <a:prstGeom prst="line">
            <a:avLst/>
          </a:prstGeom>
          <a:ln cap="rnd" w="19050">
            <a:solidFill>
              <a:srgbClr val="CDA349"/>
            </a:solidFill>
            <a:prstDash val="solid"/>
            <a:headEnd type="none" len="sm" w="sm"/>
            <a:tailEnd type="triangle" len="med" w="lg"/>
          </a:ln>
        </p:spPr>
      </p:sp>
      <p:grpSp>
        <p:nvGrpSpPr>
          <p:cNvPr name="Group 35" id="35"/>
          <p:cNvGrpSpPr/>
          <p:nvPr/>
        </p:nvGrpSpPr>
        <p:grpSpPr>
          <a:xfrm rot="0">
            <a:off x="12509240" y="4177122"/>
            <a:ext cx="1611363" cy="677951"/>
            <a:chOff x="0" y="0"/>
            <a:chExt cx="2148484" cy="903935"/>
          </a:xfrm>
        </p:grpSpPr>
        <p:sp>
          <p:nvSpPr>
            <p:cNvPr name="Freeform 36" id="36"/>
            <p:cNvSpPr/>
            <p:nvPr/>
          </p:nvSpPr>
          <p:spPr>
            <a:xfrm flipH="false" flipV="false" rot="0">
              <a:off x="0" y="0"/>
              <a:ext cx="2148459" cy="903859"/>
            </a:xfrm>
            <a:custGeom>
              <a:avLst/>
              <a:gdLst/>
              <a:ahLst/>
              <a:cxnLst/>
              <a:rect r="r" b="b" t="t" l="l"/>
              <a:pathLst>
                <a:path h="903859" w="2148459">
                  <a:moveTo>
                    <a:pt x="0" y="150622"/>
                  </a:moveTo>
                  <a:cubicBezTo>
                    <a:pt x="0" y="67437"/>
                    <a:pt x="67437" y="0"/>
                    <a:pt x="150622" y="0"/>
                  </a:cubicBezTo>
                  <a:lnTo>
                    <a:pt x="1997837" y="0"/>
                  </a:lnTo>
                  <a:cubicBezTo>
                    <a:pt x="2081022" y="0"/>
                    <a:pt x="2148459" y="67437"/>
                    <a:pt x="2148459" y="150622"/>
                  </a:cubicBezTo>
                  <a:lnTo>
                    <a:pt x="2148459" y="753237"/>
                  </a:lnTo>
                  <a:cubicBezTo>
                    <a:pt x="2148459" y="836422"/>
                    <a:pt x="2081022" y="903859"/>
                    <a:pt x="1997837" y="903859"/>
                  </a:cubicBezTo>
                  <a:lnTo>
                    <a:pt x="150622" y="903859"/>
                  </a:lnTo>
                  <a:cubicBezTo>
                    <a:pt x="67437" y="903986"/>
                    <a:pt x="0" y="836422"/>
                    <a:pt x="0" y="753237"/>
                  </a:cubicBezTo>
                  <a:close/>
                </a:path>
              </a:pathLst>
            </a:custGeom>
            <a:solidFill>
              <a:srgbClr val="122B40"/>
            </a:solidFill>
          </p:spPr>
        </p:sp>
      </p:grpSp>
      <p:grpSp>
        <p:nvGrpSpPr>
          <p:cNvPr name="Group 37" id="37"/>
          <p:cNvGrpSpPr/>
          <p:nvPr/>
        </p:nvGrpSpPr>
        <p:grpSpPr>
          <a:xfrm rot="0">
            <a:off x="12628588" y="4310196"/>
            <a:ext cx="1372676" cy="494167"/>
            <a:chOff x="0" y="0"/>
            <a:chExt cx="1830235" cy="658889"/>
          </a:xfrm>
        </p:grpSpPr>
        <p:sp>
          <p:nvSpPr>
            <p:cNvPr name="Freeform 38" id="38"/>
            <p:cNvSpPr/>
            <p:nvPr/>
          </p:nvSpPr>
          <p:spPr>
            <a:xfrm flipH="false" flipV="false" rot="0">
              <a:off x="0" y="0"/>
              <a:ext cx="1830230" cy="658883"/>
            </a:xfrm>
            <a:custGeom>
              <a:avLst/>
              <a:gdLst/>
              <a:ahLst/>
              <a:cxnLst/>
              <a:rect r="r" b="b" t="t" l="l"/>
              <a:pathLst>
                <a:path h="658883" w="1830230">
                  <a:moveTo>
                    <a:pt x="0" y="0"/>
                  </a:moveTo>
                  <a:lnTo>
                    <a:pt x="1830230" y="0"/>
                  </a:lnTo>
                  <a:lnTo>
                    <a:pt x="1830230" y="658883"/>
                  </a:lnTo>
                  <a:lnTo>
                    <a:pt x="0" y="658883"/>
                  </a:lnTo>
                  <a:close/>
                </a:path>
              </a:pathLst>
            </a:custGeom>
            <a:blipFill>
              <a:blip r:embed="rId3">
                <a:alphaModFix amt="0"/>
              </a:blip>
              <a:stretch>
                <a:fillRect l="0" t="-4124" r="0" b="-4125"/>
              </a:stretch>
            </a:blipFill>
          </p:spPr>
        </p:sp>
        <p:sp>
          <p:nvSpPr>
            <p:cNvPr name="TextBox 39" id="39"/>
            <p:cNvSpPr txBox="true"/>
            <p:nvPr/>
          </p:nvSpPr>
          <p:spPr>
            <a:xfrm>
              <a:off x="0" y="9525"/>
              <a:ext cx="1830235" cy="649364"/>
            </a:xfrm>
            <a:prstGeom prst="rect">
              <a:avLst/>
            </a:prstGeom>
          </p:spPr>
          <p:txBody>
            <a:bodyPr anchor="ctr" rtlCol="false" tIns="0" lIns="0" bIns="0" rIns="0"/>
            <a:lstStyle/>
            <a:p>
              <a:pPr algn="ctr">
                <a:lnSpc>
                  <a:spcPts val="1796"/>
                </a:lnSpc>
              </a:pPr>
              <a:r>
                <a:rPr lang="en-US" sz="1576" b="true">
                  <a:solidFill>
                    <a:srgbClr val="FFFFFF"/>
                  </a:solidFill>
                  <a:latin typeface="Aptos Bold"/>
                  <a:ea typeface="Aptos Bold"/>
                  <a:cs typeface="Aptos Bold"/>
                  <a:sym typeface="Aptos Bold"/>
                </a:rPr>
                <a:t>Complete</a:t>
              </a:r>
            </a:p>
          </p:txBody>
        </p:sp>
      </p:grpSp>
      <p:sp>
        <p:nvSpPr>
          <p:cNvPr name="TextBox 40" id="40"/>
          <p:cNvSpPr txBox="true"/>
          <p:nvPr/>
        </p:nvSpPr>
        <p:spPr>
          <a:xfrm rot="0">
            <a:off x="1304296" y="5884821"/>
            <a:ext cx="9608201" cy="1019470"/>
          </a:xfrm>
          <a:prstGeom prst="rect">
            <a:avLst/>
          </a:prstGeom>
        </p:spPr>
        <p:txBody>
          <a:bodyPr anchor="t" rtlCol="false" tIns="0" lIns="0" bIns="0" rIns="0">
            <a:spAutoFit/>
          </a:bodyPr>
          <a:lstStyle/>
          <a:p>
            <a:pPr algn="ctr">
              <a:lnSpc>
                <a:spcPts val="2258"/>
              </a:lnSpc>
            </a:pPr>
            <a:r>
              <a:rPr lang="en-US" sz="1981" b="true">
                <a:solidFill>
                  <a:srgbClr val="122B40"/>
                </a:solidFill>
                <a:latin typeface="Aptos Bold"/>
                <a:ea typeface="Aptos Bold"/>
                <a:cs typeface="Aptos Bold"/>
                <a:sym typeface="Aptos Bold"/>
              </a:rPr>
              <a:t>Example: explain requirements → identify missing documentation → draft a message → send it → submit an authorization → complete a transaction</a:t>
            </a:r>
          </a:p>
        </p:txBody>
      </p:sp>
      <p:sp>
        <p:nvSpPr>
          <p:cNvPr name="TextBox 41" id="41"/>
          <p:cNvSpPr txBox="true"/>
          <p:nvPr/>
        </p:nvSpPr>
        <p:spPr>
          <a:xfrm rot="0">
            <a:off x="1304296" y="7724194"/>
            <a:ext cx="9539564" cy="566490"/>
          </a:xfrm>
          <a:prstGeom prst="rect">
            <a:avLst/>
          </a:prstGeom>
        </p:spPr>
        <p:txBody>
          <a:bodyPr anchor="t" rtlCol="false" tIns="0" lIns="0" bIns="0" rIns="0">
            <a:spAutoFit/>
          </a:bodyPr>
          <a:lstStyle/>
          <a:p>
            <a:pPr algn="ctr">
              <a:lnSpc>
                <a:spcPts val="2395"/>
              </a:lnSpc>
            </a:pPr>
            <a:r>
              <a:rPr lang="en-US" sz="2101">
                <a:solidFill>
                  <a:srgbClr val="5E717A"/>
                </a:solidFill>
                <a:latin typeface="Aptos"/>
                <a:ea typeface="Aptos"/>
                <a:cs typeface="Aptos"/>
                <a:sym typeface="Aptos"/>
              </a:rPr>
              <a:t>The more the AI acts, the more explicit the identity, permission, review, and audit trail must become.</a:t>
            </a:r>
          </a:p>
        </p:txBody>
      </p:sp>
      <p:sp>
        <p:nvSpPr>
          <p:cNvPr name="AutoShape 42" id="42"/>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43" id="43"/>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From information to action</a:t>
            </a:r>
          </a:p>
        </p:txBody>
      </p:sp>
      <p:sp>
        <p:nvSpPr>
          <p:cNvPr name="TextBox 44" id="44"/>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sp>
        <p:nvSpPr>
          <p:cNvPr name="TextBox 2" id="2"/>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ONE GOAL, DIFFERENT TYPES OF AUTHORITY</a:t>
            </a:r>
          </a:p>
        </p:txBody>
      </p:sp>
      <p:sp>
        <p:nvSpPr>
          <p:cNvPr name="TextBox 3" id="3"/>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Authority should be assigned by task</a:t>
            </a:r>
          </a:p>
        </p:txBody>
      </p:sp>
      <p:sp>
        <p:nvSpPr>
          <p:cNvPr name="TextBox 4" id="4"/>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Do not grant the whole workflow one broad permission.</a:t>
            </a:r>
          </a:p>
        </p:txBody>
      </p:sp>
      <p:sp>
        <p:nvSpPr>
          <p:cNvPr name="TextBox 5" id="5"/>
          <p:cNvSpPr txBox="true"/>
          <p:nvPr/>
        </p:nvSpPr>
        <p:spPr>
          <a:xfrm rot="0">
            <a:off x="1304296" y="3194380"/>
            <a:ext cx="3431172" cy="264500"/>
          </a:xfrm>
          <a:prstGeom prst="rect">
            <a:avLst/>
          </a:prstGeom>
        </p:spPr>
        <p:txBody>
          <a:bodyPr anchor="t" rtlCol="false" tIns="0" lIns="0" bIns="0" rIns="0">
            <a:spAutoFit/>
          </a:bodyPr>
          <a:lstStyle/>
          <a:p>
            <a:pPr algn="l">
              <a:lnSpc>
                <a:spcPts val="1882"/>
              </a:lnSpc>
            </a:pPr>
            <a:r>
              <a:rPr lang="en-US" sz="1651" b="true">
                <a:solidFill>
                  <a:srgbClr val="CDA349"/>
                </a:solidFill>
                <a:latin typeface="Aptos Bold"/>
                <a:ea typeface="Aptos Bold"/>
                <a:cs typeface="Aptos Bold"/>
                <a:sym typeface="Aptos Bold"/>
              </a:rPr>
              <a:t>AI role</a:t>
            </a:r>
          </a:p>
        </p:txBody>
      </p:sp>
      <p:sp>
        <p:nvSpPr>
          <p:cNvPr name="TextBox 6" id="6"/>
          <p:cNvSpPr txBox="true"/>
          <p:nvPr/>
        </p:nvSpPr>
        <p:spPr>
          <a:xfrm rot="0">
            <a:off x="5738022" y="3194380"/>
            <a:ext cx="4392044" cy="264500"/>
          </a:xfrm>
          <a:prstGeom prst="rect">
            <a:avLst/>
          </a:prstGeom>
        </p:spPr>
        <p:txBody>
          <a:bodyPr anchor="t" rtlCol="false" tIns="0" lIns="0" bIns="0" rIns="0">
            <a:spAutoFit/>
          </a:bodyPr>
          <a:lstStyle/>
          <a:p>
            <a:pPr algn="l">
              <a:lnSpc>
                <a:spcPts val="1882"/>
              </a:lnSpc>
            </a:pPr>
            <a:r>
              <a:rPr lang="en-US" sz="1651" b="true">
                <a:solidFill>
                  <a:srgbClr val="CDA349"/>
                </a:solidFill>
                <a:latin typeface="Aptos Bold"/>
                <a:ea typeface="Aptos Bold"/>
                <a:cs typeface="Aptos Bold"/>
                <a:sym typeface="Aptos Bold"/>
              </a:rPr>
              <a:t>Required human boundary</a:t>
            </a:r>
          </a:p>
        </p:txBody>
      </p:sp>
      <p:grpSp>
        <p:nvGrpSpPr>
          <p:cNvPr name="Group 7" id="7"/>
          <p:cNvGrpSpPr/>
          <p:nvPr/>
        </p:nvGrpSpPr>
        <p:grpSpPr>
          <a:xfrm rot="0">
            <a:off x="1117968" y="3671135"/>
            <a:ext cx="9555328" cy="742769"/>
            <a:chOff x="0" y="0"/>
            <a:chExt cx="12740437" cy="990359"/>
          </a:xfrm>
        </p:grpSpPr>
        <p:sp>
          <p:nvSpPr>
            <p:cNvPr name="Freeform 8" id="8"/>
            <p:cNvSpPr/>
            <p:nvPr/>
          </p:nvSpPr>
          <p:spPr>
            <a:xfrm flipH="false" flipV="false" rot="0">
              <a:off x="0" y="0"/>
              <a:ext cx="12740386" cy="990346"/>
            </a:xfrm>
            <a:custGeom>
              <a:avLst/>
              <a:gdLst/>
              <a:ahLst/>
              <a:cxnLst/>
              <a:rect r="r" b="b" t="t" l="l"/>
              <a:pathLst>
                <a:path h="990346" w="12740386">
                  <a:moveTo>
                    <a:pt x="0" y="149479"/>
                  </a:moveTo>
                  <a:cubicBezTo>
                    <a:pt x="0" y="66929"/>
                    <a:pt x="66929" y="0"/>
                    <a:pt x="149479" y="0"/>
                  </a:cubicBezTo>
                  <a:lnTo>
                    <a:pt x="12590907" y="0"/>
                  </a:lnTo>
                  <a:cubicBezTo>
                    <a:pt x="12673457" y="0"/>
                    <a:pt x="12740386" y="66929"/>
                    <a:pt x="12740386" y="149479"/>
                  </a:cubicBezTo>
                  <a:lnTo>
                    <a:pt x="12740386" y="840867"/>
                  </a:lnTo>
                  <a:cubicBezTo>
                    <a:pt x="12740386" y="923417"/>
                    <a:pt x="12673457" y="990346"/>
                    <a:pt x="12590907" y="990346"/>
                  </a:cubicBezTo>
                  <a:lnTo>
                    <a:pt x="149479" y="990346"/>
                  </a:lnTo>
                  <a:cubicBezTo>
                    <a:pt x="66929" y="990346"/>
                    <a:pt x="0" y="923417"/>
                    <a:pt x="0" y="840867"/>
                  </a:cubicBezTo>
                  <a:close/>
                </a:path>
              </a:pathLst>
            </a:custGeom>
            <a:solidFill>
              <a:srgbClr val="FFFFFF">
                <a:alpha val="80784"/>
              </a:srgbClr>
            </a:solidFill>
            <a:ln w="15252" cap="sq">
              <a:solidFill>
                <a:srgbClr val="EEE3CD"/>
              </a:solidFill>
              <a:prstDash val="solid"/>
              <a:miter/>
            </a:ln>
          </p:spPr>
        </p:sp>
      </p:grpSp>
      <p:sp>
        <p:nvSpPr>
          <p:cNvPr name="TextBox 9" id="9"/>
          <p:cNvSpPr txBox="true"/>
          <p:nvPr/>
        </p:nvSpPr>
        <p:spPr>
          <a:xfrm rot="0">
            <a:off x="1441561" y="3903964"/>
            <a:ext cx="3568436" cy="282426"/>
          </a:xfrm>
          <a:prstGeom prst="rect">
            <a:avLst/>
          </a:prstGeom>
        </p:spPr>
        <p:txBody>
          <a:bodyPr anchor="t" rtlCol="false" tIns="0" lIns="0" bIns="0" rIns="0">
            <a:spAutoFit/>
          </a:bodyPr>
          <a:lstStyle/>
          <a:p>
            <a:pPr algn="l">
              <a:lnSpc>
                <a:spcPts val="2087"/>
              </a:lnSpc>
            </a:pPr>
            <a:r>
              <a:rPr lang="en-US" sz="1831" b="true">
                <a:solidFill>
                  <a:srgbClr val="122B40"/>
                </a:solidFill>
                <a:latin typeface="Aptos Bold"/>
                <a:ea typeface="Aptos Bold"/>
                <a:cs typeface="Aptos Bold"/>
                <a:sym typeface="Aptos Bold"/>
              </a:rPr>
              <a:t>Retrieve + summarize</a:t>
            </a:r>
          </a:p>
        </p:txBody>
      </p:sp>
      <p:sp>
        <p:nvSpPr>
          <p:cNvPr name="TextBox 10" id="10"/>
          <p:cNvSpPr txBox="true"/>
          <p:nvPr/>
        </p:nvSpPr>
        <p:spPr>
          <a:xfrm rot="0">
            <a:off x="5696845" y="3903964"/>
            <a:ext cx="4501858" cy="282426"/>
          </a:xfrm>
          <a:prstGeom prst="rect">
            <a:avLst/>
          </a:prstGeom>
        </p:spPr>
        <p:txBody>
          <a:bodyPr anchor="t" rtlCol="false" tIns="0" lIns="0" bIns="0" rIns="0">
            <a:spAutoFit/>
          </a:bodyPr>
          <a:lstStyle/>
          <a:p>
            <a:pPr algn="l">
              <a:lnSpc>
                <a:spcPts val="2087"/>
              </a:lnSpc>
            </a:pPr>
            <a:r>
              <a:rPr lang="en-US" sz="1831">
                <a:solidFill>
                  <a:srgbClr val="233A47"/>
                </a:solidFill>
                <a:latin typeface="Aptos"/>
                <a:ea typeface="Aptos"/>
                <a:cs typeface="Aptos"/>
                <a:sym typeface="Aptos"/>
              </a:rPr>
              <a:t>Clinician verifies</a:t>
            </a:r>
          </a:p>
        </p:txBody>
      </p:sp>
      <p:grpSp>
        <p:nvGrpSpPr>
          <p:cNvPr name="Group 11" id="11"/>
          <p:cNvGrpSpPr/>
          <p:nvPr/>
        </p:nvGrpSpPr>
        <p:grpSpPr>
          <a:xfrm rot="0">
            <a:off x="1117968" y="4522194"/>
            <a:ext cx="9555328" cy="742769"/>
            <a:chOff x="0" y="0"/>
            <a:chExt cx="12740437" cy="990359"/>
          </a:xfrm>
        </p:grpSpPr>
        <p:sp>
          <p:nvSpPr>
            <p:cNvPr name="Freeform 12" id="12"/>
            <p:cNvSpPr/>
            <p:nvPr/>
          </p:nvSpPr>
          <p:spPr>
            <a:xfrm flipH="false" flipV="false" rot="0">
              <a:off x="0" y="0"/>
              <a:ext cx="12740386" cy="990346"/>
            </a:xfrm>
            <a:custGeom>
              <a:avLst/>
              <a:gdLst/>
              <a:ahLst/>
              <a:cxnLst/>
              <a:rect r="r" b="b" t="t" l="l"/>
              <a:pathLst>
                <a:path h="990346" w="12740386">
                  <a:moveTo>
                    <a:pt x="0" y="149479"/>
                  </a:moveTo>
                  <a:cubicBezTo>
                    <a:pt x="0" y="66929"/>
                    <a:pt x="66929" y="0"/>
                    <a:pt x="149479" y="0"/>
                  </a:cubicBezTo>
                  <a:lnTo>
                    <a:pt x="12590907" y="0"/>
                  </a:lnTo>
                  <a:cubicBezTo>
                    <a:pt x="12673457" y="0"/>
                    <a:pt x="12740386" y="66929"/>
                    <a:pt x="12740386" y="149479"/>
                  </a:cubicBezTo>
                  <a:lnTo>
                    <a:pt x="12740386" y="840867"/>
                  </a:lnTo>
                  <a:cubicBezTo>
                    <a:pt x="12740386" y="923417"/>
                    <a:pt x="12673457" y="990346"/>
                    <a:pt x="12590907" y="990346"/>
                  </a:cubicBezTo>
                  <a:lnTo>
                    <a:pt x="149479" y="990346"/>
                  </a:lnTo>
                  <a:cubicBezTo>
                    <a:pt x="66929" y="990346"/>
                    <a:pt x="0" y="923417"/>
                    <a:pt x="0" y="840867"/>
                  </a:cubicBezTo>
                  <a:close/>
                </a:path>
              </a:pathLst>
            </a:custGeom>
            <a:solidFill>
              <a:srgbClr val="FFF9EF">
                <a:alpha val="80784"/>
              </a:srgbClr>
            </a:solidFill>
            <a:ln w="15252" cap="sq">
              <a:solidFill>
                <a:srgbClr val="EEE3CD"/>
              </a:solidFill>
              <a:prstDash val="solid"/>
              <a:miter/>
            </a:ln>
          </p:spPr>
        </p:sp>
      </p:grpSp>
      <p:sp>
        <p:nvSpPr>
          <p:cNvPr name="TextBox 13" id="13"/>
          <p:cNvSpPr txBox="true"/>
          <p:nvPr/>
        </p:nvSpPr>
        <p:spPr>
          <a:xfrm rot="0">
            <a:off x="1441561" y="4755023"/>
            <a:ext cx="3568436" cy="282426"/>
          </a:xfrm>
          <a:prstGeom prst="rect">
            <a:avLst/>
          </a:prstGeom>
        </p:spPr>
        <p:txBody>
          <a:bodyPr anchor="t" rtlCol="false" tIns="0" lIns="0" bIns="0" rIns="0">
            <a:spAutoFit/>
          </a:bodyPr>
          <a:lstStyle/>
          <a:p>
            <a:pPr algn="l">
              <a:lnSpc>
                <a:spcPts val="2087"/>
              </a:lnSpc>
            </a:pPr>
            <a:r>
              <a:rPr lang="en-US" sz="1831" b="true">
                <a:solidFill>
                  <a:srgbClr val="122B40"/>
                </a:solidFill>
                <a:latin typeface="Aptos Bold"/>
                <a:ea typeface="Aptos Bold"/>
                <a:cs typeface="Aptos Bold"/>
                <a:sym typeface="Aptos Bold"/>
              </a:rPr>
              <a:t>Draft documentation</a:t>
            </a:r>
          </a:p>
        </p:txBody>
      </p:sp>
      <p:sp>
        <p:nvSpPr>
          <p:cNvPr name="TextBox 14" id="14"/>
          <p:cNvSpPr txBox="true"/>
          <p:nvPr/>
        </p:nvSpPr>
        <p:spPr>
          <a:xfrm rot="0">
            <a:off x="5696845" y="4755023"/>
            <a:ext cx="4501858" cy="282426"/>
          </a:xfrm>
          <a:prstGeom prst="rect">
            <a:avLst/>
          </a:prstGeom>
        </p:spPr>
        <p:txBody>
          <a:bodyPr anchor="t" rtlCol="false" tIns="0" lIns="0" bIns="0" rIns="0">
            <a:spAutoFit/>
          </a:bodyPr>
          <a:lstStyle/>
          <a:p>
            <a:pPr algn="l">
              <a:lnSpc>
                <a:spcPts val="2087"/>
              </a:lnSpc>
            </a:pPr>
            <a:r>
              <a:rPr lang="en-US" sz="1831">
                <a:solidFill>
                  <a:srgbClr val="233A47"/>
                </a:solidFill>
                <a:latin typeface="Aptos"/>
                <a:ea typeface="Aptos"/>
                <a:cs typeface="Aptos"/>
                <a:sym typeface="Aptos"/>
              </a:rPr>
              <a:t>Professional approves</a:t>
            </a:r>
          </a:p>
        </p:txBody>
      </p:sp>
      <p:grpSp>
        <p:nvGrpSpPr>
          <p:cNvPr name="Group 15" id="15"/>
          <p:cNvGrpSpPr/>
          <p:nvPr/>
        </p:nvGrpSpPr>
        <p:grpSpPr>
          <a:xfrm rot="0">
            <a:off x="1117968" y="5373253"/>
            <a:ext cx="9555328" cy="742769"/>
            <a:chOff x="0" y="0"/>
            <a:chExt cx="12740437" cy="990359"/>
          </a:xfrm>
        </p:grpSpPr>
        <p:sp>
          <p:nvSpPr>
            <p:cNvPr name="Freeform 16" id="16"/>
            <p:cNvSpPr/>
            <p:nvPr/>
          </p:nvSpPr>
          <p:spPr>
            <a:xfrm flipH="false" flipV="false" rot="0">
              <a:off x="0" y="0"/>
              <a:ext cx="12740386" cy="990346"/>
            </a:xfrm>
            <a:custGeom>
              <a:avLst/>
              <a:gdLst/>
              <a:ahLst/>
              <a:cxnLst/>
              <a:rect r="r" b="b" t="t" l="l"/>
              <a:pathLst>
                <a:path h="990346" w="12740386">
                  <a:moveTo>
                    <a:pt x="0" y="149479"/>
                  </a:moveTo>
                  <a:cubicBezTo>
                    <a:pt x="0" y="66929"/>
                    <a:pt x="66929" y="0"/>
                    <a:pt x="149479" y="0"/>
                  </a:cubicBezTo>
                  <a:lnTo>
                    <a:pt x="12590907" y="0"/>
                  </a:lnTo>
                  <a:cubicBezTo>
                    <a:pt x="12673457" y="0"/>
                    <a:pt x="12740386" y="66929"/>
                    <a:pt x="12740386" y="149479"/>
                  </a:cubicBezTo>
                  <a:lnTo>
                    <a:pt x="12740386" y="840867"/>
                  </a:lnTo>
                  <a:cubicBezTo>
                    <a:pt x="12740386" y="923417"/>
                    <a:pt x="12673457" y="990346"/>
                    <a:pt x="12590907" y="990346"/>
                  </a:cubicBezTo>
                  <a:lnTo>
                    <a:pt x="149479" y="990346"/>
                  </a:lnTo>
                  <a:cubicBezTo>
                    <a:pt x="66929" y="990346"/>
                    <a:pt x="0" y="923417"/>
                    <a:pt x="0" y="840867"/>
                  </a:cubicBezTo>
                  <a:close/>
                </a:path>
              </a:pathLst>
            </a:custGeom>
            <a:solidFill>
              <a:srgbClr val="FFFFFF">
                <a:alpha val="80784"/>
              </a:srgbClr>
            </a:solidFill>
            <a:ln w="15252" cap="sq">
              <a:solidFill>
                <a:srgbClr val="EEE3CD"/>
              </a:solidFill>
              <a:prstDash val="solid"/>
              <a:miter/>
            </a:ln>
          </p:spPr>
        </p:sp>
      </p:grpSp>
      <p:sp>
        <p:nvSpPr>
          <p:cNvPr name="TextBox 17" id="17"/>
          <p:cNvSpPr txBox="true"/>
          <p:nvPr/>
        </p:nvSpPr>
        <p:spPr>
          <a:xfrm rot="0">
            <a:off x="1441561" y="5606082"/>
            <a:ext cx="3568436" cy="282426"/>
          </a:xfrm>
          <a:prstGeom prst="rect">
            <a:avLst/>
          </a:prstGeom>
        </p:spPr>
        <p:txBody>
          <a:bodyPr anchor="t" rtlCol="false" tIns="0" lIns="0" bIns="0" rIns="0">
            <a:spAutoFit/>
          </a:bodyPr>
          <a:lstStyle/>
          <a:p>
            <a:pPr algn="l">
              <a:lnSpc>
                <a:spcPts val="2087"/>
              </a:lnSpc>
            </a:pPr>
            <a:r>
              <a:rPr lang="en-US" sz="1831" b="true">
                <a:solidFill>
                  <a:srgbClr val="122B40"/>
                </a:solidFill>
                <a:latin typeface="Aptos Bold"/>
                <a:ea typeface="Aptos Bold"/>
                <a:cs typeface="Aptos Bold"/>
                <a:sym typeface="Aptos Bold"/>
              </a:rPr>
              <a:t>Contact patient</a:t>
            </a:r>
          </a:p>
        </p:txBody>
      </p:sp>
      <p:sp>
        <p:nvSpPr>
          <p:cNvPr name="TextBox 18" id="18"/>
          <p:cNvSpPr txBox="true"/>
          <p:nvPr/>
        </p:nvSpPr>
        <p:spPr>
          <a:xfrm rot="0">
            <a:off x="5696845" y="5606082"/>
            <a:ext cx="4501858" cy="282426"/>
          </a:xfrm>
          <a:prstGeom prst="rect">
            <a:avLst/>
          </a:prstGeom>
        </p:spPr>
        <p:txBody>
          <a:bodyPr anchor="t" rtlCol="false" tIns="0" lIns="0" bIns="0" rIns="0">
            <a:spAutoFit/>
          </a:bodyPr>
          <a:lstStyle/>
          <a:p>
            <a:pPr algn="l">
              <a:lnSpc>
                <a:spcPts val="2087"/>
              </a:lnSpc>
            </a:pPr>
            <a:r>
              <a:rPr lang="en-US" sz="1831">
                <a:solidFill>
                  <a:srgbClr val="233A47"/>
                </a:solidFill>
                <a:latin typeface="Aptos"/>
                <a:ea typeface="Aptos"/>
                <a:cs typeface="Aptos"/>
                <a:sym typeface="Aptos"/>
              </a:rPr>
              <a:t>Authorized sender/reviewer</a:t>
            </a:r>
          </a:p>
        </p:txBody>
      </p:sp>
      <p:grpSp>
        <p:nvGrpSpPr>
          <p:cNvPr name="Group 19" id="19"/>
          <p:cNvGrpSpPr/>
          <p:nvPr/>
        </p:nvGrpSpPr>
        <p:grpSpPr>
          <a:xfrm rot="0">
            <a:off x="1117968" y="6224311"/>
            <a:ext cx="9555328" cy="742769"/>
            <a:chOff x="0" y="0"/>
            <a:chExt cx="12740437" cy="990359"/>
          </a:xfrm>
        </p:grpSpPr>
        <p:sp>
          <p:nvSpPr>
            <p:cNvPr name="Freeform 20" id="20"/>
            <p:cNvSpPr/>
            <p:nvPr/>
          </p:nvSpPr>
          <p:spPr>
            <a:xfrm flipH="false" flipV="false" rot="0">
              <a:off x="0" y="0"/>
              <a:ext cx="12740386" cy="990346"/>
            </a:xfrm>
            <a:custGeom>
              <a:avLst/>
              <a:gdLst/>
              <a:ahLst/>
              <a:cxnLst/>
              <a:rect r="r" b="b" t="t" l="l"/>
              <a:pathLst>
                <a:path h="990346" w="12740386">
                  <a:moveTo>
                    <a:pt x="0" y="149479"/>
                  </a:moveTo>
                  <a:cubicBezTo>
                    <a:pt x="0" y="66929"/>
                    <a:pt x="66929" y="0"/>
                    <a:pt x="149479" y="0"/>
                  </a:cubicBezTo>
                  <a:lnTo>
                    <a:pt x="12590907" y="0"/>
                  </a:lnTo>
                  <a:cubicBezTo>
                    <a:pt x="12673457" y="0"/>
                    <a:pt x="12740386" y="66929"/>
                    <a:pt x="12740386" y="149479"/>
                  </a:cubicBezTo>
                  <a:lnTo>
                    <a:pt x="12740386" y="840867"/>
                  </a:lnTo>
                  <a:cubicBezTo>
                    <a:pt x="12740386" y="923417"/>
                    <a:pt x="12673457" y="990346"/>
                    <a:pt x="12590907" y="990346"/>
                  </a:cubicBezTo>
                  <a:lnTo>
                    <a:pt x="149479" y="990346"/>
                  </a:lnTo>
                  <a:cubicBezTo>
                    <a:pt x="66929" y="990346"/>
                    <a:pt x="0" y="923417"/>
                    <a:pt x="0" y="840867"/>
                  </a:cubicBezTo>
                  <a:close/>
                </a:path>
              </a:pathLst>
            </a:custGeom>
            <a:solidFill>
              <a:srgbClr val="FFF9EF">
                <a:alpha val="80784"/>
              </a:srgbClr>
            </a:solidFill>
            <a:ln w="15252" cap="sq">
              <a:solidFill>
                <a:srgbClr val="EEE3CD"/>
              </a:solidFill>
              <a:prstDash val="solid"/>
              <a:miter/>
            </a:ln>
          </p:spPr>
        </p:sp>
      </p:grpSp>
      <p:sp>
        <p:nvSpPr>
          <p:cNvPr name="TextBox 21" id="21"/>
          <p:cNvSpPr txBox="true"/>
          <p:nvPr/>
        </p:nvSpPr>
        <p:spPr>
          <a:xfrm rot="0">
            <a:off x="1441561" y="6457140"/>
            <a:ext cx="3568436" cy="282426"/>
          </a:xfrm>
          <a:prstGeom prst="rect">
            <a:avLst/>
          </a:prstGeom>
        </p:spPr>
        <p:txBody>
          <a:bodyPr anchor="t" rtlCol="false" tIns="0" lIns="0" bIns="0" rIns="0">
            <a:spAutoFit/>
          </a:bodyPr>
          <a:lstStyle/>
          <a:p>
            <a:pPr algn="l">
              <a:lnSpc>
                <a:spcPts val="2087"/>
              </a:lnSpc>
            </a:pPr>
            <a:r>
              <a:rPr lang="en-US" sz="1831" b="true">
                <a:solidFill>
                  <a:srgbClr val="122B40"/>
                </a:solidFill>
                <a:latin typeface="Aptos Bold"/>
                <a:ea typeface="Aptos Bold"/>
                <a:cs typeface="Aptos Bold"/>
                <a:sym typeface="Aptos Bold"/>
              </a:rPr>
              <a:t>Submit authorization</a:t>
            </a:r>
          </a:p>
        </p:txBody>
      </p:sp>
      <p:sp>
        <p:nvSpPr>
          <p:cNvPr name="TextBox 22" id="22"/>
          <p:cNvSpPr txBox="true"/>
          <p:nvPr/>
        </p:nvSpPr>
        <p:spPr>
          <a:xfrm rot="0">
            <a:off x="5696845" y="6457140"/>
            <a:ext cx="4501858" cy="282426"/>
          </a:xfrm>
          <a:prstGeom prst="rect">
            <a:avLst/>
          </a:prstGeom>
        </p:spPr>
        <p:txBody>
          <a:bodyPr anchor="t" rtlCol="false" tIns="0" lIns="0" bIns="0" rIns="0">
            <a:spAutoFit/>
          </a:bodyPr>
          <a:lstStyle/>
          <a:p>
            <a:pPr algn="l">
              <a:lnSpc>
                <a:spcPts val="2087"/>
              </a:lnSpc>
            </a:pPr>
            <a:r>
              <a:rPr lang="en-US" sz="1831">
                <a:solidFill>
                  <a:srgbClr val="233A47"/>
                </a:solidFill>
                <a:latin typeface="Aptos"/>
                <a:ea typeface="Aptos"/>
                <a:cs typeface="Aptos"/>
                <a:sym typeface="Aptos"/>
              </a:rPr>
              <a:t>Explicit delegation + audit</a:t>
            </a:r>
          </a:p>
        </p:txBody>
      </p:sp>
      <p:grpSp>
        <p:nvGrpSpPr>
          <p:cNvPr name="Group 23" id="23"/>
          <p:cNvGrpSpPr/>
          <p:nvPr/>
        </p:nvGrpSpPr>
        <p:grpSpPr>
          <a:xfrm rot="0">
            <a:off x="1117968" y="7075360"/>
            <a:ext cx="9555328" cy="742769"/>
            <a:chOff x="0" y="0"/>
            <a:chExt cx="12740437" cy="990359"/>
          </a:xfrm>
        </p:grpSpPr>
        <p:sp>
          <p:nvSpPr>
            <p:cNvPr name="Freeform 24" id="24"/>
            <p:cNvSpPr/>
            <p:nvPr/>
          </p:nvSpPr>
          <p:spPr>
            <a:xfrm flipH="false" flipV="false" rot="0">
              <a:off x="0" y="0"/>
              <a:ext cx="12740386" cy="990346"/>
            </a:xfrm>
            <a:custGeom>
              <a:avLst/>
              <a:gdLst/>
              <a:ahLst/>
              <a:cxnLst/>
              <a:rect r="r" b="b" t="t" l="l"/>
              <a:pathLst>
                <a:path h="990346" w="12740386">
                  <a:moveTo>
                    <a:pt x="0" y="149479"/>
                  </a:moveTo>
                  <a:cubicBezTo>
                    <a:pt x="0" y="66929"/>
                    <a:pt x="66929" y="0"/>
                    <a:pt x="149479" y="0"/>
                  </a:cubicBezTo>
                  <a:lnTo>
                    <a:pt x="12590907" y="0"/>
                  </a:lnTo>
                  <a:cubicBezTo>
                    <a:pt x="12673457" y="0"/>
                    <a:pt x="12740386" y="66929"/>
                    <a:pt x="12740386" y="149479"/>
                  </a:cubicBezTo>
                  <a:lnTo>
                    <a:pt x="12740386" y="840867"/>
                  </a:lnTo>
                  <a:cubicBezTo>
                    <a:pt x="12740386" y="923417"/>
                    <a:pt x="12673457" y="990346"/>
                    <a:pt x="12590907" y="990346"/>
                  </a:cubicBezTo>
                  <a:lnTo>
                    <a:pt x="149479" y="990346"/>
                  </a:lnTo>
                  <a:cubicBezTo>
                    <a:pt x="66929" y="990346"/>
                    <a:pt x="0" y="923417"/>
                    <a:pt x="0" y="840867"/>
                  </a:cubicBezTo>
                  <a:close/>
                </a:path>
              </a:pathLst>
            </a:custGeom>
            <a:solidFill>
              <a:srgbClr val="FFFFFF">
                <a:alpha val="80784"/>
              </a:srgbClr>
            </a:solidFill>
            <a:ln w="15252" cap="sq">
              <a:solidFill>
                <a:srgbClr val="EEE3CD"/>
              </a:solidFill>
              <a:prstDash val="solid"/>
              <a:miter/>
            </a:ln>
          </p:spPr>
        </p:sp>
      </p:grpSp>
      <p:sp>
        <p:nvSpPr>
          <p:cNvPr name="TextBox 25" id="25"/>
          <p:cNvSpPr txBox="true"/>
          <p:nvPr/>
        </p:nvSpPr>
        <p:spPr>
          <a:xfrm rot="0">
            <a:off x="1441561" y="7308199"/>
            <a:ext cx="3568436" cy="282426"/>
          </a:xfrm>
          <a:prstGeom prst="rect">
            <a:avLst/>
          </a:prstGeom>
        </p:spPr>
        <p:txBody>
          <a:bodyPr anchor="t" rtlCol="false" tIns="0" lIns="0" bIns="0" rIns="0">
            <a:spAutoFit/>
          </a:bodyPr>
          <a:lstStyle/>
          <a:p>
            <a:pPr algn="l">
              <a:lnSpc>
                <a:spcPts val="2087"/>
              </a:lnSpc>
            </a:pPr>
            <a:r>
              <a:rPr lang="en-US" sz="1831" b="true">
                <a:solidFill>
                  <a:srgbClr val="122B40"/>
                </a:solidFill>
                <a:latin typeface="Aptos Bold"/>
                <a:ea typeface="Aptos Bold"/>
                <a:cs typeface="Aptos Bold"/>
                <a:sym typeface="Aptos Bold"/>
              </a:rPr>
              <a:t>Recommend therapy change</a:t>
            </a:r>
          </a:p>
        </p:txBody>
      </p:sp>
      <p:sp>
        <p:nvSpPr>
          <p:cNvPr name="TextBox 26" id="26"/>
          <p:cNvSpPr txBox="true"/>
          <p:nvPr/>
        </p:nvSpPr>
        <p:spPr>
          <a:xfrm rot="0">
            <a:off x="5696845" y="7308199"/>
            <a:ext cx="4501858" cy="282426"/>
          </a:xfrm>
          <a:prstGeom prst="rect">
            <a:avLst/>
          </a:prstGeom>
        </p:spPr>
        <p:txBody>
          <a:bodyPr anchor="t" rtlCol="false" tIns="0" lIns="0" bIns="0" rIns="0">
            <a:spAutoFit/>
          </a:bodyPr>
          <a:lstStyle/>
          <a:p>
            <a:pPr algn="l">
              <a:lnSpc>
                <a:spcPts val="2087"/>
              </a:lnSpc>
            </a:pPr>
            <a:r>
              <a:rPr lang="en-US" sz="1831">
                <a:solidFill>
                  <a:srgbClr val="233A47"/>
                </a:solidFill>
                <a:latin typeface="Aptos"/>
                <a:ea typeface="Aptos"/>
                <a:cs typeface="Aptos"/>
                <a:sym typeface="Aptos"/>
              </a:rPr>
              <a:t>Licensed professional decides</a:t>
            </a:r>
          </a:p>
        </p:txBody>
      </p:sp>
      <p:grpSp>
        <p:nvGrpSpPr>
          <p:cNvPr name="Group 27" id="27"/>
          <p:cNvGrpSpPr/>
          <p:nvPr/>
        </p:nvGrpSpPr>
        <p:grpSpPr>
          <a:xfrm rot="0">
            <a:off x="11454184" y="3726047"/>
            <a:ext cx="5025504" cy="1936994"/>
            <a:chOff x="0" y="0"/>
            <a:chExt cx="6700672" cy="2582659"/>
          </a:xfrm>
        </p:grpSpPr>
        <p:sp>
          <p:nvSpPr>
            <p:cNvPr name="Freeform 28" id="28"/>
            <p:cNvSpPr/>
            <p:nvPr/>
          </p:nvSpPr>
          <p:spPr>
            <a:xfrm flipH="false" flipV="false" rot="0">
              <a:off x="0" y="0"/>
              <a:ext cx="6700647" cy="2582672"/>
            </a:xfrm>
            <a:custGeom>
              <a:avLst/>
              <a:gdLst/>
              <a:ahLst/>
              <a:cxnLst/>
              <a:rect r="r" b="b" t="t" l="l"/>
              <a:pathLst>
                <a:path h="2582672" w="6700647">
                  <a:moveTo>
                    <a:pt x="0" y="147574"/>
                  </a:moveTo>
                  <a:cubicBezTo>
                    <a:pt x="0" y="66040"/>
                    <a:pt x="66040" y="0"/>
                    <a:pt x="147574" y="0"/>
                  </a:cubicBezTo>
                  <a:lnTo>
                    <a:pt x="6553073" y="0"/>
                  </a:lnTo>
                  <a:cubicBezTo>
                    <a:pt x="6634607" y="0"/>
                    <a:pt x="6700647" y="66040"/>
                    <a:pt x="6700647" y="147574"/>
                  </a:cubicBezTo>
                  <a:lnTo>
                    <a:pt x="6700647" y="2435098"/>
                  </a:lnTo>
                  <a:cubicBezTo>
                    <a:pt x="6700647" y="2516632"/>
                    <a:pt x="6634607" y="2582672"/>
                    <a:pt x="6553073" y="2582672"/>
                  </a:cubicBezTo>
                  <a:lnTo>
                    <a:pt x="147574" y="2582672"/>
                  </a:lnTo>
                  <a:cubicBezTo>
                    <a:pt x="66040" y="2582672"/>
                    <a:pt x="0" y="2516632"/>
                    <a:pt x="0" y="2435098"/>
                  </a:cubicBezTo>
                  <a:close/>
                </a:path>
              </a:pathLst>
            </a:custGeom>
            <a:solidFill>
              <a:srgbClr val="FFFFFF">
                <a:alpha val="80784"/>
              </a:srgbClr>
            </a:solidFill>
            <a:ln w="15252" cap="sq">
              <a:solidFill>
                <a:srgbClr val="CDA349"/>
              </a:solidFill>
              <a:prstDash val="solid"/>
              <a:miter/>
            </a:ln>
          </p:spPr>
        </p:sp>
      </p:grpSp>
      <p:grpSp>
        <p:nvGrpSpPr>
          <p:cNvPr name="Group 29" id="29"/>
          <p:cNvGrpSpPr/>
          <p:nvPr/>
        </p:nvGrpSpPr>
        <p:grpSpPr>
          <a:xfrm rot="0">
            <a:off x="11846166" y="4035657"/>
            <a:ext cx="4241559" cy="1345216"/>
            <a:chOff x="0" y="0"/>
            <a:chExt cx="5655412" cy="1793621"/>
          </a:xfrm>
        </p:grpSpPr>
        <p:sp>
          <p:nvSpPr>
            <p:cNvPr name="Freeform 30" id="30"/>
            <p:cNvSpPr/>
            <p:nvPr/>
          </p:nvSpPr>
          <p:spPr>
            <a:xfrm flipH="false" flipV="false" rot="0">
              <a:off x="0" y="0"/>
              <a:ext cx="5655410" cy="1793625"/>
            </a:xfrm>
            <a:custGeom>
              <a:avLst/>
              <a:gdLst/>
              <a:ahLst/>
              <a:cxnLst/>
              <a:rect r="r" b="b" t="t" l="l"/>
              <a:pathLst>
                <a:path h="1793625" w="5655410">
                  <a:moveTo>
                    <a:pt x="0" y="0"/>
                  </a:moveTo>
                  <a:lnTo>
                    <a:pt x="5655410" y="0"/>
                  </a:lnTo>
                  <a:lnTo>
                    <a:pt x="5655410" y="1793625"/>
                  </a:lnTo>
                  <a:lnTo>
                    <a:pt x="0" y="1793625"/>
                  </a:lnTo>
                  <a:close/>
                </a:path>
              </a:pathLst>
            </a:custGeom>
            <a:blipFill>
              <a:blip r:embed="rId3">
                <a:alphaModFix amt="0"/>
              </a:blip>
              <a:stretch>
                <a:fillRect l="0" t="-11437" r="0" b="-11437"/>
              </a:stretch>
            </a:blipFill>
          </p:spPr>
        </p:sp>
        <p:sp>
          <p:nvSpPr>
            <p:cNvPr name="TextBox 31" id="31"/>
            <p:cNvSpPr txBox="true"/>
            <p:nvPr/>
          </p:nvSpPr>
          <p:spPr>
            <a:xfrm>
              <a:off x="0" y="19050"/>
              <a:ext cx="5655412" cy="1774571"/>
            </a:xfrm>
            <a:prstGeom prst="rect">
              <a:avLst/>
            </a:prstGeom>
          </p:spPr>
          <p:txBody>
            <a:bodyPr anchor="ctr" rtlCol="false" tIns="0" lIns="0" bIns="0" rIns="0"/>
            <a:lstStyle/>
            <a:p>
              <a:pPr algn="ctr">
                <a:lnSpc>
                  <a:spcPts val="3593"/>
                </a:lnSpc>
              </a:pPr>
              <a:r>
                <a:rPr lang="en-US" sz="3152" b="true">
                  <a:solidFill>
                    <a:srgbClr val="122B40"/>
                  </a:solidFill>
                  <a:latin typeface="Aptos Bold"/>
                  <a:ea typeface="Aptos Bold"/>
                  <a:cs typeface="Aptos Bold"/>
                  <a:sym typeface="Aptos Bold"/>
                </a:rPr>
                <a:t>“The task defines the authority.”</a:t>
              </a:r>
            </a:p>
          </p:txBody>
        </p:sp>
      </p:grpSp>
      <p:sp>
        <p:nvSpPr>
          <p:cNvPr name="AutoShape 32" id="32"/>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33" id="33"/>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Authority by task</a:t>
            </a:r>
          </a:p>
        </p:txBody>
      </p:sp>
      <p:sp>
        <p:nvSpPr>
          <p:cNvPr name="TextBox 34" id="34"/>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boundaries.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A PRACTICAL REVIEW METHOD</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The five questions before AI acts</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Use these before AI-supported work moves from information to action.</a:t>
            </a:r>
          </a:p>
        </p:txBody>
      </p:sp>
      <p:sp>
        <p:nvSpPr>
          <p:cNvPr name="TextBox 7" id="7"/>
          <p:cNvSpPr txBox="true"/>
          <p:nvPr/>
        </p:nvSpPr>
        <p:spPr>
          <a:xfrm rot="0">
            <a:off x="1180748" y="3070841"/>
            <a:ext cx="438750" cy="291951"/>
          </a:xfrm>
          <a:prstGeom prst="rect">
            <a:avLst/>
          </a:prstGeom>
        </p:spPr>
        <p:txBody>
          <a:bodyPr anchor="t" rtlCol="false" tIns="0" lIns="0" bIns="0" rIns="0">
            <a:spAutoFit/>
          </a:bodyPr>
          <a:lstStyle/>
          <a:p>
            <a:pPr algn="l">
              <a:lnSpc>
                <a:spcPts val="1882"/>
              </a:lnSpc>
            </a:pPr>
            <a:r>
              <a:rPr lang="en-US" sz="1651" b="true">
                <a:solidFill>
                  <a:srgbClr val="CDA349"/>
                </a:solidFill>
                <a:latin typeface="Aptos Bold"/>
                <a:ea typeface="Aptos Bold"/>
                <a:cs typeface="Aptos Bold"/>
                <a:sym typeface="Aptos Bold"/>
              </a:rPr>
              <a:t>1</a:t>
            </a:r>
          </a:p>
        </p:txBody>
      </p:sp>
      <p:sp>
        <p:nvSpPr>
          <p:cNvPr name="TextBox 8" id="8"/>
          <p:cNvSpPr txBox="true"/>
          <p:nvPr/>
        </p:nvSpPr>
        <p:spPr>
          <a:xfrm rot="0">
            <a:off x="1757277" y="3002204"/>
            <a:ext cx="2882103" cy="333137"/>
          </a:xfrm>
          <a:prstGeom prst="rect">
            <a:avLst/>
          </a:prstGeom>
        </p:spPr>
        <p:txBody>
          <a:bodyPr anchor="t" rtlCol="false" tIns="0" lIns="0" bIns="0" rIns="0">
            <a:spAutoFit/>
          </a:bodyPr>
          <a:lstStyle/>
          <a:p>
            <a:pPr algn="l">
              <a:lnSpc>
                <a:spcPts val="2293"/>
              </a:lnSpc>
            </a:pPr>
            <a:r>
              <a:rPr lang="en-US" sz="2011" b="true">
                <a:solidFill>
                  <a:srgbClr val="122B40"/>
                </a:solidFill>
                <a:latin typeface="Aptos Bold"/>
                <a:ea typeface="Aptos Bold"/>
                <a:cs typeface="Aptos Bold"/>
                <a:sym typeface="Aptos Bold"/>
              </a:rPr>
              <a:t>Who is acting?</a:t>
            </a:r>
          </a:p>
        </p:txBody>
      </p:sp>
      <p:sp>
        <p:nvSpPr>
          <p:cNvPr name="TextBox 9" id="9"/>
          <p:cNvSpPr txBox="true"/>
          <p:nvPr/>
        </p:nvSpPr>
        <p:spPr>
          <a:xfrm rot="0">
            <a:off x="4873238" y="2992679"/>
            <a:ext cx="5764720" cy="342662"/>
          </a:xfrm>
          <a:prstGeom prst="rect">
            <a:avLst/>
          </a:prstGeom>
        </p:spPr>
        <p:txBody>
          <a:bodyPr anchor="t" rtlCol="false" tIns="0" lIns="0" bIns="0" rIns="0">
            <a:spAutoFit/>
          </a:bodyPr>
          <a:lstStyle/>
          <a:p>
            <a:pPr algn="l">
              <a:lnSpc>
                <a:spcPts val="1933"/>
              </a:lnSpc>
            </a:pPr>
            <a:r>
              <a:rPr lang="en-US" sz="1696">
                <a:solidFill>
                  <a:srgbClr val="233A47"/>
                </a:solidFill>
                <a:latin typeface="Aptos"/>
                <a:ea typeface="Aptos"/>
                <a:cs typeface="Aptos"/>
                <a:sym typeface="Aptos"/>
              </a:rPr>
              <a:t>Patient, clinician, pharmacy, payer, or organization?</a:t>
            </a:r>
          </a:p>
        </p:txBody>
      </p:sp>
      <p:sp>
        <p:nvSpPr>
          <p:cNvPr name="AutoShape 10" id="10"/>
          <p:cNvSpPr/>
          <p:nvPr/>
        </p:nvSpPr>
        <p:spPr>
          <a:xfrm rot="2760">
            <a:off x="1176680" y="3523002"/>
            <a:ext cx="9547698" cy="0"/>
          </a:xfrm>
          <a:prstGeom prst="line">
            <a:avLst/>
          </a:prstGeom>
          <a:ln cap="rnd" w="9525">
            <a:solidFill>
              <a:srgbClr val="CDA349">
                <a:alpha val="34902"/>
              </a:srgbClr>
            </a:solidFill>
            <a:prstDash val="solid"/>
            <a:headEnd type="none" len="sm" w="sm"/>
            <a:tailEnd type="none" len="sm" w="sm"/>
          </a:ln>
        </p:spPr>
      </p:sp>
      <p:sp>
        <p:nvSpPr>
          <p:cNvPr name="TextBox 11" id="11"/>
          <p:cNvSpPr txBox="true"/>
          <p:nvPr/>
        </p:nvSpPr>
        <p:spPr>
          <a:xfrm rot="0">
            <a:off x="1180748" y="3963076"/>
            <a:ext cx="438750" cy="291951"/>
          </a:xfrm>
          <a:prstGeom prst="rect">
            <a:avLst/>
          </a:prstGeom>
        </p:spPr>
        <p:txBody>
          <a:bodyPr anchor="t" rtlCol="false" tIns="0" lIns="0" bIns="0" rIns="0">
            <a:spAutoFit/>
          </a:bodyPr>
          <a:lstStyle/>
          <a:p>
            <a:pPr algn="l">
              <a:lnSpc>
                <a:spcPts val="1882"/>
              </a:lnSpc>
            </a:pPr>
            <a:r>
              <a:rPr lang="en-US" sz="1651" b="true">
                <a:solidFill>
                  <a:srgbClr val="CDA349"/>
                </a:solidFill>
                <a:latin typeface="Aptos Bold"/>
                <a:ea typeface="Aptos Bold"/>
                <a:cs typeface="Aptos Bold"/>
                <a:sym typeface="Aptos Bold"/>
              </a:rPr>
              <a:t>2</a:t>
            </a:r>
          </a:p>
        </p:txBody>
      </p:sp>
      <p:sp>
        <p:nvSpPr>
          <p:cNvPr name="TextBox 12" id="12"/>
          <p:cNvSpPr txBox="true"/>
          <p:nvPr/>
        </p:nvSpPr>
        <p:spPr>
          <a:xfrm rot="0">
            <a:off x="1757277" y="3894439"/>
            <a:ext cx="2882103" cy="333137"/>
          </a:xfrm>
          <a:prstGeom prst="rect">
            <a:avLst/>
          </a:prstGeom>
        </p:spPr>
        <p:txBody>
          <a:bodyPr anchor="t" rtlCol="false" tIns="0" lIns="0" bIns="0" rIns="0">
            <a:spAutoFit/>
          </a:bodyPr>
          <a:lstStyle/>
          <a:p>
            <a:pPr algn="l">
              <a:lnSpc>
                <a:spcPts val="2293"/>
              </a:lnSpc>
            </a:pPr>
            <a:r>
              <a:rPr lang="en-US" sz="2011" b="true">
                <a:solidFill>
                  <a:srgbClr val="122B40"/>
                </a:solidFill>
                <a:latin typeface="Aptos Bold"/>
                <a:ea typeface="Aptos Bold"/>
                <a:cs typeface="Aptos Bold"/>
                <a:sym typeface="Aptos Bold"/>
              </a:rPr>
              <a:t>What is the purpose?</a:t>
            </a:r>
          </a:p>
        </p:txBody>
      </p:sp>
      <p:sp>
        <p:nvSpPr>
          <p:cNvPr name="TextBox 13" id="13"/>
          <p:cNvSpPr txBox="true"/>
          <p:nvPr/>
        </p:nvSpPr>
        <p:spPr>
          <a:xfrm rot="0">
            <a:off x="4873238" y="3884914"/>
            <a:ext cx="5764720" cy="342662"/>
          </a:xfrm>
          <a:prstGeom prst="rect">
            <a:avLst/>
          </a:prstGeom>
        </p:spPr>
        <p:txBody>
          <a:bodyPr anchor="t" rtlCol="false" tIns="0" lIns="0" bIns="0" rIns="0">
            <a:spAutoFit/>
          </a:bodyPr>
          <a:lstStyle/>
          <a:p>
            <a:pPr algn="l">
              <a:lnSpc>
                <a:spcPts val="1933"/>
              </a:lnSpc>
            </a:pPr>
            <a:r>
              <a:rPr lang="en-US" sz="1696">
                <a:solidFill>
                  <a:srgbClr val="233A47"/>
                </a:solidFill>
                <a:latin typeface="Aptos"/>
                <a:ea typeface="Aptos"/>
                <a:cs typeface="Aptos"/>
                <a:sym typeface="Aptos"/>
              </a:rPr>
              <a:t>What specific outcome is being pursued?</a:t>
            </a:r>
          </a:p>
        </p:txBody>
      </p:sp>
      <p:sp>
        <p:nvSpPr>
          <p:cNvPr name="AutoShape 14" id="14"/>
          <p:cNvSpPr/>
          <p:nvPr/>
        </p:nvSpPr>
        <p:spPr>
          <a:xfrm rot="2760">
            <a:off x="1176680" y="4415247"/>
            <a:ext cx="9547698" cy="0"/>
          </a:xfrm>
          <a:prstGeom prst="line">
            <a:avLst/>
          </a:prstGeom>
          <a:ln cap="rnd" w="9525">
            <a:solidFill>
              <a:srgbClr val="CDA349">
                <a:alpha val="34902"/>
              </a:srgbClr>
            </a:solidFill>
            <a:prstDash val="solid"/>
            <a:headEnd type="none" len="sm" w="sm"/>
            <a:tailEnd type="none" len="sm" w="sm"/>
          </a:ln>
        </p:spPr>
      </p:sp>
      <p:sp>
        <p:nvSpPr>
          <p:cNvPr name="TextBox 15" id="15"/>
          <p:cNvSpPr txBox="true"/>
          <p:nvPr/>
        </p:nvSpPr>
        <p:spPr>
          <a:xfrm rot="0">
            <a:off x="1180748" y="4855312"/>
            <a:ext cx="438750" cy="291951"/>
          </a:xfrm>
          <a:prstGeom prst="rect">
            <a:avLst/>
          </a:prstGeom>
        </p:spPr>
        <p:txBody>
          <a:bodyPr anchor="t" rtlCol="false" tIns="0" lIns="0" bIns="0" rIns="0">
            <a:spAutoFit/>
          </a:bodyPr>
          <a:lstStyle/>
          <a:p>
            <a:pPr algn="l">
              <a:lnSpc>
                <a:spcPts val="1882"/>
              </a:lnSpc>
            </a:pPr>
            <a:r>
              <a:rPr lang="en-US" sz="1651" b="true">
                <a:solidFill>
                  <a:srgbClr val="CDA349"/>
                </a:solidFill>
                <a:latin typeface="Aptos Bold"/>
                <a:ea typeface="Aptos Bold"/>
                <a:cs typeface="Aptos Bold"/>
                <a:sym typeface="Aptos Bold"/>
              </a:rPr>
              <a:t>3</a:t>
            </a:r>
          </a:p>
        </p:txBody>
      </p:sp>
      <p:sp>
        <p:nvSpPr>
          <p:cNvPr name="TextBox 16" id="16"/>
          <p:cNvSpPr txBox="true"/>
          <p:nvPr/>
        </p:nvSpPr>
        <p:spPr>
          <a:xfrm rot="0">
            <a:off x="1757277" y="4786674"/>
            <a:ext cx="2882103" cy="333137"/>
          </a:xfrm>
          <a:prstGeom prst="rect">
            <a:avLst/>
          </a:prstGeom>
        </p:spPr>
        <p:txBody>
          <a:bodyPr anchor="t" rtlCol="false" tIns="0" lIns="0" bIns="0" rIns="0">
            <a:spAutoFit/>
          </a:bodyPr>
          <a:lstStyle/>
          <a:p>
            <a:pPr algn="l">
              <a:lnSpc>
                <a:spcPts val="2293"/>
              </a:lnSpc>
            </a:pPr>
            <a:r>
              <a:rPr lang="en-US" sz="2011" b="true">
                <a:solidFill>
                  <a:srgbClr val="122B40"/>
                </a:solidFill>
                <a:latin typeface="Aptos Bold"/>
                <a:ea typeface="Aptos Bold"/>
                <a:cs typeface="Aptos Bold"/>
                <a:sym typeface="Aptos Bold"/>
              </a:rPr>
              <a:t>What information is needed?</a:t>
            </a:r>
          </a:p>
        </p:txBody>
      </p:sp>
      <p:sp>
        <p:nvSpPr>
          <p:cNvPr name="TextBox 17" id="17"/>
          <p:cNvSpPr txBox="true"/>
          <p:nvPr/>
        </p:nvSpPr>
        <p:spPr>
          <a:xfrm rot="0">
            <a:off x="4873238" y="4777149"/>
            <a:ext cx="5764720" cy="342662"/>
          </a:xfrm>
          <a:prstGeom prst="rect">
            <a:avLst/>
          </a:prstGeom>
        </p:spPr>
        <p:txBody>
          <a:bodyPr anchor="t" rtlCol="false" tIns="0" lIns="0" bIns="0" rIns="0">
            <a:spAutoFit/>
          </a:bodyPr>
          <a:lstStyle/>
          <a:p>
            <a:pPr algn="l">
              <a:lnSpc>
                <a:spcPts val="1933"/>
              </a:lnSpc>
            </a:pPr>
            <a:r>
              <a:rPr lang="en-US" sz="1696">
                <a:solidFill>
                  <a:srgbClr val="233A47"/>
                </a:solidFill>
                <a:latin typeface="Aptos"/>
                <a:ea typeface="Aptos"/>
                <a:cs typeface="Aptos"/>
                <a:sym typeface="Aptos"/>
              </a:rPr>
              <a:t>Is access limited to this task?</a:t>
            </a:r>
          </a:p>
        </p:txBody>
      </p:sp>
      <p:sp>
        <p:nvSpPr>
          <p:cNvPr name="AutoShape 18" id="18"/>
          <p:cNvSpPr/>
          <p:nvPr/>
        </p:nvSpPr>
        <p:spPr>
          <a:xfrm rot="2760">
            <a:off x="1176680" y="5307482"/>
            <a:ext cx="9547698" cy="0"/>
          </a:xfrm>
          <a:prstGeom prst="line">
            <a:avLst/>
          </a:prstGeom>
          <a:ln cap="rnd" w="9525">
            <a:solidFill>
              <a:srgbClr val="CDA349">
                <a:alpha val="34902"/>
              </a:srgbClr>
            </a:solidFill>
            <a:prstDash val="solid"/>
            <a:headEnd type="none" len="sm" w="sm"/>
            <a:tailEnd type="none" len="sm" w="sm"/>
          </a:ln>
        </p:spPr>
      </p:sp>
      <p:sp>
        <p:nvSpPr>
          <p:cNvPr name="TextBox 19" id="19"/>
          <p:cNvSpPr txBox="true"/>
          <p:nvPr/>
        </p:nvSpPr>
        <p:spPr>
          <a:xfrm rot="0">
            <a:off x="1180748" y="5747547"/>
            <a:ext cx="438750" cy="291951"/>
          </a:xfrm>
          <a:prstGeom prst="rect">
            <a:avLst/>
          </a:prstGeom>
        </p:spPr>
        <p:txBody>
          <a:bodyPr anchor="t" rtlCol="false" tIns="0" lIns="0" bIns="0" rIns="0">
            <a:spAutoFit/>
          </a:bodyPr>
          <a:lstStyle/>
          <a:p>
            <a:pPr algn="l">
              <a:lnSpc>
                <a:spcPts val="1882"/>
              </a:lnSpc>
            </a:pPr>
            <a:r>
              <a:rPr lang="en-US" sz="1651" b="true">
                <a:solidFill>
                  <a:srgbClr val="CDA349"/>
                </a:solidFill>
                <a:latin typeface="Aptos Bold"/>
                <a:ea typeface="Aptos Bold"/>
                <a:cs typeface="Aptos Bold"/>
                <a:sym typeface="Aptos Bold"/>
              </a:rPr>
              <a:t>4</a:t>
            </a:r>
          </a:p>
        </p:txBody>
      </p:sp>
      <p:sp>
        <p:nvSpPr>
          <p:cNvPr name="TextBox 20" id="20"/>
          <p:cNvSpPr txBox="true"/>
          <p:nvPr/>
        </p:nvSpPr>
        <p:spPr>
          <a:xfrm rot="0">
            <a:off x="1757277" y="5678919"/>
            <a:ext cx="2882103" cy="333137"/>
          </a:xfrm>
          <a:prstGeom prst="rect">
            <a:avLst/>
          </a:prstGeom>
        </p:spPr>
        <p:txBody>
          <a:bodyPr anchor="t" rtlCol="false" tIns="0" lIns="0" bIns="0" rIns="0">
            <a:spAutoFit/>
          </a:bodyPr>
          <a:lstStyle/>
          <a:p>
            <a:pPr algn="l">
              <a:lnSpc>
                <a:spcPts val="2293"/>
              </a:lnSpc>
            </a:pPr>
            <a:r>
              <a:rPr lang="en-US" sz="2011" b="true">
                <a:solidFill>
                  <a:srgbClr val="122B40"/>
                </a:solidFill>
                <a:latin typeface="Aptos Bold"/>
                <a:ea typeface="Aptos Bold"/>
                <a:cs typeface="Aptos Bold"/>
                <a:sym typeface="Aptos Bold"/>
              </a:rPr>
              <a:t>What may the AI do?</a:t>
            </a:r>
          </a:p>
        </p:txBody>
      </p:sp>
      <p:sp>
        <p:nvSpPr>
          <p:cNvPr name="TextBox 21" id="21"/>
          <p:cNvSpPr txBox="true"/>
          <p:nvPr/>
        </p:nvSpPr>
        <p:spPr>
          <a:xfrm rot="0">
            <a:off x="4873238" y="5669394"/>
            <a:ext cx="5764720" cy="342662"/>
          </a:xfrm>
          <a:prstGeom prst="rect">
            <a:avLst/>
          </a:prstGeom>
        </p:spPr>
        <p:txBody>
          <a:bodyPr anchor="t" rtlCol="false" tIns="0" lIns="0" bIns="0" rIns="0">
            <a:spAutoFit/>
          </a:bodyPr>
          <a:lstStyle/>
          <a:p>
            <a:pPr algn="l">
              <a:lnSpc>
                <a:spcPts val="1933"/>
              </a:lnSpc>
            </a:pPr>
            <a:r>
              <a:rPr lang="en-US" sz="1696">
                <a:solidFill>
                  <a:srgbClr val="233A47"/>
                </a:solidFill>
                <a:latin typeface="Aptos"/>
                <a:ea typeface="Aptos"/>
                <a:cs typeface="Aptos"/>
                <a:sym typeface="Aptos"/>
              </a:rPr>
              <a:t>Retrieve, summarize, draft, send, submit, modify, or decide?</a:t>
            </a:r>
          </a:p>
        </p:txBody>
      </p:sp>
      <p:sp>
        <p:nvSpPr>
          <p:cNvPr name="AutoShape 22" id="22"/>
          <p:cNvSpPr/>
          <p:nvPr/>
        </p:nvSpPr>
        <p:spPr>
          <a:xfrm rot="2760">
            <a:off x="1176680" y="6199718"/>
            <a:ext cx="9547698" cy="0"/>
          </a:xfrm>
          <a:prstGeom prst="line">
            <a:avLst/>
          </a:prstGeom>
          <a:ln cap="rnd" w="9525">
            <a:solidFill>
              <a:srgbClr val="CDA349">
                <a:alpha val="34902"/>
              </a:srgbClr>
            </a:solidFill>
            <a:prstDash val="solid"/>
            <a:headEnd type="none" len="sm" w="sm"/>
            <a:tailEnd type="none" len="sm" w="sm"/>
          </a:ln>
        </p:spPr>
      </p:sp>
      <p:sp>
        <p:nvSpPr>
          <p:cNvPr name="TextBox 23" id="23"/>
          <p:cNvSpPr txBox="true"/>
          <p:nvPr/>
        </p:nvSpPr>
        <p:spPr>
          <a:xfrm rot="0">
            <a:off x="1180748" y="6639782"/>
            <a:ext cx="438750" cy="291951"/>
          </a:xfrm>
          <a:prstGeom prst="rect">
            <a:avLst/>
          </a:prstGeom>
        </p:spPr>
        <p:txBody>
          <a:bodyPr anchor="t" rtlCol="false" tIns="0" lIns="0" bIns="0" rIns="0">
            <a:spAutoFit/>
          </a:bodyPr>
          <a:lstStyle/>
          <a:p>
            <a:pPr algn="l">
              <a:lnSpc>
                <a:spcPts val="1882"/>
              </a:lnSpc>
            </a:pPr>
            <a:r>
              <a:rPr lang="en-US" sz="1651" b="true">
                <a:solidFill>
                  <a:srgbClr val="CDA349"/>
                </a:solidFill>
                <a:latin typeface="Aptos Bold"/>
                <a:ea typeface="Aptos Bold"/>
                <a:cs typeface="Aptos Bold"/>
                <a:sym typeface="Aptos Bold"/>
              </a:rPr>
              <a:t>5</a:t>
            </a:r>
          </a:p>
        </p:txBody>
      </p:sp>
      <p:sp>
        <p:nvSpPr>
          <p:cNvPr name="TextBox 24" id="24"/>
          <p:cNvSpPr txBox="true"/>
          <p:nvPr/>
        </p:nvSpPr>
        <p:spPr>
          <a:xfrm rot="0">
            <a:off x="1757277" y="6571155"/>
            <a:ext cx="2882103" cy="333137"/>
          </a:xfrm>
          <a:prstGeom prst="rect">
            <a:avLst/>
          </a:prstGeom>
        </p:spPr>
        <p:txBody>
          <a:bodyPr anchor="t" rtlCol="false" tIns="0" lIns="0" bIns="0" rIns="0">
            <a:spAutoFit/>
          </a:bodyPr>
          <a:lstStyle/>
          <a:p>
            <a:pPr algn="l">
              <a:lnSpc>
                <a:spcPts val="2293"/>
              </a:lnSpc>
            </a:pPr>
            <a:r>
              <a:rPr lang="en-US" sz="2011" b="true">
                <a:solidFill>
                  <a:srgbClr val="122B40"/>
                </a:solidFill>
                <a:latin typeface="Aptos Bold"/>
                <a:ea typeface="Aptos Bold"/>
                <a:cs typeface="Aptos Bold"/>
                <a:sym typeface="Aptos Bold"/>
              </a:rPr>
              <a:t>What review is required?</a:t>
            </a:r>
          </a:p>
        </p:txBody>
      </p:sp>
      <p:sp>
        <p:nvSpPr>
          <p:cNvPr name="TextBox 25" id="25"/>
          <p:cNvSpPr txBox="true"/>
          <p:nvPr/>
        </p:nvSpPr>
        <p:spPr>
          <a:xfrm rot="0">
            <a:off x="4873238" y="6561630"/>
            <a:ext cx="5764720" cy="342662"/>
          </a:xfrm>
          <a:prstGeom prst="rect">
            <a:avLst/>
          </a:prstGeom>
        </p:spPr>
        <p:txBody>
          <a:bodyPr anchor="t" rtlCol="false" tIns="0" lIns="0" bIns="0" rIns="0">
            <a:spAutoFit/>
          </a:bodyPr>
          <a:lstStyle/>
          <a:p>
            <a:pPr algn="l">
              <a:lnSpc>
                <a:spcPts val="1933"/>
              </a:lnSpc>
            </a:pPr>
            <a:r>
              <a:rPr lang="en-US" sz="1696">
                <a:solidFill>
                  <a:srgbClr val="233A47"/>
                </a:solidFill>
                <a:latin typeface="Aptos"/>
                <a:ea typeface="Aptos"/>
                <a:cs typeface="Aptos"/>
                <a:sym typeface="Aptos"/>
              </a:rPr>
              <a:t>Who confirms the action, and who remains accountable?</a:t>
            </a:r>
          </a:p>
        </p:txBody>
      </p:sp>
      <p:sp>
        <p:nvSpPr>
          <p:cNvPr name="AutoShape 26" id="26"/>
          <p:cNvSpPr/>
          <p:nvPr/>
        </p:nvSpPr>
        <p:spPr>
          <a:xfrm rot="2760">
            <a:off x="1176680" y="7091953"/>
            <a:ext cx="9547698" cy="0"/>
          </a:xfrm>
          <a:prstGeom prst="line">
            <a:avLst/>
          </a:prstGeom>
          <a:ln cap="rnd" w="9525">
            <a:solidFill>
              <a:srgbClr val="CDA349">
                <a:alpha val="34902"/>
              </a:srgbClr>
            </a:solidFill>
            <a:prstDash val="solid"/>
            <a:headEnd type="none" len="sm" w="sm"/>
            <a:tailEnd type="none" len="sm" w="sm"/>
          </a:ln>
        </p:spPr>
      </p:sp>
      <p:sp>
        <p:nvSpPr>
          <p:cNvPr name="AutoShape 27" id="27"/>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28" id="28"/>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Five-question review</a:t>
            </a:r>
          </a:p>
        </p:txBody>
      </p:sp>
      <p:sp>
        <p:nvSpPr>
          <p:cNvPr name="TextBox 29" id="29"/>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human.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KNOWLEDGE CHECK 2</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Drafting is not the same as sending</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An AI drafts a patient message about missing lab work and then sends it automatically.</a:t>
            </a:r>
          </a:p>
        </p:txBody>
      </p:sp>
      <p:sp>
        <p:nvSpPr>
          <p:cNvPr name="TextBox 7" id="7"/>
          <p:cNvSpPr txBox="true"/>
          <p:nvPr/>
        </p:nvSpPr>
        <p:spPr>
          <a:xfrm rot="0">
            <a:off x="1125845" y="3094091"/>
            <a:ext cx="9745466" cy="460877"/>
          </a:xfrm>
          <a:prstGeom prst="rect">
            <a:avLst/>
          </a:prstGeom>
        </p:spPr>
        <p:txBody>
          <a:bodyPr anchor="t" rtlCol="false" tIns="0" lIns="0" bIns="0" rIns="0">
            <a:spAutoFit/>
          </a:bodyPr>
          <a:lstStyle/>
          <a:p>
            <a:pPr algn="l">
              <a:lnSpc>
                <a:spcPts val="3080"/>
              </a:lnSpc>
            </a:pPr>
            <a:r>
              <a:rPr lang="en-US" sz="2702" b="true">
                <a:solidFill>
                  <a:srgbClr val="122B40"/>
                </a:solidFill>
                <a:latin typeface="Aptos Bold"/>
                <a:ea typeface="Aptos Bold"/>
                <a:cs typeface="Aptos Bold"/>
                <a:sym typeface="Aptos Bold"/>
              </a:rPr>
              <a:t>What is the most important governance concern?</a:t>
            </a:r>
          </a:p>
        </p:txBody>
      </p:sp>
      <p:grpSp>
        <p:nvGrpSpPr>
          <p:cNvPr name="Group 8" id="8"/>
          <p:cNvGrpSpPr/>
          <p:nvPr/>
        </p:nvGrpSpPr>
        <p:grpSpPr>
          <a:xfrm rot="0">
            <a:off x="1227782" y="3945674"/>
            <a:ext cx="9486690" cy="701592"/>
            <a:chOff x="0" y="0"/>
            <a:chExt cx="12648921" cy="935457"/>
          </a:xfrm>
        </p:grpSpPr>
        <p:sp>
          <p:nvSpPr>
            <p:cNvPr name="Freeform 9" id="9"/>
            <p:cNvSpPr/>
            <p:nvPr/>
          </p:nvSpPr>
          <p:spPr>
            <a:xfrm flipH="false" flipV="false" rot="0">
              <a:off x="0" y="0"/>
              <a:ext cx="12648946" cy="935482"/>
            </a:xfrm>
            <a:custGeom>
              <a:avLst/>
              <a:gdLst/>
              <a:ahLst/>
              <a:cxnLst/>
              <a:rect r="r" b="b" t="t" l="l"/>
              <a:pathLst>
                <a:path h="935482" w="12648946">
                  <a:moveTo>
                    <a:pt x="0" y="149733"/>
                  </a:moveTo>
                  <a:cubicBezTo>
                    <a:pt x="0" y="67056"/>
                    <a:pt x="67056" y="0"/>
                    <a:pt x="149733" y="0"/>
                  </a:cubicBezTo>
                  <a:lnTo>
                    <a:pt x="12499213" y="0"/>
                  </a:lnTo>
                  <a:cubicBezTo>
                    <a:pt x="12581890" y="0"/>
                    <a:pt x="12648946" y="67056"/>
                    <a:pt x="12648946" y="149733"/>
                  </a:cubicBezTo>
                  <a:lnTo>
                    <a:pt x="12648946" y="785749"/>
                  </a:lnTo>
                  <a:cubicBezTo>
                    <a:pt x="12648946" y="868426"/>
                    <a:pt x="12581890" y="935482"/>
                    <a:pt x="12499213" y="935482"/>
                  </a:cubicBezTo>
                  <a:lnTo>
                    <a:pt x="149733" y="935482"/>
                  </a:lnTo>
                  <a:cubicBezTo>
                    <a:pt x="67056" y="935482"/>
                    <a:pt x="0" y="868426"/>
                    <a:pt x="0" y="785749"/>
                  </a:cubicBezTo>
                  <a:close/>
                </a:path>
              </a:pathLst>
            </a:custGeom>
            <a:solidFill>
              <a:srgbClr val="FFFFFF">
                <a:alpha val="80784"/>
              </a:srgbClr>
            </a:solidFill>
            <a:ln w="15252" cap="sq">
              <a:solidFill>
                <a:srgbClr val="EEE3CD"/>
              </a:solidFill>
              <a:prstDash val="solid"/>
              <a:miter/>
            </a:ln>
          </p:spPr>
        </p:sp>
      </p:grpSp>
      <p:sp>
        <p:nvSpPr>
          <p:cNvPr name="TextBox 10" id="10"/>
          <p:cNvSpPr txBox="true"/>
          <p:nvPr/>
        </p:nvSpPr>
        <p:spPr>
          <a:xfrm rot="0">
            <a:off x="1510198" y="4141527"/>
            <a:ext cx="8853230" cy="291951"/>
          </a:xfrm>
          <a:prstGeom prst="rect">
            <a:avLst/>
          </a:prstGeom>
        </p:spPr>
        <p:txBody>
          <a:bodyPr anchor="t" rtlCol="false" tIns="0" lIns="0" bIns="0" rIns="0">
            <a:spAutoFit/>
          </a:bodyPr>
          <a:lstStyle/>
          <a:p>
            <a:pPr algn="l">
              <a:lnSpc>
                <a:spcPts val="2104"/>
              </a:lnSpc>
            </a:pPr>
            <a:r>
              <a:rPr lang="en-US" sz="1846">
                <a:solidFill>
                  <a:srgbClr val="122B40"/>
                </a:solidFill>
                <a:latin typeface="Aptos"/>
                <a:ea typeface="Aptos"/>
                <a:cs typeface="Aptos"/>
                <a:sym typeface="Aptos"/>
              </a:rPr>
              <a:t>A. The AI should use more conversational language</a:t>
            </a:r>
          </a:p>
        </p:txBody>
      </p:sp>
      <p:grpSp>
        <p:nvGrpSpPr>
          <p:cNvPr name="Group 11" id="11"/>
          <p:cNvGrpSpPr/>
          <p:nvPr/>
        </p:nvGrpSpPr>
        <p:grpSpPr>
          <a:xfrm rot="0">
            <a:off x="1227782" y="4796723"/>
            <a:ext cx="9486690" cy="701592"/>
            <a:chOff x="0" y="0"/>
            <a:chExt cx="12648921" cy="935457"/>
          </a:xfrm>
        </p:grpSpPr>
        <p:sp>
          <p:nvSpPr>
            <p:cNvPr name="Freeform 12" id="12"/>
            <p:cNvSpPr/>
            <p:nvPr/>
          </p:nvSpPr>
          <p:spPr>
            <a:xfrm flipH="false" flipV="false" rot="0">
              <a:off x="0" y="0"/>
              <a:ext cx="12648946" cy="935482"/>
            </a:xfrm>
            <a:custGeom>
              <a:avLst/>
              <a:gdLst/>
              <a:ahLst/>
              <a:cxnLst/>
              <a:rect r="r" b="b" t="t" l="l"/>
              <a:pathLst>
                <a:path h="935482" w="12648946">
                  <a:moveTo>
                    <a:pt x="0" y="149733"/>
                  </a:moveTo>
                  <a:cubicBezTo>
                    <a:pt x="0" y="67056"/>
                    <a:pt x="67056" y="0"/>
                    <a:pt x="149733" y="0"/>
                  </a:cubicBezTo>
                  <a:lnTo>
                    <a:pt x="12499213" y="0"/>
                  </a:lnTo>
                  <a:cubicBezTo>
                    <a:pt x="12581890" y="0"/>
                    <a:pt x="12648946" y="67056"/>
                    <a:pt x="12648946" y="149733"/>
                  </a:cubicBezTo>
                  <a:lnTo>
                    <a:pt x="12648946" y="785749"/>
                  </a:lnTo>
                  <a:cubicBezTo>
                    <a:pt x="12648946" y="868426"/>
                    <a:pt x="12581890" y="935482"/>
                    <a:pt x="12499213" y="935482"/>
                  </a:cubicBezTo>
                  <a:lnTo>
                    <a:pt x="149733" y="935482"/>
                  </a:lnTo>
                  <a:cubicBezTo>
                    <a:pt x="67056" y="935482"/>
                    <a:pt x="0" y="868426"/>
                    <a:pt x="0" y="785749"/>
                  </a:cubicBezTo>
                  <a:close/>
                </a:path>
              </a:pathLst>
            </a:custGeom>
            <a:solidFill>
              <a:srgbClr val="FFFFFF">
                <a:alpha val="80784"/>
              </a:srgbClr>
            </a:solidFill>
            <a:ln w="15252" cap="sq">
              <a:solidFill>
                <a:srgbClr val="EEE3CD"/>
              </a:solidFill>
              <a:prstDash val="solid"/>
              <a:miter/>
            </a:ln>
          </p:spPr>
        </p:sp>
      </p:grpSp>
      <p:sp>
        <p:nvSpPr>
          <p:cNvPr name="TextBox 13" id="13"/>
          <p:cNvSpPr txBox="true"/>
          <p:nvPr/>
        </p:nvSpPr>
        <p:spPr>
          <a:xfrm rot="0">
            <a:off x="1510198" y="4992576"/>
            <a:ext cx="8853230" cy="291951"/>
          </a:xfrm>
          <a:prstGeom prst="rect">
            <a:avLst/>
          </a:prstGeom>
        </p:spPr>
        <p:txBody>
          <a:bodyPr anchor="t" rtlCol="false" tIns="0" lIns="0" bIns="0" rIns="0">
            <a:spAutoFit/>
          </a:bodyPr>
          <a:lstStyle/>
          <a:p>
            <a:pPr algn="l">
              <a:lnSpc>
                <a:spcPts val="2104"/>
              </a:lnSpc>
            </a:pPr>
            <a:r>
              <a:rPr lang="en-US" sz="1846" b="true">
                <a:solidFill>
                  <a:srgbClr val="122B40"/>
                </a:solidFill>
                <a:latin typeface="Aptos Bold"/>
                <a:ea typeface="Aptos Bold"/>
                <a:cs typeface="Aptos Bold"/>
                <a:sym typeface="Aptos Bold"/>
              </a:rPr>
              <a:t>B. Sending is a delegated action that requires defined authority and review</a:t>
            </a:r>
          </a:p>
        </p:txBody>
      </p:sp>
      <p:grpSp>
        <p:nvGrpSpPr>
          <p:cNvPr name="Group 14" id="14"/>
          <p:cNvGrpSpPr/>
          <p:nvPr/>
        </p:nvGrpSpPr>
        <p:grpSpPr>
          <a:xfrm rot="0">
            <a:off x="1227782" y="5647782"/>
            <a:ext cx="9486690" cy="701592"/>
            <a:chOff x="0" y="0"/>
            <a:chExt cx="12648921" cy="935457"/>
          </a:xfrm>
        </p:grpSpPr>
        <p:sp>
          <p:nvSpPr>
            <p:cNvPr name="Freeform 15" id="15"/>
            <p:cNvSpPr/>
            <p:nvPr/>
          </p:nvSpPr>
          <p:spPr>
            <a:xfrm flipH="false" flipV="false" rot="0">
              <a:off x="0" y="0"/>
              <a:ext cx="12648946" cy="935482"/>
            </a:xfrm>
            <a:custGeom>
              <a:avLst/>
              <a:gdLst/>
              <a:ahLst/>
              <a:cxnLst/>
              <a:rect r="r" b="b" t="t" l="l"/>
              <a:pathLst>
                <a:path h="935482" w="12648946">
                  <a:moveTo>
                    <a:pt x="0" y="149733"/>
                  </a:moveTo>
                  <a:cubicBezTo>
                    <a:pt x="0" y="67056"/>
                    <a:pt x="67056" y="0"/>
                    <a:pt x="149733" y="0"/>
                  </a:cubicBezTo>
                  <a:lnTo>
                    <a:pt x="12499213" y="0"/>
                  </a:lnTo>
                  <a:cubicBezTo>
                    <a:pt x="12581890" y="0"/>
                    <a:pt x="12648946" y="67056"/>
                    <a:pt x="12648946" y="149733"/>
                  </a:cubicBezTo>
                  <a:lnTo>
                    <a:pt x="12648946" y="785749"/>
                  </a:lnTo>
                  <a:cubicBezTo>
                    <a:pt x="12648946" y="868426"/>
                    <a:pt x="12581890" y="935482"/>
                    <a:pt x="12499213" y="935482"/>
                  </a:cubicBezTo>
                  <a:lnTo>
                    <a:pt x="149733" y="935482"/>
                  </a:lnTo>
                  <a:cubicBezTo>
                    <a:pt x="67056" y="935482"/>
                    <a:pt x="0" y="868426"/>
                    <a:pt x="0" y="785749"/>
                  </a:cubicBezTo>
                  <a:close/>
                </a:path>
              </a:pathLst>
            </a:custGeom>
            <a:solidFill>
              <a:srgbClr val="FFFFFF">
                <a:alpha val="80784"/>
              </a:srgbClr>
            </a:solidFill>
            <a:ln w="15252" cap="sq">
              <a:solidFill>
                <a:srgbClr val="EEE3CD"/>
              </a:solidFill>
              <a:prstDash val="solid"/>
              <a:miter/>
            </a:ln>
          </p:spPr>
        </p:sp>
      </p:grpSp>
      <p:sp>
        <p:nvSpPr>
          <p:cNvPr name="TextBox 16" id="16"/>
          <p:cNvSpPr txBox="true"/>
          <p:nvPr/>
        </p:nvSpPr>
        <p:spPr>
          <a:xfrm rot="0">
            <a:off x="1510198" y="5843635"/>
            <a:ext cx="8853230" cy="291951"/>
          </a:xfrm>
          <a:prstGeom prst="rect">
            <a:avLst/>
          </a:prstGeom>
        </p:spPr>
        <p:txBody>
          <a:bodyPr anchor="t" rtlCol="false" tIns="0" lIns="0" bIns="0" rIns="0">
            <a:spAutoFit/>
          </a:bodyPr>
          <a:lstStyle/>
          <a:p>
            <a:pPr algn="l">
              <a:lnSpc>
                <a:spcPts val="2104"/>
              </a:lnSpc>
            </a:pPr>
            <a:r>
              <a:rPr lang="en-US" sz="1846">
                <a:solidFill>
                  <a:srgbClr val="122B40"/>
                </a:solidFill>
                <a:latin typeface="Aptos"/>
                <a:ea typeface="Aptos"/>
                <a:cs typeface="Aptos"/>
                <a:sym typeface="Aptos"/>
              </a:rPr>
              <a:t>C. The message should be shorter</a:t>
            </a:r>
          </a:p>
        </p:txBody>
      </p:sp>
      <p:grpSp>
        <p:nvGrpSpPr>
          <p:cNvPr name="Group 17" id="17"/>
          <p:cNvGrpSpPr/>
          <p:nvPr/>
        </p:nvGrpSpPr>
        <p:grpSpPr>
          <a:xfrm rot="0">
            <a:off x="1227782" y="6498841"/>
            <a:ext cx="9486690" cy="701592"/>
            <a:chOff x="0" y="0"/>
            <a:chExt cx="12648921" cy="935457"/>
          </a:xfrm>
        </p:grpSpPr>
        <p:sp>
          <p:nvSpPr>
            <p:cNvPr name="Freeform 18" id="18"/>
            <p:cNvSpPr/>
            <p:nvPr/>
          </p:nvSpPr>
          <p:spPr>
            <a:xfrm flipH="false" flipV="false" rot="0">
              <a:off x="0" y="0"/>
              <a:ext cx="12648946" cy="935482"/>
            </a:xfrm>
            <a:custGeom>
              <a:avLst/>
              <a:gdLst/>
              <a:ahLst/>
              <a:cxnLst/>
              <a:rect r="r" b="b" t="t" l="l"/>
              <a:pathLst>
                <a:path h="935482" w="12648946">
                  <a:moveTo>
                    <a:pt x="0" y="149733"/>
                  </a:moveTo>
                  <a:cubicBezTo>
                    <a:pt x="0" y="67056"/>
                    <a:pt x="67056" y="0"/>
                    <a:pt x="149733" y="0"/>
                  </a:cubicBezTo>
                  <a:lnTo>
                    <a:pt x="12499213" y="0"/>
                  </a:lnTo>
                  <a:cubicBezTo>
                    <a:pt x="12581890" y="0"/>
                    <a:pt x="12648946" y="67056"/>
                    <a:pt x="12648946" y="149733"/>
                  </a:cubicBezTo>
                  <a:lnTo>
                    <a:pt x="12648946" y="785749"/>
                  </a:lnTo>
                  <a:cubicBezTo>
                    <a:pt x="12648946" y="868426"/>
                    <a:pt x="12581890" y="935482"/>
                    <a:pt x="12499213" y="935482"/>
                  </a:cubicBezTo>
                  <a:lnTo>
                    <a:pt x="149733" y="935482"/>
                  </a:lnTo>
                  <a:cubicBezTo>
                    <a:pt x="67056" y="935482"/>
                    <a:pt x="0" y="868426"/>
                    <a:pt x="0" y="785749"/>
                  </a:cubicBezTo>
                  <a:close/>
                </a:path>
              </a:pathLst>
            </a:custGeom>
            <a:solidFill>
              <a:srgbClr val="FFFFFF">
                <a:alpha val="80784"/>
              </a:srgbClr>
            </a:solidFill>
            <a:ln w="15252" cap="sq">
              <a:solidFill>
                <a:srgbClr val="EEE3CD"/>
              </a:solidFill>
              <a:prstDash val="solid"/>
              <a:miter/>
            </a:ln>
          </p:spPr>
        </p:sp>
      </p:grpSp>
      <p:sp>
        <p:nvSpPr>
          <p:cNvPr name="TextBox 19" id="19"/>
          <p:cNvSpPr txBox="true"/>
          <p:nvPr/>
        </p:nvSpPr>
        <p:spPr>
          <a:xfrm rot="0">
            <a:off x="1510198" y="6694694"/>
            <a:ext cx="8853230" cy="291951"/>
          </a:xfrm>
          <a:prstGeom prst="rect">
            <a:avLst/>
          </a:prstGeom>
        </p:spPr>
        <p:txBody>
          <a:bodyPr anchor="t" rtlCol="false" tIns="0" lIns="0" bIns="0" rIns="0">
            <a:spAutoFit/>
          </a:bodyPr>
          <a:lstStyle/>
          <a:p>
            <a:pPr algn="l">
              <a:lnSpc>
                <a:spcPts val="2104"/>
              </a:lnSpc>
            </a:pPr>
            <a:r>
              <a:rPr lang="en-US" sz="1846">
                <a:solidFill>
                  <a:srgbClr val="122B40"/>
                </a:solidFill>
                <a:latin typeface="Aptos"/>
                <a:ea typeface="Aptos"/>
                <a:cs typeface="Aptos"/>
                <a:sym typeface="Aptos"/>
              </a:rPr>
              <a:t>D. The AI should remember the message forever</a:t>
            </a:r>
          </a:p>
        </p:txBody>
      </p:sp>
      <p:sp>
        <p:nvSpPr>
          <p:cNvPr name="AutoShape 20" id="20"/>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21" id="21"/>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Knowledge check 2</a:t>
            </a:r>
          </a:p>
        </p:txBody>
      </p:sp>
      <p:sp>
        <p:nvSpPr>
          <p:cNvPr name="TextBox 22" id="22"/>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human.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ANSWER + EXPLANATION</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Correct answer: B</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Sending is a delegated action that requires defined authority and review.</a:t>
            </a:r>
          </a:p>
        </p:txBody>
      </p:sp>
      <p:grpSp>
        <p:nvGrpSpPr>
          <p:cNvPr name="Group 7" id="7"/>
          <p:cNvGrpSpPr/>
          <p:nvPr/>
        </p:nvGrpSpPr>
        <p:grpSpPr>
          <a:xfrm rot="0">
            <a:off x="1117968" y="2984802"/>
            <a:ext cx="9623955" cy="1182024"/>
            <a:chOff x="0" y="0"/>
            <a:chExt cx="12831940" cy="1576032"/>
          </a:xfrm>
        </p:grpSpPr>
        <p:sp>
          <p:nvSpPr>
            <p:cNvPr name="Freeform 8" id="8"/>
            <p:cNvSpPr/>
            <p:nvPr/>
          </p:nvSpPr>
          <p:spPr>
            <a:xfrm flipH="false" flipV="false" rot="0">
              <a:off x="0" y="0"/>
              <a:ext cx="12831953" cy="1576070"/>
            </a:xfrm>
            <a:custGeom>
              <a:avLst/>
              <a:gdLst/>
              <a:ahLst/>
              <a:cxnLst/>
              <a:rect r="r" b="b" t="t" l="l"/>
              <a:pathLst>
                <a:path h="1576070" w="12831953">
                  <a:moveTo>
                    <a:pt x="0" y="148336"/>
                  </a:moveTo>
                  <a:cubicBezTo>
                    <a:pt x="0" y="66421"/>
                    <a:pt x="66421" y="0"/>
                    <a:pt x="148336" y="0"/>
                  </a:cubicBezTo>
                  <a:lnTo>
                    <a:pt x="12683617" y="0"/>
                  </a:lnTo>
                  <a:cubicBezTo>
                    <a:pt x="12765532" y="0"/>
                    <a:pt x="12831953" y="66421"/>
                    <a:pt x="12831953" y="148336"/>
                  </a:cubicBezTo>
                  <a:lnTo>
                    <a:pt x="12831953" y="1427734"/>
                  </a:lnTo>
                  <a:cubicBezTo>
                    <a:pt x="12831953" y="1509649"/>
                    <a:pt x="12765532" y="1576070"/>
                    <a:pt x="12683617" y="1576070"/>
                  </a:cubicBezTo>
                  <a:lnTo>
                    <a:pt x="148336" y="1576070"/>
                  </a:lnTo>
                  <a:cubicBezTo>
                    <a:pt x="66421" y="1576070"/>
                    <a:pt x="0" y="1509649"/>
                    <a:pt x="0" y="1427734"/>
                  </a:cubicBezTo>
                  <a:close/>
                </a:path>
              </a:pathLst>
            </a:custGeom>
            <a:solidFill>
              <a:srgbClr val="FFFFFF">
                <a:alpha val="80784"/>
              </a:srgbClr>
            </a:solidFill>
            <a:ln w="15252" cap="sq">
              <a:solidFill>
                <a:srgbClr val="CDA349"/>
              </a:solidFill>
              <a:prstDash val="solid"/>
              <a:miter/>
            </a:ln>
          </p:spPr>
        </p:sp>
      </p:grpSp>
      <p:grpSp>
        <p:nvGrpSpPr>
          <p:cNvPr name="Group 9" id="9"/>
          <p:cNvGrpSpPr/>
          <p:nvPr/>
        </p:nvGrpSpPr>
        <p:grpSpPr>
          <a:xfrm rot="0">
            <a:off x="1509941" y="3294412"/>
            <a:ext cx="8840010" cy="590245"/>
            <a:chOff x="0" y="0"/>
            <a:chExt cx="11786680" cy="786994"/>
          </a:xfrm>
        </p:grpSpPr>
        <p:sp>
          <p:nvSpPr>
            <p:cNvPr name="Freeform 10" id="10"/>
            <p:cNvSpPr/>
            <p:nvPr/>
          </p:nvSpPr>
          <p:spPr>
            <a:xfrm flipH="false" flipV="false" rot="0">
              <a:off x="0" y="0"/>
              <a:ext cx="11786681" cy="786999"/>
            </a:xfrm>
            <a:custGeom>
              <a:avLst/>
              <a:gdLst/>
              <a:ahLst/>
              <a:cxnLst/>
              <a:rect r="r" b="b" t="t" l="l"/>
              <a:pathLst>
                <a:path h="786999" w="11786681">
                  <a:moveTo>
                    <a:pt x="0" y="0"/>
                  </a:moveTo>
                  <a:lnTo>
                    <a:pt x="11786681" y="0"/>
                  </a:lnTo>
                  <a:lnTo>
                    <a:pt x="11786681" y="786999"/>
                  </a:lnTo>
                  <a:lnTo>
                    <a:pt x="0" y="786999"/>
                  </a:lnTo>
                  <a:close/>
                </a:path>
              </a:pathLst>
            </a:custGeom>
            <a:blipFill>
              <a:blip r:embed="rId4">
                <a:alphaModFix amt="0"/>
              </a:blip>
              <a:stretch>
                <a:fillRect l="0" t="-241822" r="0" b="-241822"/>
              </a:stretch>
            </a:blipFill>
          </p:spPr>
        </p:sp>
        <p:sp>
          <p:nvSpPr>
            <p:cNvPr name="TextBox 11" id="11"/>
            <p:cNvSpPr txBox="true"/>
            <p:nvPr/>
          </p:nvSpPr>
          <p:spPr>
            <a:xfrm>
              <a:off x="0" y="19050"/>
              <a:ext cx="11786680" cy="767944"/>
            </a:xfrm>
            <a:prstGeom prst="rect">
              <a:avLst/>
            </a:prstGeom>
          </p:spPr>
          <p:txBody>
            <a:bodyPr anchor="ctr" rtlCol="false" tIns="0" lIns="0" bIns="0" rIns="0"/>
            <a:lstStyle/>
            <a:p>
              <a:pPr algn="ctr">
                <a:lnSpc>
                  <a:spcPts val="3593"/>
                </a:lnSpc>
              </a:pPr>
              <a:r>
                <a:rPr lang="en-US" sz="3152" b="true">
                  <a:solidFill>
                    <a:srgbClr val="122B40"/>
                  </a:solidFill>
                  <a:latin typeface="Aptos Bold"/>
                  <a:ea typeface="Aptos Bold"/>
                  <a:cs typeface="Aptos Bold"/>
                  <a:sym typeface="Aptos Bold"/>
                </a:rPr>
                <a:t>“A draft prepares communication. Sending performs communication.”</a:t>
              </a:r>
            </a:p>
          </p:txBody>
        </p:sp>
      </p:grpSp>
      <p:grpSp>
        <p:nvGrpSpPr>
          <p:cNvPr name="Group 12" id="12"/>
          <p:cNvGrpSpPr/>
          <p:nvPr/>
        </p:nvGrpSpPr>
        <p:grpSpPr>
          <a:xfrm rot="0">
            <a:off x="1441304" y="4831804"/>
            <a:ext cx="8991000" cy="2196274"/>
            <a:chOff x="0" y="0"/>
            <a:chExt cx="11988000" cy="2928366"/>
          </a:xfrm>
        </p:grpSpPr>
        <p:sp>
          <p:nvSpPr>
            <p:cNvPr name="Freeform 13" id="13"/>
            <p:cNvSpPr/>
            <p:nvPr/>
          </p:nvSpPr>
          <p:spPr>
            <a:xfrm flipH="false" flipV="false" rot="0">
              <a:off x="0" y="0"/>
              <a:ext cx="11988005" cy="2928368"/>
            </a:xfrm>
            <a:custGeom>
              <a:avLst/>
              <a:gdLst/>
              <a:ahLst/>
              <a:cxnLst/>
              <a:rect r="r" b="b" t="t" l="l"/>
              <a:pathLst>
                <a:path h="2928368" w="11988005">
                  <a:moveTo>
                    <a:pt x="0" y="0"/>
                  </a:moveTo>
                  <a:lnTo>
                    <a:pt x="11988005" y="0"/>
                  </a:lnTo>
                  <a:lnTo>
                    <a:pt x="11988005" y="2928368"/>
                  </a:lnTo>
                  <a:lnTo>
                    <a:pt x="0" y="2928368"/>
                  </a:lnTo>
                  <a:close/>
                </a:path>
              </a:pathLst>
            </a:custGeom>
            <a:blipFill>
              <a:blip r:embed="rId4">
                <a:alphaModFix amt="0"/>
              </a:blip>
              <a:stretch>
                <a:fillRect l="0" t="-29766" r="0" b="-29766"/>
              </a:stretch>
            </a:blipFill>
          </p:spPr>
        </p:sp>
        <p:sp>
          <p:nvSpPr>
            <p:cNvPr name="TextBox 14" id="14"/>
            <p:cNvSpPr txBox="true"/>
            <p:nvPr/>
          </p:nvSpPr>
          <p:spPr>
            <a:xfrm>
              <a:off x="0" y="9525"/>
              <a:ext cx="11988000" cy="2918841"/>
            </a:xfrm>
            <a:prstGeom prst="rect">
              <a:avLst/>
            </a:prstGeom>
          </p:spPr>
          <p:txBody>
            <a:bodyPr anchor="ctr" rtlCol="false" tIns="0" lIns="0" bIns="0" rIns="0"/>
            <a:lstStyle/>
            <a:p>
              <a:pPr algn="l">
                <a:lnSpc>
                  <a:spcPts val="2557"/>
                </a:lnSpc>
              </a:pPr>
              <a:r>
                <a:rPr lang="en-US" sz="2131">
                  <a:solidFill>
                    <a:srgbClr val="233A47"/>
                  </a:solidFill>
                  <a:latin typeface="Aptos"/>
                  <a:ea typeface="Aptos"/>
                  <a:cs typeface="Aptos"/>
                  <a:sym typeface="Aptos"/>
                </a:rPr>
                <a:t>Define who the AI is representing.</a:t>
              </a:r>
            </a:p>
            <a:p>
              <a:pPr algn="l">
                <a:lnSpc>
                  <a:spcPts val="2557"/>
                </a:lnSpc>
              </a:pPr>
              <a:r>
                <a:rPr lang="en-US" sz="2131">
                  <a:solidFill>
                    <a:srgbClr val="233A47"/>
                  </a:solidFill>
                  <a:latin typeface="Aptos"/>
                  <a:ea typeface="Aptos"/>
                  <a:cs typeface="Aptos"/>
                  <a:sym typeface="Aptos"/>
                </a:rPr>
                <a:t>Separate draft generation from message release.</a:t>
              </a:r>
            </a:p>
            <a:p>
              <a:pPr algn="l">
                <a:lnSpc>
                  <a:spcPts val="2557"/>
                </a:lnSpc>
              </a:pPr>
              <a:r>
                <a:rPr lang="en-US" sz="2131">
                  <a:solidFill>
                    <a:srgbClr val="233A47"/>
                  </a:solidFill>
                  <a:latin typeface="Aptos"/>
                  <a:ea typeface="Aptos"/>
                  <a:cs typeface="Aptos"/>
                  <a:sym typeface="Aptos"/>
                </a:rPr>
                <a:t>Match review requirements to consequence, uncertainty, and patient impact.</a:t>
              </a:r>
            </a:p>
          </p:txBody>
        </p:sp>
      </p:grpSp>
      <p:sp>
        <p:nvSpPr>
          <p:cNvPr name="AutoShape 15" id="15"/>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16" id="16"/>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Knowledge check 2 answer</a:t>
            </a:r>
          </a:p>
        </p:txBody>
      </p:sp>
      <p:sp>
        <p:nvSpPr>
          <p:cNvPr name="TextBox 17" id="17"/>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boundaries.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WHEN CONTEXT COLLAPSES</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Some AI failures are boundary failures</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They may look like reasoning errors, but the deeper issue is identity, context, or authority.</a:t>
            </a:r>
          </a:p>
        </p:txBody>
      </p:sp>
      <p:grpSp>
        <p:nvGrpSpPr>
          <p:cNvPr name="Group 7" id="7"/>
          <p:cNvGrpSpPr/>
          <p:nvPr/>
        </p:nvGrpSpPr>
        <p:grpSpPr>
          <a:xfrm rot="0">
            <a:off x="1166774" y="3266961"/>
            <a:ext cx="9498892" cy="4461186"/>
            <a:chOff x="0" y="0"/>
            <a:chExt cx="12665189" cy="5948248"/>
          </a:xfrm>
        </p:grpSpPr>
        <p:sp>
          <p:nvSpPr>
            <p:cNvPr name="Freeform 8" id="8"/>
            <p:cNvSpPr/>
            <p:nvPr/>
          </p:nvSpPr>
          <p:spPr>
            <a:xfrm flipH="false" flipV="false" rot="0">
              <a:off x="0" y="0"/>
              <a:ext cx="12665190" cy="5948247"/>
            </a:xfrm>
            <a:custGeom>
              <a:avLst/>
              <a:gdLst/>
              <a:ahLst/>
              <a:cxnLst/>
              <a:rect r="r" b="b" t="t" l="l"/>
              <a:pathLst>
                <a:path h="5948247" w="12665190">
                  <a:moveTo>
                    <a:pt x="0" y="0"/>
                  </a:moveTo>
                  <a:lnTo>
                    <a:pt x="12665190" y="0"/>
                  </a:lnTo>
                  <a:lnTo>
                    <a:pt x="12665190" y="5948247"/>
                  </a:lnTo>
                  <a:lnTo>
                    <a:pt x="0" y="5948247"/>
                  </a:lnTo>
                  <a:close/>
                </a:path>
              </a:pathLst>
            </a:custGeom>
            <a:blipFill>
              <a:blip r:embed="rId4">
                <a:alphaModFix amt="0"/>
              </a:blip>
              <a:stretch>
                <a:fillRect l="-10258" t="0" r="-10258" b="0"/>
              </a:stretch>
            </a:blipFill>
          </p:spPr>
        </p:sp>
        <p:sp>
          <p:nvSpPr>
            <p:cNvPr name="TextBox 9" id="9"/>
            <p:cNvSpPr txBox="true"/>
            <p:nvPr/>
          </p:nvSpPr>
          <p:spPr>
            <a:xfrm>
              <a:off x="0" y="0"/>
              <a:ext cx="12665189" cy="5948248"/>
            </a:xfrm>
            <a:prstGeom prst="rect">
              <a:avLst/>
            </a:prstGeom>
          </p:spPr>
          <p:txBody>
            <a:bodyPr anchor="ctr" rtlCol="false" tIns="0" lIns="0" bIns="0" rIns="0"/>
            <a:lstStyle/>
            <a:p>
              <a:pPr algn="l">
                <a:lnSpc>
                  <a:spcPts val="2395"/>
                </a:lnSpc>
              </a:pPr>
              <a:r>
                <a:rPr lang="en-US" sz="1996">
                  <a:solidFill>
                    <a:srgbClr val="233A47"/>
                  </a:solidFill>
                  <a:latin typeface="Aptos"/>
                  <a:ea typeface="Aptos"/>
                  <a:cs typeface="Aptos"/>
                  <a:sym typeface="Aptos"/>
                </a:rPr>
                <a:t>A caregiver preference is mistaken for the patient’s preference.</a:t>
              </a:r>
            </a:p>
            <a:p>
              <a:pPr algn="l">
                <a:lnSpc>
                  <a:spcPts val="2395"/>
                </a:lnSpc>
              </a:pPr>
              <a:r>
                <a:rPr lang="en-US" sz="1996">
                  <a:solidFill>
                    <a:srgbClr val="233A47"/>
                  </a:solidFill>
                  <a:latin typeface="Aptos"/>
                  <a:ea typeface="Aptos"/>
                  <a:cs typeface="Aptos"/>
                  <a:sym typeface="Aptos"/>
                </a:rPr>
                <a:t>Old information is treated as current.</a:t>
              </a:r>
            </a:p>
            <a:p>
              <a:pPr algn="l">
                <a:lnSpc>
                  <a:spcPts val="2395"/>
                </a:lnSpc>
              </a:pPr>
              <a:r>
                <a:rPr lang="en-US" sz="1996">
                  <a:solidFill>
                    <a:srgbClr val="233A47"/>
                  </a:solidFill>
                  <a:latin typeface="Aptos"/>
                  <a:ea typeface="Aptos"/>
                  <a:cs typeface="Aptos"/>
                  <a:sym typeface="Aptos"/>
                </a:rPr>
                <a:t>A draft recommendation is interpreted as an approved clinical decision.</a:t>
              </a:r>
            </a:p>
            <a:p>
              <a:pPr algn="l">
                <a:lnSpc>
                  <a:spcPts val="2395"/>
                </a:lnSpc>
              </a:pPr>
              <a:r>
                <a:rPr lang="en-US" sz="1996">
                  <a:solidFill>
                    <a:srgbClr val="233A47"/>
                  </a:solidFill>
                  <a:latin typeface="Aptos"/>
                  <a:ea typeface="Aptos"/>
                  <a:cs typeface="Aptos"/>
                  <a:sym typeface="Aptos"/>
                </a:rPr>
                <a:t>An AI acting for the organization appears to be acting for the clinician.</a:t>
              </a:r>
            </a:p>
            <a:p>
              <a:pPr algn="l">
                <a:lnSpc>
                  <a:spcPts val="2395"/>
                </a:lnSpc>
              </a:pPr>
              <a:r>
                <a:rPr lang="en-US" sz="1996">
                  <a:solidFill>
                    <a:srgbClr val="233A47"/>
                  </a:solidFill>
                  <a:latin typeface="Aptos"/>
                  <a:ea typeface="Aptos"/>
                  <a:cs typeface="Aptos"/>
                  <a:sym typeface="Aptos"/>
                </a:rPr>
                <a:t>Information collected for care coordination is reused for another purpose.</a:t>
              </a:r>
            </a:p>
          </p:txBody>
        </p:sp>
      </p:grpSp>
      <p:grpSp>
        <p:nvGrpSpPr>
          <p:cNvPr name="Group 10" id="10"/>
          <p:cNvGrpSpPr/>
          <p:nvPr/>
        </p:nvGrpSpPr>
        <p:grpSpPr>
          <a:xfrm rot="0">
            <a:off x="11591458" y="6059586"/>
            <a:ext cx="4819602" cy="1799730"/>
            <a:chOff x="0" y="0"/>
            <a:chExt cx="6426136" cy="2399640"/>
          </a:xfrm>
        </p:grpSpPr>
        <p:sp>
          <p:nvSpPr>
            <p:cNvPr name="Freeform 11" id="11"/>
            <p:cNvSpPr/>
            <p:nvPr/>
          </p:nvSpPr>
          <p:spPr>
            <a:xfrm flipH="false" flipV="false" rot="0">
              <a:off x="0" y="0"/>
              <a:ext cx="6426200" cy="2399665"/>
            </a:xfrm>
            <a:custGeom>
              <a:avLst/>
              <a:gdLst/>
              <a:ahLst/>
              <a:cxnLst/>
              <a:rect r="r" b="b" t="t" l="l"/>
              <a:pathLst>
                <a:path h="2399665" w="6426200">
                  <a:moveTo>
                    <a:pt x="0" y="147701"/>
                  </a:moveTo>
                  <a:cubicBezTo>
                    <a:pt x="0" y="66167"/>
                    <a:pt x="66167" y="0"/>
                    <a:pt x="147701" y="0"/>
                  </a:cubicBezTo>
                  <a:lnTo>
                    <a:pt x="6278499" y="0"/>
                  </a:lnTo>
                  <a:cubicBezTo>
                    <a:pt x="6360033" y="0"/>
                    <a:pt x="6426200" y="66167"/>
                    <a:pt x="6426200" y="147701"/>
                  </a:cubicBezTo>
                  <a:lnTo>
                    <a:pt x="6426200" y="2251964"/>
                  </a:lnTo>
                  <a:cubicBezTo>
                    <a:pt x="6426200" y="2333498"/>
                    <a:pt x="6360033" y="2399665"/>
                    <a:pt x="6278499" y="2399665"/>
                  </a:cubicBezTo>
                  <a:lnTo>
                    <a:pt x="147701" y="2399665"/>
                  </a:lnTo>
                  <a:cubicBezTo>
                    <a:pt x="66167" y="2399665"/>
                    <a:pt x="0" y="2333498"/>
                    <a:pt x="0" y="2251964"/>
                  </a:cubicBezTo>
                  <a:close/>
                </a:path>
              </a:pathLst>
            </a:custGeom>
            <a:solidFill>
              <a:srgbClr val="FFFFFF">
                <a:alpha val="80784"/>
              </a:srgbClr>
            </a:solidFill>
            <a:ln w="15252" cap="sq">
              <a:solidFill>
                <a:srgbClr val="CDA349"/>
              </a:solidFill>
              <a:prstDash val="solid"/>
              <a:miter/>
            </a:ln>
          </p:spPr>
        </p:sp>
      </p:grpSp>
      <p:grpSp>
        <p:nvGrpSpPr>
          <p:cNvPr name="Group 12" id="12"/>
          <p:cNvGrpSpPr/>
          <p:nvPr/>
        </p:nvGrpSpPr>
        <p:grpSpPr>
          <a:xfrm rot="0">
            <a:off x="11983431" y="6369196"/>
            <a:ext cx="4035657" cy="1207951"/>
            <a:chOff x="0" y="0"/>
            <a:chExt cx="5380876" cy="1610601"/>
          </a:xfrm>
        </p:grpSpPr>
        <p:sp>
          <p:nvSpPr>
            <p:cNvPr name="Freeform 13" id="13"/>
            <p:cNvSpPr/>
            <p:nvPr/>
          </p:nvSpPr>
          <p:spPr>
            <a:xfrm flipH="false" flipV="false" rot="0">
              <a:off x="0" y="0"/>
              <a:ext cx="5380876" cy="1610602"/>
            </a:xfrm>
            <a:custGeom>
              <a:avLst/>
              <a:gdLst/>
              <a:ahLst/>
              <a:cxnLst/>
              <a:rect r="r" b="b" t="t" l="l"/>
              <a:pathLst>
                <a:path h="1610602" w="5380876">
                  <a:moveTo>
                    <a:pt x="0" y="0"/>
                  </a:moveTo>
                  <a:lnTo>
                    <a:pt x="5380876" y="0"/>
                  </a:lnTo>
                  <a:lnTo>
                    <a:pt x="5380876" y="1610602"/>
                  </a:lnTo>
                  <a:lnTo>
                    <a:pt x="0" y="1610602"/>
                  </a:lnTo>
                  <a:close/>
                </a:path>
              </a:pathLst>
            </a:custGeom>
            <a:blipFill>
              <a:blip r:embed="rId4">
                <a:alphaModFix amt="0"/>
              </a:blip>
              <a:stretch>
                <a:fillRect l="0" t="-15097" r="0" b="-15097"/>
              </a:stretch>
            </a:blipFill>
          </p:spPr>
        </p:sp>
        <p:sp>
          <p:nvSpPr>
            <p:cNvPr name="TextBox 14" id="14"/>
            <p:cNvSpPr txBox="true"/>
            <p:nvPr/>
          </p:nvSpPr>
          <p:spPr>
            <a:xfrm>
              <a:off x="0" y="19050"/>
              <a:ext cx="5380876" cy="1591551"/>
            </a:xfrm>
            <a:prstGeom prst="rect">
              <a:avLst/>
            </a:prstGeom>
          </p:spPr>
          <p:txBody>
            <a:bodyPr anchor="ctr" rtlCol="false" tIns="0" lIns="0" bIns="0" rIns="0"/>
            <a:lstStyle/>
            <a:p>
              <a:pPr algn="ctr">
                <a:lnSpc>
                  <a:spcPts val="3080"/>
                </a:lnSpc>
              </a:pPr>
              <a:r>
                <a:rPr lang="en-US" sz="2702" b="true">
                  <a:solidFill>
                    <a:srgbClr val="122B40"/>
                  </a:solidFill>
                  <a:latin typeface="Aptos Bold"/>
                  <a:ea typeface="Aptos Bold"/>
                  <a:cs typeface="Aptos Bold"/>
                  <a:sym typeface="Aptos Bold"/>
                </a:rPr>
                <a:t>“The same fact can mean something different in a different context.”</a:t>
              </a:r>
            </a:p>
          </p:txBody>
        </p:sp>
      </p:grpSp>
      <p:sp>
        <p:nvSpPr>
          <p:cNvPr name="AutoShape 15" id="15"/>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16" id="16"/>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Context collapse</a:t>
            </a:r>
          </a:p>
        </p:txBody>
      </p:sp>
      <p:sp>
        <p:nvSpPr>
          <p:cNvPr name="TextBox 17" id="17"/>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sp>
        <p:nvSpPr>
          <p:cNvPr name="TextBox 2" id="2"/>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GOVERNED MEMORY IN PRACTICE</a:t>
            </a:r>
          </a:p>
        </p:txBody>
      </p:sp>
      <p:sp>
        <p:nvSpPr>
          <p:cNvPr name="TextBox 3" id="3"/>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Memory should preserve meaning, not just data</a:t>
            </a:r>
          </a:p>
        </p:txBody>
      </p:sp>
      <p:sp>
        <p:nvSpPr>
          <p:cNvPr name="TextBox 4" id="4"/>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Every remembered item should carry boundaries.</a:t>
            </a:r>
          </a:p>
        </p:txBody>
      </p:sp>
      <p:grpSp>
        <p:nvGrpSpPr>
          <p:cNvPr name="Group 5" id="5"/>
          <p:cNvGrpSpPr/>
          <p:nvPr/>
        </p:nvGrpSpPr>
        <p:grpSpPr>
          <a:xfrm rot="0">
            <a:off x="1090508" y="3176978"/>
            <a:ext cx="3035132" cy="1058485"/>
            <a:chOff x="0" y="0"/>
            <a:chExt cx="4046842" cy="1411313"/>
          </a:xfrm>
        </p:grpSpPr>
        <p:sp>
          <p:nvSpPr>
            <p:cNvPr name="Freeform 6" id="6"/>
            <p:cNvSpPr/>
            <p:nvPr/>
          </p:nvSpPr>
          <p:spPr>
            <a:xfrm flipH="false" flipV="false" rot="0">
              <a:off x="0" y="0"/>
              <a:ext cx="4046855" cy="1411351"/>
            </a:xfrm>
            <a:custGeom>
              <a:avLst/>
              <a:gdLst/>
              <a:ahLst/>
              <a:cxnLst/>
              <a:rect r="r" b="b" t="t" l="l"/>
              <a:pathLst>
                <a:path h="1411351" w="4046855">
                  <a:moveTo>
                    <a:pt x="0" y="148590"/>
                  </a:moveTo>
                  <a:cubicBezTo>
                    <a:pt x="0" y="66548"/>
                    <a:pt x="66548" y="0"/>
                    <a:pt x="148590" y="0"/>
                  </a:cubicBezTo>
                  <a:lnTo>
                    <a:pt x="3898265" y="0"/>
                  </a:lnTo>
                  <a:cubicBezTo>
                    <a:pt x="3980307" y="0"/>
                    <a:pt x="4046855" y="66548"/>
                    <a:pt x="4046855" y="148590"/>
                  </a:cubicBezTo>
                  <a:lnTo>
                    <a:pt x="4046855" y="1262761"/>
                  </a:lnTo>
                  <a:cubicBezTo>
                    <a:pt x="4046855" y="1344803"/>
                    <a:pt x="3980307" y="1411351"/>
                    <a:pt x="3898265" y="1411351"/>
                  </a:cubicBezTo>
                  <a:lnTo>
                    <a:pt x="148590" y="1411351"/>
                  </a:lnTo>
                  <a:cubicBezTo>
                    <a:pt x="66548" y="1411351"/>
                    <a:pt x="0" y="1344803"/>
                    <a:pt x="0" y="1262761"/>
                  </a:cubicBezTo>
                  <a:close/>
                </a:path>
              </a:pathLst>
            </a:custGeom>
            <a:solidFill>
              <a:srgbClr val="FFFFFF">
                <a:alpha val="80784"/>
              </a:srgbClr>
            </a:solidFill>
            <a:ln w="15252" cap="sq">
              <a:solidFill>
                <a:srgbClr val="EEE3CD"/>
              </a:solidFill>
              <a:prstDash val="solid"/>
              <a:miter/>
            </a:ln>
          </p:spPr>
        </p:sp>
      </p:grpSp>
      <p:sp>
        <p:nvSpPr>
          <p:cNvPr name="TextBox 7" id="7"/>
          <p:cNvSpPr txBox="true"/>
          <p:nvPr/>
        </p:nvSpPr>
        <p:spPr>
          <a:xfrm rot="0">
            <a:off x="1290561" y="3400282"/>
            <a:ext cx="2607574" cy="237049"/>
          </a:xfrm>
          <a:prstGeom prst="rect">
            <a:avLst/>
          </a:prstGeom>
        </p:spPr>
        <p:txBody>
          <a:bodyPr anchor="t" rtlCol="false" tIns="0" lIns="0" bIns="0" rIns="0">
            <a:spAutoFit/>
          </a:bodyPr>
          <a:lstStyle/>
          <a:p>
            <a:pPr algn="ctr">
              <a:lnSpc>
                <a:spcPts val="1796"/>
              </a:lnSpc>
            </a:pPr>
            <a:r>
              <a:rPr lang="en-US" sz="1576" b="true">
                <a:solidFill>
                  <a:srgbClr val="CDA349"/>
                </a:solidFill>
                <a:latin typeface="Aptos Bold"/>
                <a:ea typeface="Aptos Bold"/>
                <a:cs typeface="Aptos Bold"/>
                <a:sym typeface="Aptos Bold"/>
              </a:rPr>
              <a:t>Source</a:t>
            </a:r>
          </a:p>
        </p:txBody>
      </p:sp>
      <p:sp>
        <p:nvSpPr>
          <p:cNvPr name="TextBox 8" id="8"/>
          <p:cNvSpPr txBox="true"/>
          <p:nvPr/>
        </p:nvSpPr>
        <p:spPr>
          <a:xfrm rot="0">
            <a:off x="1290561" y="3761375"/>
            <a:ext cx="2607574" cy="274025"/>
          </a:xfrm>
          <a:prstGeom prst="rect">
            <a:avLst/>
          </a:prstGeom>
        </p:spPr>
        <p:txBody>
          <a:bodyPr anchor="t" rtlCol="false" tIns="0" lIns="0" bIns="0" rIns="0">
            <a:spAutoFit/>
          </a:bodyPr>
          <a:lstStyle/>
          <a:p>
            <a:pPr algn="ctr">
              <a:lnSpc>
                <a:spcPts val="1505"/>
              </a:lnSpc>
            </a:pPr>
            <a:r>
              <a:rPr lang="en-US" sz="1321">
                <a:solidFill>
                  <a:srgbClr val="122B40"/>
                </a:solidFill>
                <a:latin typeface="Aptos"/>
                <a:ea typeface="Aptos"/>
                <a:cs typeface="Aptos"/>
                <a:sym typeface="Aptos"/>
              </a:rPr>
              <a:t>Where did this come from?</a:t>
            </a:r>
          </a:p>
        </p:txBody>
      </p:sp>
      <p:grpSp>
        <p:nvGrpSpPr>
          <p:cNvPr name="Group 9" id="9"/>
          <p:cNvGrpSpPr/>
          <p:nvPr/>
        </p:nvGrpSpPr>
        <p:grpSpPr>
          <a:xfrm rot="0">
            <a:off x="4357468" y="3176978"/>
            <a:ext cx="3035132" cy="1058485"/>
            <a:chOff x="0" y="0"/>
            <a:chExt cx="4046842" cy="1411313"/>
          </a:xfrm>
        </p:grpSpPr>
        <p:sp>
          <p:nvSpPr>
            <p:cNvPr name="Freeform 10" id="10"/>
            <p:cNvSpPr/>
            <p:nvPr/>
          </p:nvSpPr>
          <p:spPr>
            <a:xfrm flipH="false" flipV="false" rot="0">
              <a:off x="0" y="0"/>
              <a:ext cx="4046855" cy="1411351"/>
            </a:xfrm>
            <a:custGeom>
              <a:avLst/>
              <a:gdLst/>
              <a:ahLst/>
              <a:cxnLst/>
              <a:rect r="r" b="b" t="t" l="l"/>
              <a:pathLst>
                <a:path h="1411351" w="4046855">
                  <a:moveTo>
                    <a:pt x="0" y="148590"/>
                  </a:moveTo>
                  <a:cubicBezTo>
                    <a:pt x="0" y="66548"/>
                    <a:pt x="66548" y="0"/>
                    <a:pt x="148590" y="0"/>
                  </a:cubicBezTo>
                  <a:lnTo>
                    <a:pt x="3898265" y="0"/>
                  </a:lnTo>
                  <a:cubicBezTo>
                    <a:pt x="3980307" y="0"/>
                    <a:pt x="4046855" y="66548"/>
                    <a:pt x="4046855" y="148590"/>
                  </a:cubicBezTo>
                  <a:lnTo>
                    <a:pt x="4046855" y="1262761"/>
                  </a:lnTo>
                  <a:cubicBezTo>
                    <a:pt x="4046855" y="1344803"/>
                    <a:pt x="3980307" y="1411351"/>
                    <a:pt x="3898265" y="1411351"/>
                  </a:cubicBezTo>
                  <a:lnTo>
                    <a:pt x="148590" y="1411351"/>
                  </a:lnTo>
                  <a:cubicBezTo>
                    <a:pt x="66548" y="1411351"/>
                    <a:pt x="0" y="1344803"/>
                    <a:pt x="0" y="1262761"/>
                  </a:cubicBezTo>
                  <a:close/>
                </a:path>
              </a:pathLst>
            </a:custGeom>
            <a:solidFill>
              <a:srgbClr val="FFF9EF">
                <a:alpha val="80784"/>
              </a:srgbClr>
            </a:solidFill>
            <a:ln w="15252" cap="sq">
              <a:solidFill>
                <a:srgbClr val="EEE3CD"/>
              </a:solidFill>
              <a:prstDash val="solid"/>
              <a:miter/>
            </a:ln>
          </p:spPr>
        </p:sp>
      </p:grpSp>
      <p:sp>
        <p:nvSpPr>
          <p:cNvPr name="TextBox 11" id="11"/>
          <p:cNvSpPr txBox="true"/>
          <p:nvPr/>
        </p:nvSpPr>
        <p:spPr>
          <a:xfrm rot="0">
            <a:off x="4557522" y="3400282"/>
            <a:ext cx="2607574" cy="237049"/>
          </a:xfrm>
          <a:prstGeom prst="rect">
            <a:avLst/>
          </a:prstGeom>
        </p:spPr>
        <p:txBody>
          <a:bodyPr anchor="t" rtlCol="false" tIns="0" lIns="0" bIns="0" rIns="0">
            <a:spAutoFit/>
          </a:bodyPr>
          <a:lstStyle/>
          <a:p>
            <a:pPr algn="ctr">
              <a:lnSpc>
                <a:spcPts val="1796"/>
              </a:lnSpc>
            </a:pPr>
            <a:r>
              <a:rPr lang="en-US" sz="1576" b="true">
                <a:solidFill>
                  <a:srgbClr val="CDA349"/>
                </a:solidFill>
                <a:latin typeface="Aptos Bold"/>
                <a:ea typeface="Aptos Bold"/>
                <a:cs typeface="Aptos Bold"/>
                <a:sym typeface="Aptos Bold"/>
              </a:rPr>
              <a:t>Context</a:t>
            </a:r>
          </a:p>
        </p:txBody>
      </p:sp>
      <p:sp>
        <p:nvSpPr>
          <p:cNvPr name="TextBox 12" id="12"/>
          <p:cNvSpPr txBox="true"/>
          <p:nvPr/>
        </p:nvSpPr>
        <p:spPr>
          <a:xfrm rot="0">
            <a:off x="4557522" y="3761375"/>
            <a:ext cx="2607574" cy="274025"/>
          </a:xfrm>
          <a:prstGeom prst="rect">
            <a:avLst/>
          </a:prstGeom>
        </p:spPr>
        <p:txBody>
          <a:bodyPr anchor="t" rtlCol="false" tIns="0" lIns="0" bIns="0" rIns="0">
            <a:spAutoFit/>
          </a:bodyPr>
          <a:lstStyle/>
          <a:p>
            <a:pPr algn="ctr">
              <a:lnSpc>
                <a:spcPts val="1505"/>
              </a:lnSpc>
            </a:pPr>
            <a:r>
              <a:rPr lang="en-US" sz="1321">
                <a:solidFill>
                  <a:srgbClr val="122B40"/>
                </a:solidFill>
                <a:latin typeface="Aptos"/>
                <a:ea typeface="Aptos"/>
                <a:cs typeface="Aptos"/>
                <a:sym typeface="Aptos"/>
              </a:rPr>
              <a:t>When and where was it true?</a:t>
            </a:r>
          </a:p>
        </p:txBody>
      </p:sp>
      <p:grpSp>
        <p:nvGrpSpPr>
          <p:cNvPr name="Group 13" id="13"/>
          <p:cNvGrpSpPr/>
          <p:nvPr/>
        </p:nvGrpSpPr>
        <p:grpSpPr>
          <a:xfrm rot="0">
            <a:off x="7624429" y="3176978"/>
            <a:ext cx="3035132" cy="1058485"/>
            <a:chOff x="0" y="0"/>
            <a:chExt cx="4046842" cy="1411313"/>
          </a:xfrm>
        </p:grpSpPr>
        <p:sp>
          <p:nvSpPr>
            <p:cNvPr name="Freeform 14" id="14"/>
            <p:cNvSpPr/>
            <p:nvPr/>
          </p:nvSpPr>
          <p:spPr>
            <a:xfrm flipH="false" flipV="false" rot="0">
              <a:off x="0" y="0"/>
              <a:ext cx="4046855" cy="1411351"/>
            </a:xfrm>
            <a:custGeom>
              <a:avLst/>
              <a:gdLst/>
              <a:ahLst/>
              <a:cxnLst/>
              <a:rect r="r" b="b" t="t" l="l"/>
              <a:pathLst>
                <a:path h="1411351" w="4046855">
                  <a:moveTo>
                    <a:pt x="0" y="148590"/>
                  </a:moveTo>
                  <a:cubicBezTo>
                    <a:pt x="0" y="66548"/>
                    <a:pt x="66548" y="0"/>
                    <a:pt x="148590" y="0"/>
                  </a:cubicBezTo>
                  <a:lnTo>
                    <a:pt x="3898265" y="0"/>
                  </a:lnTo>
                  <a:cubicBezTo>
                    <a:pt x="3980307" y="0"/>
                    <a:pt x="4046855" y="66548"/>
                    <a:pt x="4046855" y="148590"/>
                  </a:cubicBezTo>
                  <a:lnTo>
                    <a:pt x="4046855" y="1262761"/>
                  </a:lnTo>
                  <a:cubicBezTo>
                    <a:pt x="4046855" y="1344803"/>
                    <a:pt x="3980307" y="1411351"/>
                    <a:pt x="3898265" y="1411351"/>
                  </a:cubicBezTo>
                  <a:lnTo>
                    <a:pt x="148590" y="1411351"/>
                  </a:lnTo>
                  <a:cubicBezTo>
                    <a:pt x="66548" y="1411351"/>
                    <a:pt x="0" y="1344803"/>
                    <a:pt x="0" y="1262761"/>
                  </a:cubicBezTo>
                  <a:close/>
                </a:path>
              </a:pathLst>
            </a:custGeom>
            <a:solidFill>
              <a:srgbClr val="FFFFFF">
                <a:alpha val="80784"/>
              </a:srgbClr>
            </a:solidFill>
            <a:ln w="15252" cap="sq">
              <a:solidFill>
                <a:srgbClr val="EEE3CD"/>
              </a:solidFill>
              <a:prstDash val="solid"/>
              <a:miter/>
            </a:ln>
          </p:spPr>
        </p:sp>
      </p:grpSp>
      <p:sp>
        <p:nvSpPr>
          <p:cNvPr name="TextBox 15" id="15"/>
          <p:cNvSpPr txBox="true"/>
          <p:nvPr/>
        </p:nvSpPr>
        <p:spPr>
          <a:xfrm rot="0">
            <a:off x="7824483" y="3400282"/>
            <a:ext cx="2607574" cy="237049"/>
          </a:xfrm>
          <a:prstGeom prst="rect">
            <a:avLst/>
          </a:prstGeom>
        </p:spPr>
        <p:txBody>
          <a:bodyPr anchor="t" rtlCol="false" tIns="0" lIns="0" bIns="0" rIns="0">
            <a:spAutoFit/>
          </a:bodyPr>
          <a:lstStyle/>
          <a:p>
            <a:pPr algn="ctr">
              <a:lnSpc>
                <a:spcPts val="1796"/>
              </a:lnSpc>
            </a:pPr>
            <a:r>
              <a:rPr lang="en-US" sz="1576" b="true">
                <a:solidFill>
                  <a:srgbClr val="CDA349"/>
                </a:solidFill>
                <a:latin typeface="Aptos Bold"/>
                <a:ea typeface="Aptos Bold"/>
                <a:cs typeface="Aptos Bold"/>
                <a:sym typeface="Aptos Bold"/>
              </a:rPr>
              <a:t>Consent</a:t>
            </a:r>
          </a:p>
        </p:txBody>
      </p:sp>
      <p:sp>
        <p:nvSpPr>
          <p:cNvPr name="TextBox 16" id="16"/>
          <p:cNvSpPr txBox="true"/>
          <p:nvPr/>
        </p:nvSpPr>
        <p:spPr>
          <a:xfrm rot="0">
            <a:off x="7824483" y="3761375"/>
            <a:ext cx="2607574" cy="274025"/>
          </a:xfrm>
          <a:prstGeom prst="rect">
            <a:avLst/>
          </a:prstGeom>
        </p:spPr>
        <p:txBody>
          <a:bodyPr anchor="t" rtlCol="false" tIns="0" lIns="0" bIns="0" rIns="0">
            <a:spAutoFit/>
          </a:bodyPr>
          <a:lstStyle/>
          <a:p>
            <a:pPr algn="ctr">
              <a:lnSpc>
                <a:spcPts val="1505"/>
              </a:lnSpc>
            </a:pPr>
            <a:r>
              <a:rPr lang="en-US" sz="1321">
                <a:solidFill>
                  <a:srgbClr val="122B40"/>
                </a:solidFill>
                <a:latin typeface="Aptos"/>
                <a:ea typeface="Aptos"/>
                <a:cs typeface="Aptos"/>
                <a:sym typeface="Aptos"/>
              </a:rPr>
              <a:t>Was persistence appropriate?</a:t>
            </a:r>
          </a:p>
        </p:txBody>
      </p:sp>
      <p:grpSp>
        <p:nvGrpSpPr>
          <p:cNvPr name="Group 17" id="17"/>
          <p:cNvGrpSpPr/>
          <p:nvPr/>
        </p:nvGrpSpPr>
        <p:grpSpPr>
          <a:xfrm rot="0">
            <a:off x="1090508" y="4481017"/>
            <a:ext cx="3035132" cy="1058485"/>
            <a:chOff x="0" y="0"/>
            <a:chExt cx="4046842" cy="1411313"/>
          </a:xfrm>
        </p:grpSpPr>
        <p:sp>
          <p:nvSpPr>
            <p:cNvPr name="Freeform 18" id="18"/>
            <p:cNvSpPr/>
            <p:nvPr/>
          </p:nvSpPr>
          <p:spPr>
            <a:xfrm flipH="false" flipV="false" rot="0">
              <a:off x="0" y="0"/>
              <a:ext cx="4046855" cy="1411351"/>
            </a:xfrm>
            <a:custGeom>
              <a:avLst/>
              <a:gdLst/>
              <a:ahLst/>
              <a:cxnLst/>
              <a:rect r="r" b="b" t="t" l="l"/>
              <a:pathLst>
                <a:path h="1411351" w="4046855">
                  <a:moveTo>
                    <a:pt x="0" y="148590"/>
                  </a:moveTo>
                  <a:cubicBezTo>
                    <a:pt x="0" y="66548"/>
                    <a:pt x="66548" y="0"/>
                    <a:pt x="148590" y="0"/>
                  </a:cubicBezTo>
                  <a:lnTo>
                    <a:pt x="3898265" y="0"/>
                  </a:lnTo>
                  <a:cubicBezTo>
                    <a:pt x="3980307" y="0"/>
                    <a:pt x="4046855" y="66548"/>
                    <a:pt x="4046855" y="148590"/>
                  </a:cubicBezTo>
                  <a:lnTo>
                    <a:pt x="4046855" y="1262761"/>
                  </a:lnTo>
                  <a:cubicBezTo>
                    <a:pt x="4046855" y="1344803"/>
                    <a:pt x="3980307" y="1411351"/>
                    <a:pt x="3898265" y="1411351"/>
                  </a:cubicBezTo>
                  <a:lnTo>
                    <a:pt x="148590" y="1411351"/>
                  </a:lnTo>
                  <a:cubicBezTo>
                    <a:pt x="66548" y="1411351"/>
                    <a:pt x="0" y="1344803"/>
                    <a:pt x="0" y="1262761"/>
                  </a:cubicBezTo>
                  <a:close/>
                </a:path>
              </a:pathLst>
            </a:custGeom>
            <a:solidFill>
              <a:srgbClr val="FFF9EF">
                <a:alpha val="80784"/>
              </a:srgbClr>
            </a:solidFill>
            <a:ln w="15252" cap="sq">
              <a:solidFill>
                <a:srgbClr val="EEE3CD"/>
              </a:solidFill>
              <a:prstDash val="solid"/>
              <a:miter/>
            </a:ln>
          </p:spPr>
        </p:sp>
      </p:grpSp>
      <p:sp>
        <p:nvSpPr>
          <p:cNvPr name="TextBox 19" id="19"/>
          <p:cNvSpPr txBox="true"/>
          <p:nvPr/>
        </p:nvSpPr>
        <p:spPr>
          <a:xfrm rot="0">
            <a:off x="1290561" y="4704321"/>
            <a:ext cx="2607574" cy="237049"/>
          </a:xfrm>
          <a:prstGeom prst="rect">
            <a:avLst/>
          </a:prstGeom>
        </p:spPr>
        <p:txBody>
          <a:bodyPr anchor="t" rtlCol="false" tIns="0" lIns="0" bIns="0" rIns="0">
            <a:spAutoFit/>
          </a:bodyPr>
          <a:lstStyle/>
          <a:p>
            <a:pPr algn="ctr">
              <a:lnSpc>
                <a:spcPts val="1796"/>
              </a:lnSpc>
            </a:pPr>
            <a:r>
              <a:rPr lang="en-US" sz="1576" b="true">
                <a:solidFill>
                  <a:srgbClr val="CDA349"/>
                </a:solidFill>
                <a:latin typeface="Aptos Bold"/>
                <a:ea typeface="Aptos Bold"/>
                <a:cs typeface="Aptos Bold"/>
                <a:sym typeface="Aptos Bold"/>
              </a:rPr>
              <a:t>Correction</a:t>
            </a:r>
          </a:p>
        </p:txBody>
      </p:sp>
      <p:sp>
        <p:nvSpPr>
          <p:cNvPr name="TextBox 20" id="20"/>
          <p:cNvSpPr txBox="true"/>
          <p:nvPr/>
        </p:nvSpPr>
        <p:spPr>
          <a:xfrm rot="0">
            <a:off x="1290561" y="5065414"/>
            <a:ext cx="2607574" cy="274025"/>
          </a:xfrm>
          <a:prstGeom prst="rect">
            <a:avLst/>
          </a:prstGeom>
        </p:spPr>
        <p:txBody>
          <a:bodyPr anchor="t" rtlCol="false" tIns="0" lIns="0" bIns="0" rIns="0">
            <a:spAutoFit/>
          </a:bodyPr>
          <a:lstStyle/>
          <a:p>
            <a:pPr algn="ctr">
              <a:lnSpc>
                <a:spcPts val="1505"/>
              </a:lnSpc>
            </a:pPr>
            <a:r>
              <a:rPr lang="en-US" sz="1321">
                <a:solidFill>
                  <a:srgbClr val="122B40"/>
                </a:solidFill>
                <a:latin typeface="Aptos"/>
                <a:ea typeface="Aptos"/>
                <a:cs typeface="Aptos"/>
                <a:sym typeface="Aptos"/>
              </a:rPr>
              <a:t>Can it be fixed?</a:t>
            </a:r>
          </a:p>
        </p:txBody>
      </p:sp>
      <p:grpSp>
        <p:nvGrpSpPr>
          <p:cNvPr name="Group 21" id="21"/>
          <p:cNvGrpSpPr/>
          <p:nvPr/>
        </p:nvGrpSpPr>
        <p:grpSpPr>
          <a:xfrm rot="0">
            <a:off x="4357468" y="4481017"/>
            <a:ext cx="3035132" cy="1058485"/>
            <a:chOff x="0" y="0"/>
            <a:chExt cx="4046842" cy="1411313"/>
          </a:xfrm>
        </p:grpSpPr>
        <p:sp>
          <p:nvSpPr>
            <p:cNvPr name="Freeform 22" id="22"/>
            <p:cNvSpPr/>
            <p:nvPr/>
          </p:nvSpPr>
          <p:spPr>
            <a:xfrm flipH="false" flipV="false" rot="0">
              <a:off x="0" y="0"/>
              <a:ext cx="4046855" cy="1411351"/>
            </a:xfrm>
            <a:custGeom>
              <a:avLst/>
              <a:gdLst/>
              <a:ahLst/>
              <a:cxnLst/>
              <a:rect r="r" b="b" t="t" l="l"/>
              <a:pathLst>
                <a:path h="1411351" w="4046855">
                  <a:moveTo>
                    <a:pt x="0" y="148590"/>
                  </a:moveTo>
                  <a:cubicBezTo>
                    <a:pt x="0" y="66548"/>
                    <a:pt x="66548" y="0"/>
                    <a:pt x="148590" y="0"/>
                  </a:cubicBezTo>
                  <a:lnTo>
                    <a:pt x="3898265" y="0"/>
                  </a:lnTo>
                  <a:cubicBezTo>
                    <a:pt x="3980307" y="0"/>
                    <a:pt x="4046855" y="66548"/>
                    <a:pt x="4046855" y="148590"/>
                  </a:cubicBezTo>
                  <a:lnTo>
                    <a:pt x="4046855" y="1262761"/>
                  </a:lnTo>
                  <a:cubicBezTo>
                    <a:pt x="4046855" y="1344803"/>
                    <a:pt x="3980307" y="1411351"/>
                    <a:pt x="3898265" y="1411351"/>
                  </a:cubicBezTo>
                  <a:lnTo>
                    <a:pt x="148590" y="1411351"/>
                  </a:lnTo>
                  <a:cubicBezTo>
                    <a:pt x="66548" y="1411351"/>
                    <a:pt x="0" y="1344803"/>
                    <a:pt x="0" y="1262761"/>
                  </a:cubicBezTo>
                  <a:close/>
                </a:path>
              </a:pathLst>
            </a:custGeom>
            <a:solidFill>
              <a:srgbClr val="FFFFFF">
                <a:alpha val="80784"/>
              </a:srgbClr>
            </a:solidFill>
            <a:ln w="15252" cap="sq">
              <a:solidFill>
                <a:srgbClr val="EEE3CD"/>
              </a:solidFill>
              <a:prstDash val="solid"/>
              <a:miter/>
            </a:ln>
          </p:spPr>
        </p:sp>
      </p:grpSp>
      <p:sp>
        <p:nvSpPr>
          <p:cNvPr name="TextBox 23" id="23"/>
          <p:cNvSpPr txBox="true"/>
          <p:nvPr/>
        </p:nvSpPr>
        <p:spPr>
          <a:xfrm rot="0">
            <a:off x="4557522" y="4704321"/>
            <a:ext cx="2607574" cy="237049"/>
          </a:xfrm>
          <a:prstGeom prst="rect">
            <a:avLst/>
          </a:prstGeom>
        </p:spPr>
        <p:txBody>
          <a:bodyPr anchor="t" rtlCol="false" tIns="0" lIns="0" bIns="0" rIns="0">
            <a:spAutoFit/>
          </a:bodyPr>
          <a:lstStyle/>
          <a:p>
            <a:pPr algn="ctr">
              <a:lnSpc>
                <a:spcPts val="1796"/>
              </a:lnSpc>
            </a:pPr>
            <a:r>
              <a:rPr lang="en-US" sz="1576" b="true">
                <a:solidFill>
                  <a:srgbClr val="CDA349"/>
                </a:solidFill>
                <a:latin typeface="Aptos Bold"/>
                <a:ea typeface="Aptos Bold"/>
                <a:cs typeface="Aptos Bold"/>
                <a:sym typeface="Aptos Bold"/>
              </a:rPr>
              <a:t>Expiration</a:t>
            </a:r>
          </a:p>
        </p:txBody>
      </p:sp>
      <p:sp>
        <p:nvSpPr>
          <p:cNvPr name="TextBox 24" id="24"/>
          <p:cNvSpPr txBox="true"/>
          <p:nvPr/>
        </p:nvSpPr>
        <p:spPr>
          <a:xfrm rot="0">
            <a:off x="4557522" y="5065414"/>
            <a:ext cx="2607574" cy="274025"/>
          </a:xfrm>
          <a:prstGeom prst="rect">
            <a:avLst/>
          </a:prstGeom>
        </p:spPr>
        <p:txBody>
          <a:bodyPr anchor="t" rtlCol="false" tIns="0" lIns="0" bIns="0" rIns="0">
            <a:spAutoFit/>
          </a:bodyPr>
          <a:lstStyle/>
          <a:p>
            <a:pPr algn="ctr">
              <a:lnSpc>
                <a:spcPts val="1505"/>
              </a:lnSpc>
            </a:pPr>
            <a:r>
              <a:rPr lang="en-US" sz="1321">
                <a:solidFill>
                  <a:srgbClr val="122B40"/>
                </a:solidFill>
                <a:latin typeface="Aptos"/>
                <a:ea typeface="Aptos"/>
                <a:cs typeface="Aptos"/>
                <a:sym typeface="Aptos"/>
              </a:rPr>
              <a:t>When should it be reconfirmed?</a:t>
            </a:r>
          </a:p>
        </p:txBody>
      </p:sp>
      <p:grpSp>
        <p:nvGrpSpPr>
          <p:cNvPr name="Group 25" id="25"/>
          <p:cNvGrpSpPr/>
          <p:nvPr/>
        </p:nvGrpSpPr>
        <p:grpSpPr>
          <a:xfrm rot="0">
            <a:off x="7624429" y="4481017"/>
            <a:ext cx="3035132" cy="1058485"/>
            <a:chOff x="0" y="0"/>
            <a:chExt cx="4046842" cy="1411313"/>
          </a:xfrm>
        </p:grpSpPr>
        <p:sp>
          <p:nvSpPr>
            <p:cNvPr name="Freeform 26" id="26"/>
            <p:cNvSpPr/>
            <p:nvPr/>
          </p:nvSpPr>
          <p:spPr>
            <a:xfrm flipH="false" flipV="false" rot="0">
              <a:off x="0" y="0"/>
              <a:ext cx="4046855" cy="1411351"/>
            </a:xfrm>
            <a:custGeom>
              <a:avLst/>
              <a:gdLst/>
              <a:ahLst/>
              <a:cxnLst/>
              <a:rect r="r" b="b" t="t" l="l"/>
              <a:pathLst>
                <a:path h="1411351" w="4046855">
                  <a:moveTo>
                    <a:pt x="0" y="148590"/>
                  </a:moveTo>
                  <a:cubicBezTo>
                    <a:pt x="0" y="66548"/>
                    <a:pt x="66548" y="0"/>
                    <a:pt x="148590" y="0"/>
                  </a:cubicBezTo>
                  <a:lnTo>
                    <a:pt x="3898265" y="0"/>
                  </a:lnTo>
                  <a:cubicBezTo>
                    <a:pt x="3980307" y="0"/>
                    <a:pt x="4046855" y="66548"/>
                    <a:pt x="4046855" y="148590"/>
                  </a:cubicBezTo>
                  <a:lnTo>
                    <a:pt x="4046855" y="1262761"/>
                  </a:lnTo>
                  <a:cubicBezTo>
                    <a:pt x="4046855" y="1344803"/>
                    <a:pt x="3980307" y="1411351"/>
                    <a:pt x="3898265" y="1411351"/>
                  </a:cubicBezTo>
                  <a:lnTo>
                    <a:pt x="148590" y="1411351"/>
                  </a:lnTo>
                  <a:cubicBezTo>
                    <a:pt x="66548" y="1411351"/>
                    <a:pt x="0" y="1344803"/>
                    <a:pt x="0" y="1262761"/>
                  </a:cubicBezTo>
                  <a:close/>
                </a:path>
              </a:pathLst>
            </a:custGeom>
            <a:solidFill>
              <a:srgbClr val="FFF9EF">
                <a:alpha val="80784"/>
              </a:srgbClr>
            </a:solidFill>
            <a:ln w="15252" cap="sq">
              <a:solidFill>
                <a:srgbClr val="EEE3CD"/>
              </a:solidFill>
              <a:prstDash val="solid"/>
              <a:miter/>
            </a:ln>
          </p:spPr>
        </p:sp>
      </p:grpSp>
      <p:sp>
        <p:nvSpPr>
          <p:cNvPr name="TextBox 27" id="27"/>
          <p:cNvSpPr txBox="true"/>
          <p:nvPr/>
        </p:nvSpPr>
        <p:spPr>
          <a:xfrm rot="0">
            <a:off x="7824483" y="4704321"/>
            <a:ext cx="2607574" cy="237049"/>
          </a:xfrm>
          <a:prstGeom prst="rect">
            <a:avLst/>
          </a:prstGeom>
        </p:spPr>
        <p:txBody>
          <a:bodyPr anchor="t" rtlCol="false" tIns="0" lIns="0" bIns="0" rIns="0">
            <a:spAutoFit/>
          </a:bodyPr>
          <a:lstStyle/>
          <a:p>
            <a:pPr algn="ctr">
              <a:lnSpc>
                <a:spcPts val="1796"/>
              </a:lnSpc>
            </a:pPr>
            <a:r>
              <a:rPr lang="en-US" sz="1576" b="true">
                <a:solidFill>
                  <a:srgbClr val="CDA349"/>
                </a:solidFill>
                <a:latin typeface="Aptos Bold"/>
                <a:ea typeface="Aptos Bold"/>
                <a:cs typeface="Aptos Bold"/>
                <a:sym typeface="Aptos Bold"/>
              </a:rPr>
              <a:t>Audit</a:t>
            </a:r>
          </a:p>
        </p:txBody>
      </p:sp>
      <p:sp>
        <p:nvSpPr>
          <p:cNvPr name="TextBox 28" id="28"/>
          <p:cNvSpPr txBox="true"/>
          <p:nvPr/>
        </p:nvSpPr>
        <p:spPr>
          <a:xfrm rot="0">
            <a:off x="7824483" y="5065414"/>
            <a:ext cx="2607574" cy="274025"/>
          </a:xfrm>
          <a:prstGeom prst="rect">
            <a:avLst/>
          </a:prstGeom>
        </p:spPr>
        <p:txBody>
          <a:bodyPr anchor="t" rtlCol="false" tIns="0" lIns="0" bIns="0" rIns="0">
            <a:spAutoFit/>
          </a:bodyPr>
          <a:lstStyle/>
          <a:p>
            <a:pPr algn="ctr">
              <a:lnSpc>
                <a:spcPts val="1505"/>
              </a:lnSpc>
            </a:pPr>
            <a:r>
              <a:rPr lang="en-US" sz="1321">
                <a:solidFill>
                  <a:srgbClr val="122B40"/>
                </a:solidFill>
                <a:latin typeface="Aptos"/>
                <a:ea typeface="Aptos"/>
                <a:cs typeface="Aptos"/>
                <a:sym typeface="Aptos"/>
              </a:rPr>
              <a:t>Where did it influence action?</a:t>
            </a:r>
          </a:p>
        </p:txBody>
      </p:sp>
      <p:grpSp>
        <p:nvGrpSpPr>
          <p:cNvPr name="Group 29" id="29"/>
          <p:cNvGrpSpPr/>
          <p:nvPr/>
        </p:nvGrpSpPr>
        <p:grpSpPr>
          <a:xfrm rot="0">
            <a:off x="11591458" y="3355419"/>
            <a:ext cx="4888240" cy="1964446"/>
            <a:chOff x="0" y="0"/>
            <a:chExt cx="6517653" cy="2619261"/>
          </a:xfrm>
        </p:grpSpPr>
        <p:sp>
          <p:nvSpPr>
            <p:cNvPr name="Freeform 30" id="30"/>
            <p:cNvSpPr/>
            <p:nvPr/>
          </p:nvSpPr>
          <p:spPr>
            <a:xfrm flipH="false" flipV="false" rot="0">
              <a:off x="0" y="0"/>
              <a:ext cx="6517640" cy="2619248"/>
            </a:xfrm>
            <a:custGeom>
              <a:avLst/>
              <a:gdLst/>
              <a:ahLst/>
              <a:cxnLst/>
              <a:rect r="r" b="b" t="t" l="l"/>
              <a:pathLst>
                <a:path h="2619248" w="6517640">
                  <a:moveTo>
                    <a:pt x="0" y="147574"/>
                  </a:moveTo>
                  <a:cubicBezTo>
                    <a:pt x="0" y="66040"/>
                    <a:pt x="66040" y="0"/>
                    <a:pt x="147574" y="0"/>
                  </a:cubicBezTo>
                  <a:lnTo>
                    <a:pt x="6370066" y="0"/>
                  </a:lnTo>
                  <a:cubicBezTo>
                    <a:pt x="6451600" y="0"/>
                    <a:pt x="6517640" y="66040"/>
                    <a:pt x="6517640" y="147574"/>
                  </a:cubicBezTo>
                  <a:lnTo>
                    <a:pt x="6517640" y="2471674"/>
                  </a:lnTo>
                  <a:cubicBezTo>
                    <a:pt x="6517640" y="2553208"/>
                    <a:pt x="6451600" y="2619248"/>
                    <a:pt x="6370066" y="2619248"/>
                  </a:cubicBezTo>
                  <a:lnTo>
                    <a:pt x="147574" y="2619248"/>
                  </a:lnTo>
                  <a:cubicBezTo>
                    <a:pt x="66040" y="2619248"/>
                    <a:pt x="0" y="2553208"/>
                    <a:pt x="0" y="2471674"/>
                  </a:cubicBezTo>
                  <a:close/>
                </a:path>
              </a:pathLst>
            </a:custGeom>
            <a:solidFill>
              <a:srgbClr val="FFFFFF">
                <a:alpha val="80784"/>
              </a:srgbClr>
            </a:solidFill>
            <a:ln w="15252" cap="sq">
              <a:solidFill>
                <a:srgbClr val="CDA349"/>
              </a:solidFill>
              <a:prstDash val="solid"/>
              <a:miter/>
            </a:ln>
          </p:spPr>
        </p:sp>
      </p:grpSp>
      <p:grpSp>
        <p:nvGrpSpPr>
          <p:cNvPr name="Group 31" id="31"/>
          <p:cNvGrpSpPr/>
          <p:nvPr/>
        </p:nvGrpSpPr>
        <p:grpSpPr>
          <a:xfrm rot="0">
            <a:off x="11983431" y="3665039"/>
            <a:ext cx="4104294" cy="1372676"/>
            <a:chOff x="0" y="0"/>
            <a:chExt cx="5472392" cy="1830235"/>
          </a:xfrm>
        </p:grpSpPr>
        <p:sp>
          <p:nvSpPr>
            <p:cNvPr name="Freeform 32" id="32"/>
            <p:cNvSpPr/>
            <p:nvPr/>
          </p:nvSpPr>
          <p:spPr>
            <a:xfrm flipH="false" flipV="false" rot="0">
              <a:off x="0" y="0"/>
              <a:ext cx="5472387" cy="1830230"/>
            </a:xfrm>
            <a:custGeom>
              <a:avLst/>
              <a:gdLst/>
              <a:ahLst/>
              <a:cxnLst/>
              <a:rect r="r" b="b" t="t" l="l"/>
              <a:pathLst>
                <a:path h="1830230" w="5472387">
                  <a:moveTo>
                    <a:pt x="0" y="0"/>
                  </a:moveTo>
                  <a:lnTo>
                    <a:pt x="5472387" y="0"/>
                  </a:lnTo>
                  <a:lnTo>
                    <a:pt x="5472387" y="1830230"/>
                  </a:lnTo>
                  <a:lnTo>
                    <a:pt x="0" y="1830230"/>
                  </a:lnTo>
                  <a:close/>
                </a:path>
              </a:pathLst>
            </a:custGeom>
            <a:blipFill>
              <a:blip r:embed="rId3">
                <a:alphaModFix amt="0"/>
              </a:blip>
              <a:stretch>
                <a:fillRect l="0" t="-8260" r="0" b="-8260"/>
              </a:stretch>
            </a:blipFill>
          </p:spPr>
        </p:sp>
        <p:sp>
          <p:nvSpPr>
            <p:cNvPr name="TextBox 33" id="33"/>
            <p:cNvSpPr txBox="true"/>
            <p:nvPr/>
          </p:nvSpPr>
          <p:spPr>
            <a:xfrm>
              <a:off x="0" y="19050"/>
              <a:ext cx="5472392" cy="1811185"/>
            </a:xfrm>
            <a:prstGeom prst="rect">
              <a:avLst/>
            </a:prstGeom>
          </p:spPr>
          <p:txBody>
            <a:bodyPr anchor="ctr" rtlCol="false" tIns="0" lIns="0" bIns="0" rIns="0"/>
            <a:lstStyle/>
            <a:p>
              <a:pPr algn="ctr">
                <a:lnSpc>
                  <a:spcPts val="2994"/>
                </a:lnSpc>
              </a:pPr>
              <a:r>
                <a:rPr lang="en-US" sz="2627" b="true">
                  <a:solidFill>
                    <a:srgbClr val="122B40"/>
                  </a:solidFill>
                  <a:latin typeface="Aptos Bold"/>
                  <a:ea typeface="Aptos Bold"/>
                  <a:cs typeface="Aptos Bold"/>
                  <a:sym typeface="Aptos Bold"/>
                </a:rPr>
                <a:t>““The patient prefers communication through their spouse.””</a:t>
              </a:r>
            </a:p>
          </p:txBody>
        </p:sp>
      </p:grpSp>
      <p:sp>
        <p:nvSpPr>
          <p:cNvPr name="TextBox 34" id="34"/>
          <p:cNvSpPr txBox="true"/>
          <p:nvPr/>
        </p:nvSpPr>
        <p:spPr>
          <a:xfrm rot="0">
            <a:off x="11736600" y="5802459"/>
            <a:ext cx="4666574" cy="1156735"/>
          </a:xfrm>
          <a:prstGeom prst="rect">
            <a:avLst/>
          </a:prstGeom>
        </p:spPr>
        <p:txBody>
          <a:bodyPr anchor="t" rtlCol="false" tIns="0" lIns="0" bIns="0" rIns="0">
            <a:spAutoFit/>
          </a:bodyPr>
          <a:lstStyle/>
          <a:p>
            <a:pPr algn="ctr">
              <a:lnSpc>
                <a:spcPts val="1968"/>
              </a:lnSpc>
            </a:pPr>
            <a:r>
              <a:rPr lang="en-US" sz="1726">
                <a:solidFill>
                  <a:srgbClr val="122B40"/>
                </a:solidFill>
                <a:latin typeface="Aptos"/>
                <a:ea typeface="Aptos"/>
                <a:cs typeface="Aptos"/>
                <a:sym typeface="Aptos"/>
              </a:rPr>
              <a:t>This may be a preference, a temporary consent, a caregiver note, or a boundary violation—depending on context.</a:t>
            </a:r>
          </a:p>
        </p:txBody>
      </p:sp>
      <p:sp>
        <p:nvSpPr>
          <p:cNvPr name="AutoShape 35" id="35"/>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36" id="36"/>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Governed memory</a:t>
            </a:r>
          </a:p>
        </p:txBody>
      </p:sp>
      <p:sp>
        <p:nvSpPr>
          <p:cNvPr name="TextBox 37" id="37"/>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arch.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HUMAN REVIEW IS NOT ONE THING</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Match review to consequence</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Not every AI action requires the same human checkpoint.</a:t>
            </a:r>
          </a:p>
        </p:txBody>
      </p:sp>
      <p:grpSp>
        <p:nvGrpSpPr>
          <p:cNvPr name="Group 7" id="7"/>
          <p:cNvGrpSpPr/>
          <p:nvPr/>
        </p:nvGrpSpPr>
        <p:grpSpPr>
          <a:xfrm rot="0">
            <a:off x="1063057" y="3176978"/>
            <a:ext cx="9623955" cy="1305563"/>
            <a:chOff x="0" y="0"/>
            <a:chExt cx="12831940" cy="1740751"/>
          </a:xfrm>
        </p:grpSpPr>
        <p:sp>
          <p:nvSpPr>
            <p:cNvPr name="Freeform 8" id="8"/>
            <p:cNvSpPr/>
            <p:nvPr/>
          </p:nvSpPr>
          <p:spPr>
            <a:xfrm flipH="false" flipV="false" rot="0">
              <a:off x="0" y="0"/>
              <a:ext cx="12831952" cy="1740789"/>
            </a:xfrm>
            <a:custGeom>
              <a:avLst/>
              <a:gdLst/>
              <a:ahLst/>
              <a:cxnLst/>
              <a:rect r="r" b="b" t="t" l="l"/>
              <a:pathLst>
                <a:path h="1740789" w="12831952">
                  <a:moveTo>
                    <a:pt x="0" y="148209"/>
                  </a:moveTo>
                  <a:cubicBezTo>
                    <a:pt x="0" y="66294"/>
                    <a:pt x="66294" y="0"/>
                    <a:pt x="148209" y="0"/>
                  </a:cubicBezTo>
                  <a:lnTo>
                    <a:pt x="12683744" y="0"/>
                  </a:lnTo>
                  <a:cubicBezTo>
                    <a:pt x="12765532" y="0"/>
                    <a:pt x="12831952" y="66294"/>
                    <a:pt x="12831952" y="148209"/>
                  </a:cubicBezTo>
                  <a:lnTo>
                    <a:pt x="12831952" y="1592580"/>
                  </a:lnTo>
                  <a:cubicBezTo>
                    <a:pt x="12831952" y="1674368"/>
                    <a:pt x="12765659" y="1740789"/>
                    <a:pt x="12683744" y="1740789"/>
                  </a:cubicBezTo>
                  <a:lnTo>
                    <a:pt x="148209" y="1740789"/>
                  </a:lnTo>
                  <a:cubicBezTo>
                    <a:pt x="66294" y="1740789"/>
                    <a:pt x="0" y="1674368"/>
                    <a:pt x="0" y="1592580"/>
                  </a:cubicBezTo>
                  <a:close/>
                </a:path>
              </a:pathLst>
            </a:custGeom>
            <a:solidFill>
              <a:srgbClr val="FFFFFF">
                <a:alpha val="80784"/>
              </a:srgbClr>
            </a:solidFill>
            <a:ln w="15252" cap="sq">
              <a:solidFill>
                <a:srgbClr val="EEE3CD"/>
              </a:solidFill>
              <a:prstDash val="solid"/>
              <a:miter/>
            </a:ln>
          </p:spPr>
        </p:sp>
      </p:grpSp>
      <p:grpSp>
        <p:nvGrpSpPr>
          <p:cNvPr name="Group 9" id="9"/>
          <p:cNvGrpSpPr/>
          <p:nvPr/>
        </p:nvGrpSpPr>
        <p:grpSpPr>
          <a:xfrm rot="0">
            <a:off x="1390593" y="3518240"/>
            <a:ext cx="2695775" cy="595589"/>
            <a:chOff x="0" y="0"/>
            <a:chExt cx="3594367" cy="794118"/>
          </a:xfrm>
        </p:grpSpPr>
        <p:sp>
          <p:nvSpPr>
            <p:cNvPr name="Freeform 10" id="10"/>
            <p:cNvSpPr/>
            <p:nvPr/>
          </p:nvSpPr>
          <p:spPr>
            <a:xfrm flipH="false" flipV="false" rot="0">
              <a:off x="0" y="0"/>
              <a:ext cx="3594354" cy="794131"/>
            </a:xfrm>
            <a:custGeom>
              <a:avLst/>
              <a:gdLst/>
              <a:ahLst/>
              <a:cxnLst/>
              <a:rect r="r" b="b" t="t" l="l"/>
              <a:pathLst>
                <a:path h="794131" w="3594354">
                  <a:moveTo>
                    <a:pt x="0" y="151257"/>
                  </a:moveTo>
                  <a:cubicBezTo>
                    <a:pt x="0" y="67691"/>
                    <a:pt x="67691" y="0"/>
                    <a:pt x="151257" y="0"/>
                  </a:cubicBezTo>
                  <a:lnTo>
                    <a:pt x="3443097" y="0"/>
                  </a:lnTo>
                  <a:cubicBezTo>
                    <a:pt x="3526663" y="0"/>
                    <a:pt x="3594354" y="67691"/>
                    <a:pt x="3594354" y="151257"/>
                  </a:cubicBezTo>
                  <a:lnTo>
                    <a:pt x="3594354" y="642874"/>
                  </a:lnTo>
                  <a:cubicBezTo>
                    <a:pt x="3594354" y="726440"/>
                    <a:pt x="3526663" y="794131"/>
                    <a:pt x="3443097" y="794131"/>
                  </a:cubicBezTo>
                  <a:lnTo>
                    <a:pt x="151257" y="794131"/>
                  </a:lnTo>
                  <a:cubicBezTo>
                    <a:pt x="67691" y="794131"/>
                    <a:pt x="0" y="726440"/>
                    <a:pt x="0" y="642874"/>
                  </a:cubicBezTo>
                  <a:close/>
                </a:path>
              </a:pathLst>
            </a:custGeom>
            <a:solidFill>
              <a:srgbClr val="D9E1E2"/>
            </a:solidFill>
          </p:spPr>
        </p:sp>
      </p:grpSp>
      <p:grpSp>
        <p:nvGrpSpPr>
          <p:cNvPr name="Group 11" id="11"/>
          <p:cNvGrpSpPr/>
          <p:nvPr/>
        </p:nvGrpSpPr>
        <p:grpSpPr>
          <a:xfrm rot="0">
            <a:off x="1509941" y="3651304"/>
            <a:ext cx="2457088" cy="411804"/>
            <a:chOff x="0" y="0"/>
            <a:chExt cx="3276117" cy="549072"/>
          </a:xfrm>
        </p:grpSpPr>
        <p:sp>
          <p:nvSpPr>
            <p:cNvPr name="Freeform 12" id="12"/>
            <p:cNvSpPr/>
            <p:nvPr/>
          </p:nvSpPr>
          <p:spPr>
            <a:xfrm flipH="false" flipV="false" rot="0">
              <a:off x="0" y="0"/>
              <a:ext cx="3276112" cy="549069"/>
            </a:xfrm>
            <a:custGeom>
              <a:avLst/>
              <a:gdLst/>
              <a:ahLst/>
              <a:cxnLst/>
              <a:rect r="r" b="b" t="t" l="l"/>
              <a:pathLst>
                <a:path h="549069" w="3276112">
                  <a:moveTo>
                    <a:pt x="0" y="0"/>
                  </a:moveTo>
                  <a:lnTo>
                    <a:pt x="3276112" y="0"/>
                  </a:lnTo>
                  <a:lnTo>
                    <a:pt x="3276112" y="549069"/>
                  </a:lnTo>
                  <a:lnTo>
                    <a:pt x="0" y="549069"/>
                  </a:lnTo>
                  <a:close/>
                </a:path>
              </a:pathLst>
            </a:custGeom>
            <a:blipFill>
              <a:blip r:embed="rId4">
                <a:alphaModFix amt="0"/>
              </a:blip>
              <a:stretch>
                <a:fillRect l="0" t="-66260" r="0" b="-66261"/>
              </a:stretch>
            </a:blipFill>
          </p:spPr>
        </p:sp>
        <p:sp>
          <p:nvSpPr>
            <p:cNvPr name="TextBox 13" id="13"/>
            <p:cNvSpPr txBox="true"/>
            <p:nvPr/>
          </p:nvSpPr>
          <p:spPr>
            <a:xfrm>
              <a:off x="0" y="9525"/>
              <a:ext cx="3276117" cy="539547"/>
            </a:xfrm>
            <a:prstGeom prst="rect">
              <a:avLst/>
            </a:prstGeom>
          </p:spPr>
          <p:txBody>
            <a:bodyPr anchor="ctr" rtlCol="false" tIns="0" lIns="0" bIns="0" rIns="0"/>
            <a:lstStyle/>
            <a:p>
              <a:pPr algn="ctr">
                <a:lnSpc>
                  <a:spcPts val="1762"/>
                </a:lnSpc>
              </a:pPr>
              <a:r>
                <a:rPr lang="en-US" sz="1546" b="true">
                  <a:solidFill>
                    <a:srgbClr val="122B40"/>
                  </a:solidFill>
                  <a:latin typeface="Aptos Bold"/>
                  <a:ea typeface="Aptos Bold"/>
                  <a:cs typeface="Aptos Bold"/>
                  <a:sym typeface="Aptos Bold"/>
                </a:rPr>
                <a:t>Low consequence</a:t>
              </a:r>
            </a:p>
          </p:txBody>
        </p:sp>
      </p:grpSp>
      <p:sp>
        <p:nvSpPr>
          <p:cNvPr name="TextBox 14" id="14"/>
          <p:cNvSpPr txBox="true"/>
          <p:nvPr/>
        </p:nvSpPr>
        <p:spPr>
          <a:xfrm rot="0">
            <a:off x="4461443" y="3431934"/>
            <a:ext cx="5764720" cy="685829"/>
          </a:xfrm>
          <a:prstGeom prst="rect">
            <a:avLst/>
          </a:prstGeom>
        </p:spPr>
        <p:txBody>
          <a:bodyPr anchor="t" rtlCol="false" tIns="0" lIns="0" bIns="0" rIns="0">
            <a:spAutoFit/>
          </a:bodyPr>
          <a:lstStyle/>
          <a:p>
            <a:pPr algn="l">
              <a:lnSpc>
                <a:spcPts val="1916"/>
              </a:lnSpc>
            </a:pPr>
            <a:r>
              <a:rPr lang="en-US" sz="1681" b="true">
                <a:solidFill>
                  <a:srgbClr val="122B40"/>
                </a:solidFill>
                <a:latin typeface="Aptos Bold"/>
                <a:ea typeface="Aptos Bold"/>
                <a:cs typeface="Aptos Bold"/>
                <a:sym typeface="Aptos Bold"/>
              </a:rPr>
              <a:t>Formatting</a:t>
            </a:r>
          </a:p>
          <a:p>
            <a:pPr algn="l">
              <a:lnSpc>
                <a:spcPts val="1916"/>
              </a:lnSpc>
            </a:pPr>
            <a:r>
              <a:rPr lang="en-US" sz="1681" b="true">
                <a:solidFill>
                  <a:srgbClr val="122B40"/>
                </a:solidFill>
                <a:latin typeface="Aptos Bold"/>
                <a:ea typeface="Aptos Bold"/>
                <a:cs typeface="Aptos Bold"/>
                <a:sym typeface="Aptos Bold"/>
              </a:rPr>
              <a:t>Scheduling suggestions</a:t>
            </a:r>
          </a:p>
          <a:p>
            <a:pPr algn="l">
              <a:lnSpc>
                <a:spcPts val="1916"/>
              </a:lnSpc>
            </a:pPr>
            <a:r>
              <a:rPr lang="en-US" sz="1681" b="true">
                <a:solidFill>
                  <a:srgbClr val="122B40"/>
                </a:solidFill>
                <a:latin typeface="Aptos Bold"/>
                <a:ea typeface="Aptos Bold"/>
                <a:cs typeface="Aptos Bold"/>
                <a:sym typeface="Aptos Bold"/>
              </a:rPr>
              <a:t>Educational summaries</a:t>
            </a:r>
          </a:p>
        </p:txBody>
      </p:sp>
      <p:grpSp>
        <p:nvGrpSpPr>
          <p:cNvPr name="Group 15" id="15"/>
          <p:cNvGrpSpPr/>
          <p:nvPr/>
        </p:nvGrpSpPr>
        <p:grpSpPr>
          <a:xfrm rot="0">
            <a:off x="1063057" y="4714370"/>
            <a:ext cx="9623955" cy="1305563"/>
            <a:chOff x="0" y="0"/>
            <a:chExt cx="12831940" cy="1740751"/>
          </a:xfrm>
        </p:grpSpPr>
        <p:sp>
          <p:nvSpPr>
            <p:cNvPr name="Freeform 16" id="16"/>
            <p:cNvSpPr/>
            <p:nvPr/>
          </p:nvSpPr>
          <p:spPr>
            <a:xfrm flipH="false" flipV="false" rot="0">
              <a:off x="0" y="0"/>
              <a:ext cx="12831952" cy="1740789"/>
            </a:xfrm>
            <a:custGeom>
              <a:avLst/>
              <a:gdLst/>
              <a:ahLst/>
              <a:cxnLst/>
              <a:rect r="r" b="b" t="t" l="l"/>
              <a:pathLst>
                <a:path h="1740789" w="12831952">
                  <a:moveTo>
                    <a:pt x="0" y="148209"/>
                  </a:moveTo>
                  <a:cubicBezTo>
                    <a:pt x="0" y="66294"/>
                    <a:pt x="66294" y="0"/>
                    <a:pt x="148209" y="0"/>
                  </a:cubicBezTo>
                  <a:lnTo>
                    <a:pt x="12683744" y="0"/>
                  </a:lnTo>
                  <a:cubicBezTo>
                    <a:pt x="12765532" y="0"/>
                    <a:pt x="12831952" y="66294"/>
                    <a:pt x="12831952" y="148209"/>
                  </a:cubicBezTo>
                  <a:lnTo>
                    <a:pt x="12831952" y="1592580"/>
                  </a:lnTo>
                  <a:cubicBezTo>
                    <a:pt x="12831952" y="1674368"/>
                    <a:pt x="12765659" y="1740789"/>
                    <a:pt x="12683744" y="1740789"/>
                  </a:cubicBezTo>
                  <a:lnTo>
                    <a:pt x="148209" y="1740789"/>
                  </a:lnTo>
                  <a:cubicBezTo>
                    <a:pt x="66294" y="1740789"/>
                    <a:pt x="0" y="1674368"/>
                    <a:pt x="0" y="1592580"/>
                  </a:cubicBezTo>
                  <a:close/>
                </a:path>
              </a:pathLst>
            </a:custGeom>
            <a:solidFill>
              <a:srgbClr val="FFFFFF">
                <a:alpha val="80784"/>
              </a:srgbClr>
            </a:solidFill>
            <a:ln w="15252" cap="sq">
              <a:solidFill>
                <a:srgbClr val="EEE3CD"/>
              </a:solidFill>
              <a:prstDash val="solid"/>
              <a:miter/>
            </a:ln>
          </p:spPr>
        </p:sp>
      </p:grpSp>
      <p:grpSp>
        <p:nvGrpSpPr>
          <p:cNvPr name="Group 17" id="17"/>
          <p:cNvGrpSpPr/>
          <p:nvPr/>
        </p:nvGrpSpPr>
        <p:grpSpPr>
          <a:xfrm rot="0">
            <a:off x="1390593" y="5055632"/>
            <a:ext cx="2695775" cy="595589"/>
            <a:chOff x="0" y="0"/>
            <a:chExt cx="3594367" cy="794118"/>
          </a:xfrm>
        </p:grpSpPr>
        <p:sp>
          <p:nvSpPr>
            <p:cNvPr name="Freeform 18" id="18"/>
            <p:cNvSpPr/>
            <p:nvPr/>
          </p:nvSpPr>
          <p:spPr>
            <a:xfrm flipH="false" flipV="false" rot="0">
              <a:off x="0" y="0"/>
              <a:ext cx="3594354" cy="794131"/>
            </a:xfrm>
            <a:custGeom>
              <a:avLst/>
              <a:gdLst/>
              <a:ahLst/>
              <a:cxnLst/>
              <a:rect r="r" b="b" t="t" l="l"/>
              <a:pathLst>
                <a:path h="794131" w="3594354">
                  <a:moveTo>
                    <a:pt x="0" y="151257"/>
                  </a:moveTo>
                  <a:cubicBezTo>
                    <a:pt x="0" y="67691"/>
                    <a:pt x="67691" y="0"/>
                    <a:pt x="151257" y="0"/>
                  </a:cubicBezTo>
                  <a:lnTo>
                    <a:pt x="3443097" y="0"/>
                  </a:lnTo>
                  <a:cubicBezTo>
                    <a:pt x="3526663" y="0"/>
                    <a:pt x="3594354" y="67691"/>
                    <a:pt x="3594354" y="151257"/>
                  </a:cubicBezTo>
                  <a:lnTo>
                    <a:pt x="3594354" y="642874"/>
                  </a:lnTo>
                  <a:cubicBezTo>
                    <a:pt x="3594354" y="726440"/>
                    <a:pt x="3526663" y="794131"/>
                    <a:pt x="3443097" y="794131"/>
                  </a:cubicBezTo>
                  <a:lnTo>
                    <a:pt x="151257" y="794131"/>
                  </a:lnTo>
                  <a:cubicBezTo>
                    <a:pt x="67691" y="794131"/>
                    <a:pt x="0" y="726440"/>
                    <a:pt x="0" y="642874"/>
                  </a:cubicBezTo>
                  <a:close/>
                </a:path>
              </a:pathLst>
            </a:custGeom>
            <a:solidFill>
              <a:srgbClr val="CDA349"/>
            </a:solidFill>
          </p:spPr>
        </p:sp>
      </p:grpSp>
      <p:grpSp>
        <p:nvGrpSpPr>
          <p:cNvPr name="Group 19" id="19"/>
          <p:cNvGrpSpPr/>
          <p:nvPr/>
        </p:nvGrpSpPr>
        <p:grpSpPr>
          <a:xfrm rot="0">
            <a:off x="1509941" y="5188706"/>
            <a:ext cx="2457088" cy="411804"/>
            <a:chOff x="0" y="0"/>
            <a:chExt cx="3276117" cy="549072"/>
          </a:xfrm>
        </p:grpSpPr>
        <p:sp>
          <p:nvSpPr>
            <p:cNvPr name="Freeform 20" id="20"/>
            <p:cNvSpPr/>
            <p:nvPr/>
          </p:nvSpPr>
          <p:spPr>
            <a:xfrm flipH="false" flipV="false" rot="0">
              <a:off x="0" y="0"/>
              <a:ext cx="3276112" cy="549069"/>
            </a:xfrm>
            <a:custGeom>
              <a:avLst/>
              <a:gdLst/>
              <a:ahLst/>
              <a:cxnLst/>
              <a:rect r="r" b="b" t="t" l="l"/>
              <a:pathLst>
                <a:path h="549069" w="3276112">
                  <a:moveTo>
                    <a:pt x="0" y="0"/>
                  </a:moveTo>
                  <a:lnTo>
                    <a:pt x="3276112" y="0"/>
                  </a:lnTo>
                  <a:lnTo>
                    <a:pt x="3276112" y="549069"/>
                  </a:lnTo>
                  <a:lnTo>
                    <a:pt x="0" y="549069"/>
                  </a:lnTo>
                  <a:close/>
                </a:path>
              </a:pathLst>
            </a:custGeom>
            <a:blipFill>
              <a:blip r:embed="rId4">
                <a:alphaModFix amt="0"/>
              </a:blip>
              <a:stretch>
                <a:fillRect l="0" t="-66260" r="0" b="-66261"/>
              </a:stretch>
            </a:blipFill>
          </p:spPr>
        </p:sp>
        <p:sp>
          <p:nvSpPr>
            <p:cNvPr name="TextBox 21" id="21"/>
            <p:cNvSpPr txBox="true"/>
            <p:nvPr/>
          </p:nvSpPr>
          <p:spPr>
            <a:xfrm>
              <a:off x="0" y="9525"/>
              <a:ext cx="3276117" cy="539547"/>
            </a:xfrm>
            <a:prstGeom prst="rect">
              <a:avLst/>
            </a:prstGeom>
          </p:spPr>
          <p:txBody>
            <a:bodyPr anchor="ctr" rtlCol="false" tIns="0" lIns="0" bIns="0" rIns="0"/>
            <a:lstStyle/>
            <a:p>
              <a:pPr algn="ctr">
                <a:lnSpc>
                  <a:spcPts val="1762"/>
                </a:lnSpc>
              </a:pPr>
              <a:r>
                <a:rPr lang="en-US" sz="1546" b="true">
                  <a:solidFill>
                    <a:srgbClr val="FFFFFF"/>
                  </a:solidFill>
                  <a:latin typeface="Aptos Bold"/>
                  <a:ea typeface="Aptos Bold"/>
                  <a:cs typeface="Aptos Bold"/>
                  <a:sym typeface="Aptos Bold"/>
                </a:rPr>
                <a:t>Moderate consequence</a:t>
              </a:r>
            </a:p>
          </p:txBody>
        </p:sp>
      </p:grpSp>
      <p:sp>
        <p:nvSpPr>
          <p:cNvPr name="TextBox 22" id="22"/>
          <p:cNvSpPr txBox="true"/>
          <p:nvPr/>
        </p:nvSpPr>
        <p:spPr>
          <a:xfrm rot="0">
            <a:off x="4461443" y="4969326"/>
            <a:ext cx="5764720" cy="685829"/>
          </a:xfrm>
          <a:prstGeom prst="rect">
            <a:avLst/>
          </a:prstGeom>
        </p:spPr>
        <p:txBody>
          <a:bodyPr anchor="t" rtlCol="false" tIns="0" lIns="0" bIns="0" rIns="0">
            <a:spAutoFit/>
          </a:bodyPr>
          <a:lstStyle/>
          <a:p>
            <a:pPr algn="l">
              <a:lnSpc>
                <a:spcPts val="1916"/>
              </a:lnSpc>
            </a:pPr>
            <a:r>
              <a:rPr lang="en-US" sz="1681" b="true">
                <a:solidFill>
                  <a:srgbClr val="122B40"/>
                </a:solidFill>
                <a:latin typeface="Aptos Bold"/>
                <a:ea typeface="Aptos Bold"/>
                <a:cs typeface="Aptos Bold"/>
                <a:sym typeface="Aptos Bold"/>
              </a:rPr>
              <a:t>Draft patient messages</a:t>
            </a:r>
          </a:p>
          <a:p>
            <a:pPr algn="l">
              <a:lnSpc>
                <a:spcPts val="1916"/>
              </a:lnSpc>
            </a:pPr>
            <a:r>
              <a:rPr lang="en-US" sz="1681" b="true">
                <a:solidFill>
                  <a:srgbClr val="122B40"/>
                </a:solidFill>
                <a:latin typeface="Aptos Bold"/>
                <a:ea typeface="Aptos Bold"/>
                <a:cs typeface="Aptos Bold"/>
                <a:sym typeface="Aptos Bold"/>
              </a:rPr>
              <a:t>Identify missing documentation</a:t>
            </a:r>
          </a:p>
          <a:p>
            <a:pPr algn="l">
              <a:lnSpc>
                <a:spcPts val="1916"/>
              </a:lnSpc>
            </a:pPr>
            <a:r>
              <a:rPr lang="en-US" sz="1681" b="true">
                <a:solidFill>
                  <a:srgbClr val="122B40"/>
                </a:solidFill>
                <a:latin typeface="Aptos Bold"/>
                <a:ea typeface="Aptos Bold"/>
                <a:cs typeface="Aptos Bold"/>
                <a:sym typeface="Aptos Bold"/>
              </a:rPr>
              <a:t>Route information</a:t>
            </a:r>
          </a:p>
        </p:txBody>
      </p:sp>
      <p:grpSp>
        <p:nvGrpSpPr>
          <p:cNvPr name="Group 23" id="23"/>
          <p:cNvGrpSpPr/>
          <p:nvPr/>
        </p:nvGrpSpPr>
        <p:grpSpPr>
          <a:xfrm rot="0">
            <a:off x="1063057" y="6251762"/>
            <a:ext cx="9623955" cy="1305563"/>
            <a:chOff x="0" y="0"/>
            <a:chExt cx="12831940" cy="1740751"/>
          </a:xfrm>
        </p:grpSpPr>
        <p:sp>
          <p:nvSpPr>
            <p:cNvPr name="Freeform 24" id="24"/>
            <p:cNvSpPr/>
            <p:nvPr/>
          </p:nvSpPr>
          <p:spPr>
            <a:xfrm flipH="false" flipV="false" rot="0">
              <a:off x="0" y="0"/>
              <a:ext cx="12831952" cy="1740789"/>
            </a:xfrm>
            <a:custGeom>
              <a:avLst/>
              <a:gdLst/>
              <a:ahLst/>
              <a:cxnLst/>
              <a:rect r="r" b="b" t="t" l="l"/>
              <a:pathLst>
                <a:path h="1740789" w="12831952">
                  <a:moveTo>
                    <a:pt x="0" y="148209"/>
                  </a:moveTo>
                  <a:cubicBezTo>
                    <a:pt x="0" y="66294"/>
                    <a:pt x="66294" y="0"/>
                    <a:pt x="148209" y="0"/>
                  </a:cubicBezTo>
                  <a:lnTo>
                    <a:pt x="12683744" y="0"/>
                  </a:lnTo>
                  <a:cubicBezTo>
                    <a:pt x="12765532" y="0"/>
                    <a:pt x="12831952" y="66294"/>
                    <a:pt x="12831952" y="148209"/>
                  </a:cubicBezTo>
                  <a:lnTo>
                    <a:pt x="12831952" y="1592580"/>
                  </a:lnTo>
                  <a:cubicBezTo>
                    <a:pt x="12831952" y="1674368"/>
                    <a:pt x="12765659" y="1740789"/>
                    <a:pt x="12683744" y="1740789"/>
                  </a:cubicBezTo>
                  <a:lnTo>
                    <a:pt x="148209" y="1740789"/>
                  </a:lnTo>
                  <a:cubicBezTo>
                    <a:pt x="66294" y="1740789"/>
                    <a:pt x="0" y="1674368"/>
                    <a:pt x="0" y="1592580"/>
                  </a:cubicBezTo>
                  <a:close/>
                </a:path>
              </a:pathLst>
            </a:custGeom>
            <a:solidFill>
              <a:srgbClr val="FFFFFF">
                <a:alpha val="80784"/>
              </a:srgbClr>
            </a:solidFill>
            <a:ln w="15252" cap="sq">
              <a:solidFill>
                <a:srgbClr val="EEE3CD"/>
              </a:solidFill>
              <a:prstDash val="solid"/>
              <a:miter/>
            </a:ln>
          </p:spPr>
        </p:sp>
      </p:grpSp>
      <p:grpSp>
        <p:nvGrpSpPr>
          <p:cNvPr name="Group 25" id="25"/>
          <p:cNvGrpSpPr/>
          <p:nvPr/>
        </p:nvGrpSpPr>
        <p:grpSpPr>
          <a:xfrm rot="0">
            <a:off x="1390593" y="6593024"/>
            <a:ext cx="2695775" cy="595589"/>
            <a:chOff x="0" y="0"/>
            <a:chExt cx="3594367" cy="794118"/>
          </a:xfrm>
        </p:grpSpPr>
        <p:sp>
          <p:nvSpPr>
            <p:cNvPr name="Freeform 26" id="26"/>
            <p:cNvSpPr/>
            <p:nvPr/>
          </p:nvSpPr>
          <p:spPr>
            <a:xfrm flipH="false" flipV="false" rot="0">
              <a:off x="0" y="0"/>
              <a:ext cx="3594354" cy="794131"/>
            </a:xfrm>
            <a:custGeom>
              <a:avLst/>
              <a:gdLst/>
              <a:ahLst/>
              <a:cxnLst/>
              <a:rect r="r" b="b" t="t" l="l"/>
              <a:pathLst>
                <a:path h="794131" w="3594354">
                  <a:moveTo>
                    <a:pt x="0" y="151257"/>
                  </a:moveTo>
                  <a:cubicBezTo>
                    <a:pt x="0" y="67691"/>
                    <a:pt x="67691" y="0"/>
                    <a:pt x="151257" y="0"/>
                  </a:cubicBezTo>
                  <a:lnTo>
                    <a:pt x="3443097" y="0"/>
                  </a:lnTo>
                  <a:cubicBezTo>
                    <a:pt x="3526663" y="0"/>
                    <a:pt x="3594354" y="67691"/>
                    <a:pt x="3594354" y="151257"/>
                  </a:cubicBezTo>
                  <a:lnTo>
                    <a:pt x="3594354" y="642874"/>
                  </a:lnTo>
                  <a:cubicBezTo>
                    <a:pt x="3594354" y="726440"/>
                    <a:pt x="3526663" y="794131"/>
                    <a:pt x="3443097" y="794131"/>
                  </a:cubicBezTo>
                  <a:lnTo>
                    <a:pt x="151257" y="794131"/>
                  </a:lnTo>
                  <a:cubicBezTo>
                    <a:pt x="67691" y="794131"/>
                    <a:pt x="0" y="726440"/>
                    <a:pt x="0" y="642874"/>
                  </a:cubicBezTo>
                  <a:close/>
                </a:path>
              </a:pathLst>
            </a:custGeom>
            <a:solidFill>
              <a:srgbClr val="122B40"/>
            </a:solidFill>
          </p:spPr>
        </p:sp>
      </p:grpSp>
      <p:grpSp>
        <p:nvGrpSpPr>
          <p:cNvPr name="Group 27" id="27"/>
          <p:cNvGrpSpPr/>
          <p:nvPr/>
        </p:nvGrpSpPr>
        <p:grpSpPr>
          <a:xfrm rot="0">
            <a:off x="1509941" y="6726098"/>
            <a:ext cx="2457088" cy="411804"/>
            <a:chOff x="0" y="0"/>
            <a:chExt cx="3276117" cy="549072"/>
          </a:xfrm>
        </p:grpSpPr>
        <p:sp>
          <p:nvSpPr>
            <p:cNvPr name="Freeform 28" id="28"/>
            <p:cNvSpPr/>
            <p:nvPr/>
          </p:nvSpPr>
          <p:spPr>
            <a:xfrm flipH="false" flipV="false" rot="0">
              <a:off x="0" y="0"/>
              <a:ext cx="3276112" cy="549069"/>
            </a:xfrm>
            <a:custGeom>
              <a:avLst/>
              <a:gdLst/>
              <a:ahLst/>
              <a:cxnLst/>
              <a:rect r="r" b="b" t="t" l="l"/>
              <a:pathLst>
                <a:path h="549069" w="3276112">
                  <a:moveTo>
                    <a:pt x="0" y="0"/>
                  </a:moveTo>
                  <a:lnTo>
                    <a:pt x="3276112" y="0"/>
                  </a:lnTo>
                  <a:lnTo>
                    <a:pt x="3276112" y="549069"/>
                  </a:lnTo>
                  <a:lnTo>
                    <a:pt x="0" y="549069"/>
                  </a:lnTo>
                  <a:close/>
                </a:path>
              </a:pathLst>
            </a:custGeom>
            <a:blipFill>
              <a:blip r:embed="rId4">
                <a:alphaModFix amt="0"/>
              </a:blip>
              <a:stretch>
                <a:fillRect l="0" t="-66260" r="0" b="-66261"/>
              </a:stretch>
            </a:blipFill>
          </p:spPr>
        </p:sp>
        <p:sp>
          <p:nvSpPr>
            <p:cNvPr name="TextBox 29" id="29"/>
            <p:cNvSpPr txBox="true"/>
            <p:nvPr/>
          </p:nvSpPr>
          <p:spPr>
            <a:xfrm>
              <a:off x="0" y="9525"/>
              <a:ext cx="3276117" cy="539547"/>
            </a:xfrm>
            <a:prstGeom prst="rect">
              <a:avLst/>
            </a:prstGeom>
          </p:spPr>
          <p:txBody>
            <a:bodyPr anchor="ctr" rtlCol="false" tIns="0" lIns="0" bIns="0" rIns="0"/>
            <a:lstStyle/>
            <a:p>
              <a:pPr algn="ctr">
                <a:lnSpc>
                  <a:spcPts val="1762"/>
                </a:lnSpc>
              </a:pPr>
              <a:r>
                <a:rPr lang="en-US" sz="1546" b="true">
                  <a:solidFill>
                    <a:srgbClr val="FFFFFF"/>
                  </a:solidFill>
                  <a:latin typeface="Aptos Bold"/>
                  <a:ea typeface="Aptos Bold"/>
                  <a:cs typeface="Aptos Bold"/>
                  <a:sym typeface="Aptos Bold"/>
                </a:rPr>
                <a:t>High consequence</a:t>
              </a:r>
            </a:p>
          </p:txBody>
        </p:sp>
      </p:grpSp>
      <p:sp>
        <p:nvSpPr>
          <p:cNvPr name="TextBox 30" id="30"/>
          <p:cNvSpPr txBox="true"/>
          <p:nvPr/>
        </p:nvSpPr>
        <p:spPr>
          <a:xfrm rot="0">
            <a:off x="4461443" y="6506718"/>
            <a:ext cx="5764720" cy="685829"/>
          </a:xfrm>
          <a:prstGeom prst="rect">
            <a:avLst/>
          </a:prstGeom>
        </p:spPr>
        <p:txBody>
          <a:bodyPr anchor="t" rtlCol="false" tIns="0" lIns="0" bIns="0" rIns="0">
            <a:spAutoFit/>
          </a:bodyPr>
          <a:lstStyle/>
          <a:p>
            <a:pPr algn="l">
              <a:lnSpc>
                <a:spcPts val="1916"/>
              </a:lnSpc>
            </a:pPr>
            <a:r>
              <a:rPr lang="en-US" sz="1681" b="true">
                <a:solidFill>
                  <a:srgbClr val="122B40"/>
                </a:solidFill>
                <a:latin typeface="Aptos Bold"/>
                <a:ea typeface="Aptos Bold"/>
                <a:cs typeface="Aptos Bold"/>
                <a:sym typeface="Aptos Bold"/>
              </a:rPr>
              <a:t>Submit authorizations</a:t>
            </a:r>
          </a:p>
          <a:p>
            <a:pPr algn="l">
              <a:lnSpc>
                <a:spcPts val="1916"/>
              </a:lnSpc>
            </a:pPr>
            <a:r>
              <a:rPr lang="en-US" sz="1681" b="true">
                <a:solidFill>
                  <a:srgbClr val="122B40"/>
                </a:solidFill>
                <a:latin typeface="Aptos Bold"/>
                <a:ea typeface="Aptos Bold"/>
                <a:cs typeface="Aptos Bold"/>
                <a:sym typeface="Aptos Bold"/>
              </a:rPr>
              <a:t>Modify orders</a:t>
            </a:r>
          </a:p>
          <a:p>
            <a:pPr algn="l">
              <a:lnSpc>
                <a:spcPts val="1916"/>
              </a:lnSpc>
            </a:pPr>
            <a:r>
              <a:rPr lang="en-US" sz="1681" b="true">
                <a:solidFill>
                  <a:srgbClr val="122B40"/>
                </a:solidFill>
                <a:latin typeface="Aptos Bold"/>
                <a:ea typeface="Aptos Bold"/>
                <a:cs typeface="Aptos Bold"/>
                <a:sym typeface="Aptos Bold"/>
              </a:rPr>
              <a:t>Initiate treatment-related action</a:t>
            </a:r>
          </a:p>
        </p:txBody>
      </p:sp>
      <p:sp>
        <p:nvSpPr>
          <p:cNvPr name="TextBox 31" id="31"/>
          <p:cNvSpPr txBox="true"/>
          <p:nvPr/>
        </p:nvSpPr>
        <p:spPr>
          <a:xfrm rot="0">
            <a:off x="1304296" y="8135998"/>
            <a:ext cx="9127760" cy="566490"/>
          </a:xfrm>
          <a:prstGeom prst="rect">
            <a:avLst/>
          </a:prstGeom>
        </p:spPr>
        <p:txBody>
          <a:bodyPr anchor="t" rtlCol="false" tIns="0" lIns="0" bIns="0" rIns="0">
            <a:spAutoFit/>
          </a:bodyPr>
          <a:lstStyle/>
          <a:p>
            <a:pPr algn="ctr">
              <a:lnSpc>
                <a:spcPts val="2344"/>
              </a:lnSpc>
            </a:pPr>
            <a:r>
              <a:rPr lang="en-US" sz="2056" b="true">
                <a:solidFill>
                  <a:srgbClr val="122B40"/>
                </a:solidFill>
                <a:latin typeface="Aptos Bold"/>
                <a:ea typeface="Aptos Bold"/>
                <a:cs typeface="Aptos Bold"/>
                <a:sym typeface="Aptos Bold"/>
              </a:rPr>
              <a:t>Review should be matched to consequence, uncertainty, reversibility, and professional responsibility.</a:t>
            </a:r>
          </a:p>
        </p:txBody>
      </p:sp>
      <p:sp>
        <p:nvSpPr>
          <p:cNvPr name="AutoShape 32" id="32"/>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33" id="33"/>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Human review thresholds</a:t>
            </a:r>
          </a:p>
        </p:txBody>
      </p:sp>
      <p:sp>
        <p:nvSpPr>
          <p:cNvPr name="TextBox 34" id="34"/>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boundaries.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KNOWLEDGE CHECK 3</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Where is the boundary failure?</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An AI reviews a record, drafts an authorization, messages the prescriber, and submits the request before pharmacist review.</a:t>
            </a:r>
          </a:p>
        </p:txBody>
      </p:sp>
      <p:sp>
        <p:nvSpPr>
          <p:cNvPr name="TextBox 7" id="7"/>
          <p:cNvSpPr txBox="true"/>
          <p:nvPr/>
        </p:nvSpPr>
        <p:spPr>
          <a:xfrm rot="0">
            <a:off x="1125845" y="3382356"/>
            <a:ext cx="9470936" cy="447151"/>
          </a:xfrm>
          <a:prstGeom prst="rect">
            <a:avLst/>
          </a:prstGeom>
        </p:spPr>
        <p:txBody>
          <a:bodyPr anchor="t" rtlCol="false" tIns="0" lIns="0" bIns="0" rIns="0">
            <a:spAutoFit/>
          </a:bodyPr>
          <a:lstStyle/>
          <a:p>
            <a:pPr algn="l">
              <a:lnSpc>
                <a:spcPts val="3080"/>
              </a:lnSpc>
            </a:pPr>
            <a:r>
              <a:rPr lang="en-US" sz="2702" b="true">
                <a:solidFill>
                  <a:srgbClr val="122B40"/>
                </a:solidFill>
                <a:latin typeface="Aptos Bold"/>
                <a:ea typeface="Aptos Bold"/>
                <a:cs typeface="Aptos Bold"/>
                <a:sym typeface="Aptos Bold"/>
              </a:rPr>
              <a:t>What is the primary governance problem?</a:t>
            </a:r>
          </a:p>
        </p:txBody>
      </p:sp>
      <p:grpSp>
        <p:nvGrpSpPr>
          <p:cNvPr name="Group 8" id="8"/>
          <p:cNvGrpSpPr/>
          <p:nvPr/>
        </p:nvGrpSpPr>
        <p:grpSpPr>
          <a:xfrm rot="0">
            <a:off x="1227782" y="4220204"/>
            <a:ext cx="9431788" cy="701592"/>
            <a:chOff x="0" y="0"/>
            <a:chExt cx="12575718" cy="935457"/>
          </a:xfrm>
        </p:grpSpPr>
        <p:sp>
          <p:nvSpPr>
            <p:cNvPr name="Freeform 9" id="9"/>
            <p:cNvSpPr/>
            <p:nvPr/>
          </p:nvSpPr>
          <p:spPr>
            <a:xfrm flipH="false" flipV="false" rot="0">
              <a:off x="0" y="0"/>
              <a:ext cx="12575794" cy="935482"/>
            </a:xfrm>
            <a:custGeom>
              <a:avLst/>
              <a:gdLst/>
              <a:ahLst/>
              <a:cxnLst/>
              <a:rect r="r" b="b" t="t" l="l"/>
              <a:pathLst>
                <a:path h="935482" w="12575794">
                  <a:moveTo>
                    <a:pt x="0" y="149733"/>
                  </a:moveTo>
                  <a:cubicBezTo>
                    <a:pt x="0" y="67056"/>
                    <a:pt x="67056" y="0"/>
                    <a:pt x="149733" y="0"/>
                  </a:cubicBezTo>
                  <a:lnTo>
                    <a:pt x="12426061" y="0"/>
                  </a:lnTo>
                  <a:cubicBezTo>
                    <a:pt x="12508738" y="0"/>
                    <a:pt x="12575794" y="67056"/>
                    <a:pt x="12575794" y="149733"/>
                  </a:cubicBezTo>
                  <a:lnTo>
                    <a:pt x="12575794" y="785749"/>
                  </a:lnTo>
                  <a:cubicBezTo>
                    <a:pt x="12575794" y="868426"/>
                    <a:pt x="12508738" y="935482"/>
                    <a:pt x="12426061" y="935482"/>
                  </a:cubicBezTo>
                  <a:lnTo>
                    <a:pt x="149733" y="935482"/>
                  </a:lnTo>
                  <a:cubicBezTo>
                    <a:pt x="67056" y="935482"/>
                    <a:pt x="0" y="868426"/>
                    <a:pt x="0" y="785749"/>
                  </a:cubicBezTo>
                  <a:close/>
                </a:path>
              </a:pathLst>
            </a:custGeom>
            <a:solidFill>
              <a:srgbClr val="FFFFFF">
                <a:alpha val="80784"/>
              </a:srgbClr>
            </a:solidFill>
            <a:ln w="15252" cap="sq">
              <a:solidFill>
                <a:srgbClr val="EEE3CD"/>
              </a:solidFill>
              <a:prstDash val="solid"/>
              <a:miter/>
            </a:ln>
          </p:spPr>
        </p:sp>
      </p:grpSp>
      <p:sp>
        <p:nvSpPr>
          <p:cNvPr name="TextBox 10" id="10"/>
          <p:cNvSpPr txBox="true"/>
          <p:nvPr/>
        </p:nvSpPr>
        <p:spPr>
          <a:xfrm rot="0">
            <a:off x="1510198" y="4425582"/>
            <a:ext cx="8715966" cy="282426"/>
          </a:xfrm>
          <a:prstGeom prst="rect">
            <a:avLst/>
          </a:prstGeom>
        </p:spPr>
        <p:txBody>
          <a:bodyPr anchor="t" rtlCol="false" tIns="0" lIns="0" bIns="0" rIns="0">
            <a:spAutoFit/>
          </a:bodyPr>
          <a:lstStyle/>
          <a:p>
            <a:pPr algn="l">
              <a:lnSpc>
                <a:spcPts val="2087"/>
              </a:lnSpc>
            </a:pPr>
            <a:r>
              <a:rPr lang="en-US" sz="1831">
                <a:solidFill>
                  <a:srgbClr val="122B40"/>
                </a:solidFill>
                <a:latin typeface="Aptos"/>
                <a:ea typeface="Aptos"/>
                <a:cs typeface="Aptos"/>
                <a:sym typeface="Aptos"/>
              </a:rPr>
              <a:t>A. The AI used too many systems</a:t>
            </a:r>
          </a:p>
        </p:txBody>
      </p:sp>
      <p:grpSp>
        <p:nvGrpSpPr>
          <p:cNvPr name="Group 11" id="11"/>
          <p:cNvGrpSpPr/>
          <p:nvPr/>
        </p:nvGrpSpPr>
        <p:grpSpPr>
          <a:xfrm rot="0">
            <a:off x="1227782" y="5071262"/>
            <a:ext cx="9431788" cy="701592"/>
            <a:chOff x="0" y="0"/>
            <a:chExt cx="12575718" cy="935457"/>
          </a:xfrm>
        </p:grpSpPr>
        <p:sp>
          <p:nvSpPr>
            <p:cNvPr name="Freeform 12" id="12"/>
            <p:cNvSpPr/>
            <p:nvPr/>
          </p:nvSpPr>
          <p:spPr>
            <a:xfrm flipH="false" flipV="false" rot="0">
              <a:off x="0" y="0"/>
              <a:ext cx="12575794" cy="935482"/>
            </a:xfrm>
            <a:custGeom>
              <a:avLst/>
              <a:gdLst/>
              <a:ahLst/>
              <a:cxnLst/>
              <a:rect r="r" b="b" t="t" l="l"/>
              <a:pathLst>
                <a:path h="935482" w="12575794">
                  <a:moveTo>
                    <a:pt x="0" y="149733"/>
                  </a:moveTo>
                  <a:cubicBezTo>
                    <a:pt x="0" y="67056"/>
                    <a:pt x="67056" y="0"/>
                    <a:pt x="149733" y="0"/>
                  </a:cubicBezTo>
                  <a:lnTo>
                    <a:pt x="12426061" y="0"/>
                  </a:lnTo>
                  <a:cubicBezTo>
                    <a:pt x="12508738" y="0"/>
                    <a:pt x="12575794" y="67056"/>
                    <a:pt x="12575794" y="149733"/>
                  </a:cubicBezTo>
                  <a:lnTo>
                    <a:pt x="12575794" y="785749"/>
                  </a:lnTo>
                  <a:cubicBezTo>
                    <a:pt x="12575794" y="868426"/>
                    <a:pt x="12508738" y="935482"/>
                    <a:pt x="12426061" y="935482"/>
                  </a:cubicBezTo>
                  <a:lnTo>
                    <a:pt x="149733" y="935482"/>
                  </a:lnTo>
                  <a:cubicBezTo>
                    <a:pt x="67056" y="935482"/>
                    <a:pt x="0" y="868426"/>
                    <a:pt x="0" y="785749"/>
                  </a:cubicBezTo>
                  <a:close/>
                </a:path>
              </a:pathLst>
            </a:custGeom>
            <a:solidFill>
              <a:srgbClr val="FFFFFF">
                <a:alpha val="80784"/>
              </a:srgbClr>
            </a:solidFill>
            <a:ln w="15252" cap="sq">
              <a:solidFill>
                <a:srgbClr val="EEE3CD"/>
              </a:solidFill>
              <a:prstDash val="solid"/>
              <a:miter/>
            </a:ln>
          </p:spPr>
        </p:sp>
      </p:grpSp>
      <p:sp>
        <p:nvSpPr>
          <p:cNvPr name="TextBox 13" id="13"/>
          <p:cNvSpPr txBox="true"/>
          <p:nvPr/>
        </p:nvSpPr>
        <p:spPr>
          <a:xfrm rot="0">
            <a:off x="1510198" y="5276640"/>
            <a:ext cx="8715966" cy="282426"/>
          </a:xfrm>
          <a:prstGeom prst="rect">
            <a:avLst/>
          </a:prstGeom>
        </p:spPr>
        <p:txBody>
          <a:bodyPr anchor="t" rtlCol="false" tIns="0" lIns="0" bIns="0" rIns="0">
            <a:spAutoFit/>
          </a:bodyPr>
          <a:lstStyle/>
          <a:p>
            <a:pPr algn="l">
              <a:lnSpc>
                <a:spcPts val="2087"/>
              </a:lnSpc>
            </a:pPr>
            <a:r>
              <a:rPr lang="en-US" sz="1831" b="true">
                <a:solidFill>
                  <a:srgbClr val="122B40"/>
                </a:solidFill>
                <a:latin typeface="Aptos Bold"/>
                <a:ea typeface="Aptos Bold"/>
                <a:cs typeface="Aptos Bold"/>
                <a:sym typeface="Aptos Bold"/>
              </a:rPr>
              <a:t>B. The AI exceeded delegated authority before the review threshold was met</a:t>
            </a:r>
          </a:p>
        </p:txBody>
      </p:sp>
      <p:grpSp>
        <p:nvGrpSpPr>
          <p:cNvPr name="Group 14" id="14"/>
          <p:cNvGrpSpPr/>
          <p:nvPr/>
        </p:nvGrpSpPr>
        <p:grpSpPr>
          <a:xfrm rot="0">
            <a:off x="1227782" y="5922321"/>
            <a:ext cx="9431788" cy="701592"/>
            <a:chOff x="0" y="0"/>
            <a:chExt cx="12575718" cy="935457"/>
          </a:xfrm>
        </p:grpSpPr>
        <p:sp>
          <p:nvSpPr>
            <p:cNvPr name="Freeform 15" id="15"/>
            <p:cNvSpPr/>
            <p:nvPr/>
          </p:nvSpPr>
          <p:spPr>
            <a:xfrm flipH="false" flipV="false" rot="0">
              <a:off x="0" y="0"/>
              <a:ext cx="12575794" cy="935482"/>
            </a:xfrm>
            <a:custGeom>
              <a:avLst/>
              <a:gdLst/>
              <a:ahLst/>
              <a:cxnLst/>
              <a:rect r="r" b="b" t="t" l="l"/>
              <a:pathLst>
                <a:path h="935482" w="12575794">
                  <a:moveTo>
                    <a:pt x="0" y="149733"/>
                  </a:moveTo>
                  <a:cubicBezTo>
                    <a:pt x="0" y="67056"/>
                    <a:pt x="67056" y="0"/>
                    <a:pt x="149733" y="0"/>
                  </a:cubicBezTo>
                  <a:lnTo>
                    <a:pt x="12426061" y="0"/>
                  </a:lnTo>
                  <a:cubicBezTo>
                    <a:pt x="12508738" y="0"/>
                    <a:pt x="12575794" y="67056"/>
                    <a:pt x="12575794" y="149733"/>
                  </a:cubicBezTo>
                  <a:lnTo>
                    <a:pt x="12575794" y="785749"/>
                  </a:lnTo>
                  <a:cubicBezTo>
                    <a:pt x="12575794" y="868426"/>
                    <a:pt x="12508738" y="935482"/>
                    <a:pt x="12426061" y="935482"/>
                  </a:cubicBezTo>
                  <a:lnTo>
                    <a:pt x="149733" y="935482"/>
                  </a:lnTo>
                  <a:cubicBezTo>
                    <a:pt x="67056" y="935482"/>
                    <a:pt x="0" y="868426"/>
                    <a:pt x="0" y="785749"/>
                  </a:cubicBezTo>
                  <a:close/>
                </a:path>
              </a:pathLst>
            </a:custGeom>
            <a:solidFill>
              <a:srgbClr val="FFFFFF">
                <a:alpha val="80784"/>
              </a:srgbClr>
            </a:solidFill>
            <a:ln w="15252" cap="sq">
              <a:solidFill>
                <a:srgbClr val="EEE3CD"/>
              </a:solidFill>
              <a:prstDash val="solid"/>
              <a:miter/>
            </a:ln>
          </p:spPr>
        </p:sp>
      </p:grpSp>
      <p:sp>
        <p:nvSpPr>
          <p:cNvPr name="TextBox 16" id="16"/>
          <p:cNvSpPr txBox="true"/>
          <p:nvPr/>
        </p:nvSpPr>
        <p:spPr>
          <a:xfrm rot="0">
            <a:off x="1510198" y="6127699"/>
            <a:ext cx="8715966" cy="282426"/>
          </a:xfrm>
          <a:prstGeom prst="rect">
            <a:avLst/>
          </a:prstGeom>
        </p:spPr>
        <p:txBody>
          <a:bodyPr anchor="t" rtlCol="false" tIns="0" lIns="0" bIns="0" rIns="0">
            <a:spAutoFit/>
          </a:bodyPr>
          <a:lstStyle/>
          <a:p>
            <a:pPr algn="l">
              <a:lnSpc>
                <a:spcPts val="2087"/>
              </a:lnSpc>
            </a:pPr>
            <a:r>
              <a:rPr lang="en-US" sz="1831">
                <a:solidFill>
                  <a:srgbClr val="122B40"/>
                </a:solidFill>
                <a:latin typeface="Aptos"/>
                <a:ea typeface="Aptos"/>
                <a:cs typeface="Aptos"/>
                <a:sym typeface="Aptos"/>
              </a:rPr>
              <a:t>C. The request involved insurance</a:t>
            </a:r>
          </a:p>
        </p:txBody>
      </p:sp>
      <p:grpSp>
        <p:nvGrpSpPr>
          <p:cNvPr name="Group 17" id="17"/>
          <p:cNvGrpSpPr/>
          <p:nvPr/>
        </p:nvGrpSpPr>
        <p:grpSpPr>
          <a:xfrm rot="0">
            <a:off x="1227782" y="6773380"/>
            <a:ext cx="9431788" cy="701592"/>
            <a:chOff x="0" y="0"/>
            <a:chExt cx="12575718" cy="935457"/>
          </a:xfrm>
        </p:grpSpPr>
        <p:sp>
          <p:nvSpPr>
            <p:cNvPr name="Freeform 18" id="18"/>
            <p:cNvSpPr/>
            <p:nvPr/>
          </p:nvSpPr>
          <p:spPr>
            <a:xfrm flipH="false" flipV="false" rot="0">
              <a:off x="0" y="0"/>
              <a:ext cx="12575794" cy="935482"/>
            </a:xfrm>
            <a:custGeom>
              <a:avLst/>
              <a:gdLst/>
              <a:ahLst/>
              <a:cxnLst/>
              <a:rect r="r" b="b" t="t" l="l"/>
              <a:pathLst>
                <a:path h="935482" w="12575794">
                  <a:moveTo>
                    <a:pt x="0" y="149733"/>
                  </a:moveTo>
                  <a:cubicBezTo>
                    <a:pt x="0" y="67056"/>
                    <a:pt x="67056" y="0"/>
                    <a:pt x="149733" y="0"/>
                  </a:cubicBezTo>
                  <a:lnTo>
                    <a:pt x="12426061" y="0"/>
                  </a:lnTo>
                  <a:cubicBezTo>
                    <a:pt x="12508738" y="0"/>
                    <a:pt x="12575794" y="67056"/>
                    <a:pt x="12575794" y="149733"/>
                  </a:cubicBezTo>
                  <a:lnTo>
                    <a:pt x="12575794" y="785749"/>
                  </a:lnTo>
                  <a:cubicBezTo>
                    <a:pt x="12575794" y="868426"/>
                    <a:pt x="12508738" y="935482"/>
                    <a:pt x="12426061" y="935482"/>
                  </a:cubicBezTo>
                  <a:lnTo>
                    <a:pt x="149733" y="935482"/>
                  </a:lnTo>
                  <a:cubicBezTo>
                    <a:pt x="67056" y="935482"/>
                    <a:pt x="0" y="868426"/>
                    <a:pt x="0" y="785749"/>
                  </a:cubicBezTo>
                  <a:close/>
                </a:path>
              </a:pathLst>
            </a:custGeom>
            <a:solidFill>
              <a:srgbClr val="FFFFFF">
                <a:alpha val="80784"/>
              </a:srgbClr>
            </a:solidFill>
            <a:ln w="15252" cap="sq">
              <a:solidFill>
                <a:srgbClr val="EEE3CD"/>
              </a:solidFill>
              <a:prstDash val="solid"/>
              <a:miter/>
            </a:ln>
          </p:spPr>
        </p:sp>
      </p:grpSp>
      <p:sp>
        <p:nvSpPr>
          <p:cNvPr name="TextBox 19" id="19"/>
          <p:cNvSpPr txBox="true"/>
          <p:nvPr/>
        </p:nvSpPr>
        <p:spPr>
          <a:xfrm rot="0">
            <a:off x="1510198" y="6978748"/>
            <a:ext cx="8715966" cy="282426"/>
          </a:xfrm>
          <a:prstGeom prst="rect">
            <a:avLst/>
          </a:prstGeom>
        </p:spPr>
        <p:txBody>
          <a:bodyPr anchor="t" rtlCol="false" tIns="0" lIns="0" bIns="0" rIns="0">
            <a:spAutoFit/>
          </a:bodyPr>
          <a:lstStyle/>
          <a:p>
            <a:pPr algn="l">
              <a:lnSpc>
                <a:spcPts val="2087"/>
              </a:lnSpc>
            </a:pPr>
            <a:r>
              <a:rPr lang="en-US" sz="1831">
                <a:solidFill>
                  <a:srgbClr val="122B40"/>
                </a:solidFill>
                <a:latin typeface="Aptos"/>
                <a:ea typeface="Aptos"/>
                <a:cs typeface="Aptos"/>
                <a:sym typeface="Aptos"/>
              </a:rPr>
              <a:t>D. The workflow included pharmacy</a:t>
            </a:r>
          </a:p>
        </p:txBody>
      </p:sp>
      <p:sp>
        <p:nvSpPr>
          <p:cNvPr name="AutoShape 20" id="20"/>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21" id="21"/>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Knowledge check 3</a:t>
            </a:r>
          </a:p>
        </p:txBody>
      </p:sp>
      <p:sp>
        <p:nvSpPr>
          <p:cNvPr name="TextBox 22" id="22"/>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boundaries.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ANSWER + EXPLANATION</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Correct answer: B</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The AI exceeded delegated authority before the review threshold was met.</a:t>
            </a:r>
          </a:p>
        </p:txBody>
      </p:sp>
      <p:grpSp>
        <p:nvGrpSpPr>
          <p:cNvPr name="Group 7" id="7"/>
          <p:cNvGrpSpPr/>
          <p:nvPr/>
        </p:nvGrpSpPr>
        <p:grpSpPr>
          <a:xfrm rot="0">
            <a:off x="1117968" y="3039704"/>
            <a:ext cx="9555328" cy="1182024"/>
            <a:chOff x="0" y="0"/>
            <a:chExt cx="12740437" cy="1576032"/>
          </a:xfrm>
        </p:grpSpPr>
        <p:sp>
          <p:nvSpPr>
            <p:cNvPr name="Freeform 8" id="8"/>
            <p:cNvSpPr/>
            <p:nvPr/>
          </p:nvSpPr>
          <p:spPr>
            <a:xfrm flipH="false" flipV="false" rot="0">
              <a:off x="0" y="0"/>
              <a:ext cx="12740386" cy="1576070"/>
            </a:xfrm>
            <a:custGeom>
              <a:avLst/>
              <a:gdLst/>
              <a:ahLst/>
              <a:cxnLst/>
              <a:rect r="r" b="b" t="t" l="l"/>
              <a:pathLst>
                <a:path h="1576070" w="12740386">
                  <a:moveTo>
                    <a:pt x="0" y="148336"/>
                  </a:moveTo>
                  <a:cubicBezTo>
                    <a:pt x="0" y="66421"/>
                    <a:pt x="66421" y="0"/>
                    <a:pt x="148336" y="0"/>
                  </a:cubicBezTo>
                  <a:lnTo>
                    <a:pt x="12592050" y="0"/>
                  </a:lnTo>
                  <a:cubicBezTo>
                    <a:pt x="12673965" y="0"/>
                    <a:pt x="12740386" y="66421"/>
                    <a:pt x="12740386" y="148336"/>
                  </a:cubicBezTo>
                  <a:lnTo>
                    <a:pt x="12740386" y="1427734"/>
                  </a:lnTo>
                  <a:cubicBezTo>
                    <a:pt x="12740386" y="1509649"/>
                    <a:pt x="12673965" y="1576070"/>
                    <a:pt x="12592050" y="1576070"/>
                  </a:cubicBezTo>
                  <a:lnTo>
                    <a:pt x="148336" y="1576070"/>
                  </a:lnTo>
                  <a:cubicBezTo>
                    <a:pt x="66421" y="1576070"/>
                    <a:pt x="0" y="1509649"/>
                    <a:pt x="0" y="1427734"/>
                  </a:cubicBezTo>
                  <a:close/>
                </a:path>
              </a:pathLst>
            </a:custGeom>
            <a:solidFill>
              <a:srgbClr val="FFFFFF">
                <a:alpha val="80784"/>
              </a:srgbClr>
            </a:solidFill>
            <a:ln w="15252" cap="sq">
              <a:solidFill>
                <a:srgbClr val="CDA349"/>
              </a:solidFill>
              <a:prstDash val="solid"/>
              <a:miter/>
            </a:ln>
          </p:spPr>
        </p:sp>
      </p:grpSp>
      <p:grpSp>
        <p:nvGrpSpPr>
          <p:cNvPr name="Group 9" id="9"/>
          <p:cNvGrpSpPr/>
          <p:nvPr/>
        </p:nvGrpSpPr>
        <p:grpSpPr>
          <a:xfrm rot="0">
            <a:off x="1509941" y="3349323"/>
            <a:ext cx="8771372" cy="590245"/>
            <a:chOff x="0" y="0"/>
            <a:chExt cx="11695163" cy="786994"/>
          </a:xfrm>
        </p:grpSpPr>
        <p:sp>
          <p:nvSpPr>
            <p:cNvPr name="Freeform 10" id="10"/>
            <p:cNvSpPr/>
            <p:nvPr/>
          </p:nvSpPr>
          <p:spPr>
            <a:xfrm flipH="false" flipV="false" rot="0">
              <a:off x="0" y="0"/>
              <a:ext cx="11695169" cy="786999"/>
            </a:xfrm>
            <a:custGeom>
              <a:avLst/>
              <a:gdLst/>
              <a:ahLst/>
              <a:cxnLst/>
              <a:rect r="r" b="b" t="t" l="l"/>
              <a:pathLst>
                <a:path h="786999" w="11695169">
                  <a:moveTo>
                    <a:pt x="0" y="0"/>
                  </a:moveTo>
                  <a:lnTo>
                    <a:pt x="11695169" y="0"/>
                  </a:lnTo>
                  <a:lnTo>
                    <a:pt x="11695169" y="786999"/>
                  </a:lnTo>
                  <a:lnTo>
                    <a:pt x="0" y="786999"/>
                  </a:lnTo>
                  <a:close/>
                </a:path>
              </a:pathLst>
            </a:custGeom>
            <a:blipFill>
              <a:blip r:embed="rId4">
                <a:alphaModFix amt="0"/>
              </a:blip>
              <a:stretch>
                <a:fillRect l="0" t="-239556" r="0" b="-239556"/>
              </a:stretch>
            </a:blipFill>
          </p:spPr>
        </p:sp>
        <p:sp>
          <p:nvSpPr>
            <p:cNvPr name="TextBox 11" id="11"/>
            <p:cNvSpPr txBox="true"/>
            <p:nvPr/>
          </p:nvSpPr>
          <p:spPr>
            <a:xfrm>
              <a:off x="0" y="19050"/>
              <a:ext cx="11695163" cy="767944"/>
            </a:xfrm>
            <a:prstGeom prst="rect">
              <a:avLst/>
            </a:prstGeom>
          </p:spPr>
          <p:txBody>
            <a:bodyPr anchor="ctr" rtlCol="false" tIns="0" lIns="0" bIns="0" rIns="0"/>
            <a:lstStyle/>
            <a:p>
              <a:pPr algn="ctr">
                <a:lnSpc>
                  <a:spcPts val="3936"/>
                </a:lnSpc>
              </a:pPr>
              <a:r>
                <a:rPr lang="en-US" sz="3452" b="true">
                  <a:solidFill>
                    <a:srgbClr val="122B40"/>
                  </a:solidFill>
                  <a:latin typeface="Aptos Bold"/>
                  <a:ea typeface="Aptos Bold"/>
                  <a:cs typeface="Aptos Bold"/>
                  <a:sym typeface="Aptos Bold"/>
                </a:rPr>
                <a:t>“Capability is not permission.”</a:t>
              </a:r>
            </a:p>
          </p:txBody>
        </p:sp>
      </p:grpSp>
      <p:grpSp>
        <p:nvGrpSpPr>
          <p:cNvPr name="Group 12" id="12"/>
          <p:cNvGrpSpPr/>
          <p:nvPr/>
        </p:nvGrpSpPr>
        <p:grpSpPr>
          <a:xfrm rot="0">
            <a:off x="1441304" y="4872990"/>
            <a:ext cx="8922372" cy="2168823"/>
            <a:chOff x="0" y="0"/>
            <a:chExt cx="11896496" cy="2891765"/>
          </a:xfrm>
        </p:grpSpPr>
        <p:sp>
          <p:nvSpPr>
            <p:cNvPr name="Freeform 13" id="13"/>
            <p:cNvSpPr/>
            <p:nvPr/>
          </p:nvSpPr>
          <p:spPr>
            <a:xfrm flipH="false" flipV="false" rot="0">
              <a:off x="0" y="0"/>
              <a:ext cx="11896494" cy="2891763"/>
            </a:xfrm>
            <a:custGeom>
              <a:avLst/>
              <a:gdLst/>
              <a:ahLst/>
              <a:cxnLst/>
              <a:rect r="r" b="b" t="t" l="l"/>
              <a:pathLst>
                <a:path h="2891763" w="11896494">
                  <a:moveTo>
                    <a:pt x="0" y="0"/>
                  </a:moveTo>
                  <a:lnTo>
                    <a:pt x="11896494" y="0"/>
                  </a:lnTo>
                  <a:lnTo>
                    <a:pt x="11896494" y="2891763"/>
                  </a:lnTo>
                  <a:lnTo>
                    <a:pt x="0" y="2891763"/>
                  </a:lnTo>
                  <a:close/>
                </a:path>
              </a:pathLst>
            </a:custGeom>
            <a:blipFill>
              <a:blip r:embed="rId4">
                <a:alphaModFix amt="0"/>
              </a:blip>
              <a:stretch>
                <a:fillRect l="0" t="-30159" r="0" b="-30160"/>
              </a:stretch>
            </a:blipFill>
          </p:spPr>
        </p:sp>
        <p:sp>
          <p:nvSpPr>
            <p:cNvPr name="TextBox 14" id="14"/>
            <p:cNvSpPr txBox="true"/>
            <p:nvPr/>
          </p:nvSpPr>
          <p:spPr>
            <a:xfrm>
              <a:off x="0" y="9525"/>
              <a:ext cx="11896496" cy="2882240"/>
            </a:xfrm>
            <a:prstGeom prst="rect">
              <a:avLst/>
            </a:prstGeom>
          </p:spPr>
          <p:txBody>
            <a:bodyPr anchor="ctr" rtlCol="false" tIns="0" lIns="0" bIns="0" rIns="0"/>
            <a:lstStyle/>
            <a:p>
              <a:pPr algn="l">
                <a:lnSpc>
                  <a:spcPts val="2557"/>
                </a:lnSpc>
              </a:pPr>
              <a:r>
                <a:rPr lang="en-US" sz="2131">
                  <a:solidFill>
                    <a:srgbClr val="233A47"/>
                  </a:solidFill>
                  <a:latin typeface="Aptos"/>
                  <a:ea typeface="Aptos"/>
                  <a:cs typeface="Aptos"/>
                  <a:sym typeface="Aptos"/>
                </a:rPr>
                <a:t>The AI may assist with retrieval and drafting.</a:t>
              </a:r>
            </a:p>
            <a:p>
              <a:pPr algn="l">
                <a:lnSpc>
                  <a:spcPts val="2557"/>
                </a:lnSpc>
              </a:pPr>
              <a:r>
                <a:rPr lang="en-US" sz="2131">
                  <a:solidFill>
                    <a:srgbClr val="233A47"/>
                  </a:solidFill>
                  <a:latin typeface="Aptos"/>
                  <a:ea typeface="Aptos"/>
                  <a:cs typeface="Aptos"/>
                  <a:sym typeface="Aptos"/>
                </a:rPr>
                <a:t>Submission is a delegated transaction, not just information support.</a:t>
              </a:r>
            </a:p>
            <a:p>
              <a:pPr algn="l">
                <a:lnSpc>
                  <a:spcPts val="2557"/>
                </a:lnSpc>
              </a:pPr>
              <a:r>
                <a:rPr lang="en-US" sz="2131">
                  <a:solidFill>
                    <a:srgbClr val="233A47"/>
                  </a:solidFill>
                  <a:latin typeface="Aptos"/>
                  <a:ea typeface="Aptos"/>
                  <a:cs typeface="Aptos"/>
                  <a:sym typeface="Aptos"/>
                </a:rPr>
                <a:t>A responsible human or approved governance pathway must define when action can occur.</a:t>
              </a:r>
            </a:p>
          </p:txBody>
        </p:sp>
      </p:grpSp>
      <p:sp>
        <p:nvSpPr>
          <p:cNvPr name="AutoShape 15" id="15"/>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16" id="16"/>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Knowledge check 3 answer</a:t>
            </a:r>
          </a:p>
        </p:txBody>
      </p:sp>
      <p:sp>
        <p:nvSpPr>
          <p:cNvPr name="TextBox 17" id="17"/>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grpSp>
        <p:nvGrpSpPr>
          <p:cNvPr name="Group 2" id="2"/>
          <p:cNvGrpSpPr/>
          <p:nvPr/>
        </p:nvGrpSpPr>
        <p:grpSpPr>
          <a:xfrm rot="0">
            <a:off x="11324549" y="0"/>
            <a:ext cx="6977291" cy="10295039"/>
            <a:chOff x="0" y="0"/>
            <a:chExt cx="9303055" cy="13726719"/>
          </a:xfrm>
        </p:grpSpPr>
        <p:sp>
          <p:nvSpPr>
            <p:cNvPr name="Freeform 3" id="3" descr="/mnt/data/right_arch.png"/>
            <p:cNvSpPr/>
            <p:nvPr/>
          </p:nvSpPr>
          <p:spPr>
            <a:xfrm flipH="false" flipV="false" rot="0">
              <a:off x="0" y="0"/>
              <a:ext cx="9303004" cy="13726668"/>
            </a:xfrm>
            <a:custGeom>
              <a:avLst/>
              <a:gdLst/>
              <a:ahLst/>
              <a:cxnLst/>
              <a:rect r="r" b="b" t="t" l="l"/>
              <a:pathLst>
                <a:path h="13726668" w="9303004">
                  <a:moveTo>
                    <a:pt x="0" y="0"/>
                  </a:moveTo>
                  <a:lnTo>
                    <a:pt x="9303004" y="0"/>
                  </a:lnTo>
                  <a:lnTo>
                    <a:pt x="9303004" y="13726668"/>
                  </a:lnTo>
                  <a:lnTo>
                    <a:pt x="0" y="13726668"/>
                  </a:lnTo>
                  <a:lnTo>
                    <a:pt x="0" y="0"/>
                  </a:lnTo>
                  <a:close/>
                </a:path>
              </a:pathLst>
            </a:custGeom>
            <a:blipFill>
              <a:blip r:embed="rId3"/>
              <a:stretch>
                <a:fillRect l="-3" t="0" r="-3" b="0"/>
              </a:stretch>
            </a:blipFill>
          </p:spPr>
        </p:sp>
      </p:grpSp>
      <p:sp>
        <p:nvSpPr>
          <p:cNvPr name="TextBox 4" id="4"/>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WHAT HEALTHCARE ORGANIZATIONS CAN DO NOW</a:t>
            </a:r>
          </a:p>
        </p:txBody>
      </p:sp>
      <p:sp>
        <p:nvSpPr>
          <p:cNvPr name="TextBox 5" id="5"/>
          <p:cNvSpPr txBox="true"/>
          <p:nvPr/>
        </p:nvSpPr>
        <p:spPr>
          <a:xfrm rot="0">
            <a:off x="851306" y="1044607"/>
            <a:ext cx="9951368" cy="1151411"/>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Start with one real AI-enabled workflow</a:t>
            </a:r>
          </a:p>
        </p:txBody>
      </p:sp>
      <p:sp>
        <p:nvSpPr>
          <p:cNvPr name="TextBox 6" id="6"/>
          <p:cNvSpPr txBox="true"/>
          <p:nvPr/>
        </p:nvSpPr>
        <p:spPr>
          <a:xfrm rot="0">
            <a:off x="892493" y="2302145"/>
            <a:ext cx="9470936" cy="676304"/>
          </a:xfrm>
          <a:prstGeom prst="rect">
            <a:avLst/>
          </a:prstGeom>
        </p:spPr>
        <p:txBody>
          <a:bodyPr anchor="t" rtlCol="false" tIns="0" lIns="0" bIns="0" rIns="0">
            <a:spAutoFit/>
          </a:bodyPr>
          <a:lstStyle/>
          <a:p>
            <a:pPr algn="l">
              <a:lnSpc>
                <a:spcPts val="2258"/>
              </a:lnSpc>
            </a:pPr>
            <a:r>
              <a:rPr lang="en-US" sz="1981">
                <a:solidFill>
                  <a:srgbClr val="5E717A"/>
                </a:solidFill>
                <a:latin typeface="Aptos"/>
                <a:ea typeface="Aptos"/>
                <a:cs typeface="Aptos"/>
                <a:sym typeface="Aptos"/>
              </a:rPr>
              <a:t>Map the work before expanding the authority.</a:t>
            </a:r>
          </a:p>
        </p:txBody>
      </p:sp>
      <p:grpSp>
        <p:nvGrpSpPr>
          <p:cNvPr name="Group 7" id="7"/>
          <p:cNvGrpSpPr/>
          <p:nvPr/>
        </p:nvGrpSpPr>
        <p:grpSpPr>
          <a:xfrm rot="0">
            <a:off x="1153049" y="3129696"/>
            <a:ext cx="9471441" cy="5284784"/>
            <a:chOff x="0" y="0"/>
            <a:chExt cx="12628588" cy="7046379"/>
          </a:xfrm>
        </p:grpSpPr>
        <p:sp>
          <p:nvSpPr>
            <p:cNvPr name="Freeform 8" id="8"/>
            <p:cNvSpPr/>
            <p:nvPr/>
          </p:nvSpPr>
          <p:spPr>
            <a:xfrm flipH="false" flipV="false" rot="0">
              <a:off x="0" y="0"/>
              <a:ext cx="12628586" cy="7046385"/>
            </a:xfrm>
            <a:custGeom>
              <a:avLst/>
              <a:gdLst/>
              <a:ahLst/>
              <a:cxnLst/>
              <a:rect r="r" b="b" t="t" l="l"/>
              <a:pathLst>
                <a:path h="7046385" w="12628586">
                  <a:moveTo>
                    <a:pt x="0" y="0"/>
                  </a:moveTo>
                  <a:lnTo>
                    <a:pt x="12628586" y="0"/>
                  </a:lnTo>
                  <a:lnTo>
                    <a:pt x="12628586" y="7046385"/>
                  </a:lnTo>
                  <a:lnTo>
                    <a:pt x="0" y="7046385"/>
                  </a:lnTo>
                  <a:close/>
                </a:path>
              </a:pathLst>
            </a:custGeom>
            <a:blipFill>
              <a:blip r:embed="rId4">
                <a:alphaModFix amt="0"/>
              </a:blip>
              <a:stretch>
                <a:fillRect l="-21589" t="0" r="-21589" b="0"/>
              </a:stretch>
            </a:blipFill>
          </p:spPr>
        </p:sp>
        <p:sp>
          <p:nvSpPr>
            <p:cNvPr name="TextBox 9" id="9"/>
            <p:cNvSpPr txBox="true"/>
            <p:nvPr/>
          </p:nvSpPr>
          <p:spPr>
            <a:xfrm>
              <a:off x="0" y="0"/>
              <a:ext cx="12628588" cy="7046379"/>
            </a:xfrm>
            <a:prstGeom prst="rect">
              <a:avLst/>
            </a:prstGeom>
          </p:spPr>
          <p:txBody>
            <a:bodyPr anchor="ctr" rtlCol="false" tIns="0" lIns="0" bIns="0" rIns="0"/>
            <a:lstStyle/>
            <a:p>
              <a:pPr algn="l">
                <a:lnSpc>
                  <a:spcPts val="2251"/>
                </a:lnSpc>
              </a:pPr>
              <a:r>
                <a:rPr lang="en-US" sz="1876">
                  <a:solidFill>
                    <a:srgbClr val="233A47"/>
                  </a:solidFill>
                  <a:latin typeface="Aptos"/>
                  <a:ea typeface="Aptos"/>
                  <a:cs typeface="Aptos"/>
                  <a:sym typeface="Aptos"/>
                </a:rPr>
                <a:t>Map every person, system, and organization involved.</a:t>
              </a:r>
            </a:p>
            <a:p>
              <a:pPr algn="l">
                <a:lnSpc>
                  <a:spcPts val="2251"/>
                </a:lnSpc>
              </a:pPr>
              <a:r>
                <a:rPr lang="en-US" sz="1876">
                  <a:solidFill>
                    <a:srgbClr val="233A47"/>
                  </a:solidFill>
                  <a:latin typeface="Aptos"/>
                  <a:ea typeface="Aptos"/>
                  <a:cs typeface="Aptos"/>
                  <a:sym typeface="Aptos"/>
                </a:rPr>
                <a:t>Separate retrieval, drafting, communication, decision, and action.</a:t>
              </a:r>
            </a:p>
            <a:p>
              <a:pPr algn="l">
                <a:lnSpc>
                  <a:spcPts val="2251"/>
                </a:lnSpc>
              </a:pPr>
              <a:r>
                <a:rPr lang="en-US" sz="1876">
                  <a:solidFill>
                    <a:srgbClr val="233A47"/>
                  </a:solidFill>
                  <a:latin typeface="Aptos"/>
                  <a:ea typeface="Aptos"/>
                  <a:cs typeface="Aptos"/>
                  <a:sym typeface="Aptos"/>
                </a:rPr>
                <a:t>Define the information each task actually requires.</a:t>
              </a:r>
            </a:p>
            <a:p>
              <a:pPr algn="l">
                <a:lnSpc>
                  <a:spcPts val="2251"/>
                </a:lnSpc>
              </a:pPr>
              <a:r>
                <a:rPr lang="en-US" sz="1876">
                  <a:solidFill>
                    <a:srgbClr val="233A47"/>
                  </a:solidFill>
                  <a:latin typeface="Aptos"/>
                  <a:ea typeface="Aptos"/>
                  <a:cs typeface="Aptos"/>
                  <a:sym typeface="Aptos"/>
                </a:rPr>
                <a:t>Set authority and review thresholds before deployment.</a:t>
              </a:r>
            </a:p>
            <a:p>
              <a:pPr algn="l">
                <a:lnSpc>
                  <a:spcPts val="2251"/>
                </a:lnSpc>
              </a:pPr>
              <a:r>
                <a:rPr lang="en-US" sz="1876">
                  <a:solidFill>
                    <a:srgbClr val="233A47"/>
                  </a:solidFill>
                  <a:latin typeface="Aptos"/>
                  <a:ea typeface="Aptos"/>
                  <a:cs typeface="Aptos"/>
                  <a:sym typeface="Aptos"/>
                </a:rPr>
                <a:t>Name the accountable human or organizational owner.</a:t>
              </a:r>
            </a:p>
            <a:p>
              <a:pPr algn="l">
                <a:lnSpc>
                  <a:spcPts val="2251"/>
                </a:lnSpc>
              </a:pPr>
              <a:r>
                <a:rPr lang="en-US" sz="1876">
                  <a:solidFill>
                    <a:srgbClr val="233A47"/>
                  </a:solidFill>
                  <a:latin typeface="Aptos"/>
                  <a:ea typeface="Aptos"/>
                  <a:cs typeface="Aptos"/>
                  <a:sym typeface="Aptos"/>
                </a:rPr>
                <a:t>Create correction, escalation, and audit pathways.</a:t>
              </a:r>
            </a:p>
            <a:p>
              <a:pPr algn="l">
                <a:lnSpc>
                  <a:spcPts val="2251"/>
                </a:lnSpc>
              </a:pPr>
              <a:r>
                <a:rPr lang="en-US" sz="1876">
                  <a:solidFill>
                    <a:srgbClr val="233A47"/>
                  </a:solidFill>
                  <a:latin typeface="Aptos"/>
                  <a:ea typeface="Aptos"/>
                  <a:cs typeface="Aptos"/>
                  <a:sym typeface="Aptos"/>
                </a:rPr>
                <a:t>Evaluate whether AI reduces or transfers human burden.</a:t>
              </a:r>
            </a:p>
          </p:txBody>
        </p:sp>
      </p:grpSp>
      <p:sp>
        <p:nvSpPr>
          <p:cNvPr name="AutoShape 10" id="10"/>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11" id="11"/>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Practical organizational action</a:t>
            </a:r>
          </a:p>
        </p:txBody>
      </p:sp>
      <p:sp>
        <p:nvSpPr>
          <p:cNvPr name="TextBox 12" id="12"/>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7F1E5"/>
        </a:solidFill>
      </p:bgPr>
    </p:bg>
    <p:spTree>
      <p:nvGrpSpPr>
        <p:cNvPr id="1" name=""/>
        <p:cNvGrpSpPr/>
        <p:nvPr/>
      </p:nvGrpSpPr>
      <p:grpSpPr>
        <a:xfrm>
          <a:off x="0" y="0"/>
          <a:ext cx="0" cy="0"/>
          <a:chOff x="0" y="0"/>
          <a:chExt cx="0" cy="0"/>
        </a:xfrm>
      </p:grpSpPr>
      <p:sp>
        <p:nvSpPr>
          <p:cNvPr name="TextBox 2" id="2"/>
          <p:cNvSpPr txBox="true"/>
          <p:nvPr/>
        </p:nvSpPr>
        <p:spPr>
          <a:xfrm rot="0">
            <a:off x="851306" y="494414"/>
            <a:ext cx="9608201" cy="328936"/>
          </a:xfrm>
          <a:prstGeom prst="rect">
            <a:avLst/>
          </a:prstGeom>
        </p:spPr>
        <p:txBody>
          <a:bodyPr anchor="t" rtlCol="false" tIns="0" lIns="0" bIns="0" rIns="0">
            <a:spAutoFit/>
          </a:bodyPr>
          <a:lstStyle/>
          <a:p>
            <a:pPr algn="l">
              <a:lnSpc>
                <a:spcPts val="1454"/>
              </a:lnSpc>
            </a:pPr>
            <a:r>
              <a:rPr lang="en-US" b="true" sz="1275" spc="180">
                <a:solidFill>
                  <a:srgbClr val="CDA349"/>
                </a:solidFill>
                <a:latin typeface="Aptos Bold"/>
                <a:ea typeface="Aptos Bold"/>
                <a:cs typeface="Aptos Bold"/>
                <a:sym typeface="Aptos Bold"/>
              </a:rPr>
              <a:t>PRACTICAL TAKEAWAY + CREDIT CLAIMING</a:t>
            </a:r>
          </a:p>
        </p:txBody>
      </p:sp>
      <p:sp>
        <p:nvSpPr>
          <p:cNvPr name="TextBox 3" id="3"/>
          <p:cNvSpPr txBox="true"/>
          <p:nvPr/>
        </p:nvSpPr>
        <p:spPr>
          <a:xfrm rot="0">
            <a:off x="1180748" y="1291685"/>
            <a:ext cx="7549191" cy="684705"/>
          </a:xfrm>
          <a:prstGeom prst="rect">
            <a:avLst/>
          </a:prstGeom>
        </p:spPr>
        <p:txBody>
          <a:bodyPr anchor="t" rtlCol="false" tIns="0" lIns="0" bIns="0" rIns="0">
            <a:spAutoFit/>
          </a:bodyPr>
          <a:lstStyle/>
          <a:p>
            <a:pPr algn="l">
              <a:lnSpc>
                <a:spcPts val="5134"/>
              </a:lnSpc>
            </a:pPr>
            <a:r>
              <a:rPr lang="en-US" sz="4503" b="true">
                <a:solidFill>
                  <a:srgbClr val="122B40"/>
                </a:solidFill>
                <a:latin typeface="Aptos Bold"/>
                <a:ea typeface="Aptos Bold"/>
                <a:cs typeface="Aptos Bold"/>
                <a:sym typeface="Aptos Bold"/>
              </a:rPr>
              <a:t>Before AI acts, ask:</a:t>
            </a:r>
          </a:p>
        </p:txBody>
      </p:sp>
      <p:sp>
        <p:nvSpPr>
          <p:cNvPr name="TextBox 4" id="4"/>
          <p:cNvSpPr txBox="true"/>
          <p:nvPr/>
        </p:nvSpPr>
        <p:spPr>
          <a:xfrm rot="0">
            <a:off x="1482738" y="2627386"/>
            <a:ext cx="7960995" cy="364788"/>
          </a:xfrm>
          <a:prstGeom prst="rect">
            <a:avLst/>
          </a:prstGeom>
        </p:spPr>
        <p:txBody>
          <a:bodyPr anchor="t" rtlCol="false" tIns="0" lIns="0" bIns="0" rIns="0">
            <a:spAutoFit/>
          </a:bodyPr>
          <a:lstStyle/>
          <a:p>
            <a:pPr algn="l">
              <a:lnSpc>
                <a:spcPts val="2960"/>
              </a:lnSpc>
            </a:pPr>
            <a:r>
              <a:rPr lang="en-US" sz="2597" b="true">
                <a:solidFill>
                  <a:srgbClr val="122B40"/>
                </a:solidFill>
                <a:latin typeface="Aptos Bold"/>
                <a:ea typeface="Aptos Bold"/>
                <a:cs typeface="Aptos Bold"/>
                <a:sym typeface="Aptos Bold"/>
              </a:rPr>
              <a:t>Who is it representing?</a:t>
            </a:r>
          </a:p>
        </p:txBody>
      </p:sp>
      <p:sp>
        <p:nvSpPr>
          <p:cNvPr name="TextBox 5" id="5"/>
          <p:cNvSpPr txBox="true"/>
          <p:nvPr/>
        </p:nvSpPr>
        <p:spPr>
          <a:xfrm rot="0">
            <a:off x="1482738" y="3272542"/>
            <a:ext cx="7960995" cy="364788"/>
          </a:xfrm>
          <a:prstGeom prst="rect">
            <a:avLst/>
          </a:prstGeom>
        </p:spPr>
        <p:txBody>
          <a:bodyPr anchor="t" rtlCol="false" tIns="0" lIns="0" bIns="0" rIns="0">
            <a:spAutoFit/>
          </a:bodyPr>
          <a:lstStyle/>
          <a:p>
            <a:pPr algn="l">
              <a:lnSpc>
                <a:spcPts val="2960"/>
              </a:lnSpc>
            </a:pPr>
            <a:r>
              <a:rPr lang="en-US" sz="2597" b="true">
                <a:solidFill>
                  <a:srgbClr val="233A47"/>
                </a:solidFill>
                <a:latin typeface="Aptos Bold"/>
                <a:ea typeface="Aptos Bold"/>
                <a:cs typeface="Aptos Bold"/>
                <a:sym typeface="Aptos Bold"/>
              </a:rPr>
              <a:t>What context is active?</a:t>
            </a:r>
          </a:p>
        </p:txBody>
      </p:sp>
      <p:sp>
        <p:nvSpPr>
          <p:cNvPr name="TextBox 6" id="6"/>
          <p:cNvSpPr txBox="true"/>
          <p:nvPr/>
        </p:nvSpPr>
        <p:spPr>
          <a:xfrm rot="0">
            <a:off x="1482738" y="3917690"/>
            <a:ext cx="7960995" cy="364788"/>
          </a:xfrm>
          <a:prstGeom prst="rect">
            <a:avLst/>
          </a:prstGeom>
        </p:spPr>
        <p:txBody>
          <a:bodyPr anchor="t" rtlCol="false" tIns="0" lIns="0" bIns="0" rIns="0">
            <a:spAutoFit/>
          </a:bodyPr>
          <a:lstStyle/>
          <a:p>
            <a:pPr algn="l">
              <a:lnSpc>
                <a:spcPts val="2960"/>
              </a:lnSpc>
            </a:pPr>
            <a:r>
              <a:rPr lang="en-US" sz="2597" b="true">
                <a:solidFill>
                  <a:srgbClr val="122B40"/>
                </a:solidFill>
                <a:latin typeface="Aptos Bold"/>
                <a:ea typeface="Aptos Bold"/>
                <a:cs typeface="Aptos Bold"/>
                <a:sym typeface="Aptos Bold"/>
              </a:rPr>
              <a:t>What information is necessary?</a:t>
            </a:r>
          </a:p>
        </p:txBody>
      </p:sp>
      <p:sp>
        <p:nvSpPr>
          <p:cNvPr name="TextBox 7" id="7"/>
          <p:cNvSpPr txBox="true"/>
          <p:nvPr/>
        </p:nvSpPr>
        <p:spPr>
          <a:xfrm rot="0">
            <a:off x="1482738" y="4562846"/>
            <a:ext cx="7960995" cy="364788"/>
          </a:xfrm>
          <a:prstGeom prst="rect">
            <a:avLst/>
          </a:prstGeom>
        </p:spPr>
        <p:txBody>
          <a:bodyPr anchor="t" rtlCol="false" tIns="0" lIns="0" bIns="0" rIns="0">
            <a:spAutoFit/>
          </a:bodyPr>
          <a:lstStyle/>
          <a:p>
            <a:pPr algn="l">
              <a:lnSpc>
                <a:spcPts val="2960"/>
              </a:lnSpc>
            </a:pPr>
            <a:r>
              <a:rPr lang="en-US" sz="2597" b="true">
                <a:solidFill>
                  <a:srgbClr val="233A47"/>
                </a:solidFill>
                <a:latin typeface="Aptos Bold"/>
                <a:ea typeface="Aptos Bold"/>
                <a:cs typeface="Aptos Bold"/>
                <a:sym typeface="Aptos Bold"/>
              </a:rPr>
              <a:t>What authority has been delegated?</a:t>
            </a:r>
          </a:p>
        </p:txBody>
      </p:sp>
      <p:sp>
        <p:nvSpPr>
          <p:cNvPr name="TextBox 8" id="8"/>
          <p:cNvSpPr txBox="true"/>
          <p:nvPr/>
        </p:nvSpPr>
        <p:spPr>
          <a:xfrm rot="0">
            <a:off x="1482738" y="5208003"/>
            <a:ext cx="7960995" cy="364788"/>
          </a:xfrm>
          <a:prstGeom prst="rect">
            <a:avLst/>
          </a:prstGeom>
        </p:spPr>
        <p:txBody>
          <a:bodyPr anchor="t" rtlCol="false" tIns="0" lIns="0" bIns="0" rIns="0">
            <a:spAutoFit/>
          </a:bodyPr>
          <a:lstStyle/>
          <a:p>
            <a:pPr algn="l">
              <a:lnSpc>
                <a:spcPts val="2960"/>
              </a:lnSpc>
            </a:pPr>
            <a:r>
              <a:rPr lang="en-US" sz="2597" b="true">
                <a:solidFill>
                  <a:srgbClr val="122B40"/>
                </a:solidFill>
                <a:latin typeface="Aptos Bold"/>
                <a:ea typeface="Aptos Bold"/>
                <a:cs typeface="Aptos Bold"/>
                <a:sym typeface="Aptos Bold"/>
              </a:rPr>
              <a:t>What review is required?</a:t>
            </a:r>
          </a:p>
        </p:txBody>
      </p:sp>
      <p:sp>
        <p:nvSpPr>
          <p:cNvPr name="TextBox 9" id="9"/>
          <p:cNvSpPr txBox="true"/>
          <p:nvPr/>
        </p:nvSpPr>
        <p:spPr>
          <a:xfrm rot="0">
            <a:off x="1482738" y="5853160"/>
            <a:ext cx="7960995" cy="364788"/>
          </a:xfrm>
          <a:prstGeom prst="rect">
            <a:avLst/>
          </a:prstGeom>
        </p:spPr>
        <p:txBody>
          <a:bodyPr anchor="t" rtlCol="false" tIns="0" lIns="0" bIns="0" rIns="0">
            <a:spAutoFit/>
          </a:bodyPr>
          <a:lstStyle/>
          <a:p>
            <a:pPr algn="l">
              <a:lnSpc>
                <a:spcPts val="2960"/>
              </a:lnSpc>
            </a:pPr>
            <a:r>
              <a:rPr lang="en-US" sz="2597" b="true">
                <a:solidFill>
                  <a:srgbClr val="233A47"/>
                </a:solidFill>
                <a:latin typeface="Aptos Bold"/>
                <a:ea typeface="Aptos Bold"/>
                <a:cs typeface="Aptos Bold"/>
                <a:sym typeface="Aptos Bold"/>
              </a:rPr>
              <a:t>Who remains responsible?</a:t>
            </a:r>
          </a:p>
        </p:txBody>
      </p:sp>
      <p:grpSp>
        <p:nvGrpSpPr>
          <p:cNvPr name="Group 10" id="10"/>
          <p:cNvGrpSpPr/>
          <p:nvPr/>
        </p:nvGrpSpPr>
        <p:grpSpPr>
          <a:xfrm rot="0">
            <a:off x="1159145" y="7061635"/>
            <a:ext cx="8800357" cy="1250661"/>
            <a:chOff x="0" y="0"/>
            <a:chExt cx="11733809" cy="1667548"/>
          </a:xfrm>
        </p:grpSpPr>
        <p:sp>
          <p:nvSpPr>
            <p:cNvPr name="Freeform 11" id="11"/>
            <p:cNvSpPr/>
            <p:nvPr/>
          </p:nvSpPr>
          <p:spPr>
            <a:xfrm flipH="false" flipV="false" rot="0">
              <a:off x="0" y="0"/>
              <a:ext cx="11733784" cy="1667510"/>
            </a:xfrm>
            <a:custGeom>
              <a:avLst/>
              <a:gdLst/>
              <a:ahLst/>
              <a:cxnLst/>
              <a:rect r="r" b="b" t="t" l="l"/>
              <a:pathLst>
                <a:path h="1667510" w="11733784">
                  <a:moveTo>
                    <a:pt x="0" y="148209"/>
                  </a:moveTo>
                  <a:cubicBezTo>
                    <a:pt x="0" y="66421"/>
                    <a:pt x="66421" y="0"/>
                    <a:pt x="148209" y="0"/>
                  </a:cubicBezTo>
                  <a:lnTo>
                    <a:pt x="11585575" y="0"/>
                  </a:lnTo>
                  <a:cubicBezTo>
                    <a:pt x="11667490" y="0"/>
                    <a:pt x="11733784" y="66421"/>
                    <a:pt x="11733784" y="148209"/>
                  </a:cubicBezTo>
                  <a:lnTo>
                    <a:pt x="11733784" y="1519301"/>
                  </a:lnTo>
                  <a:cubicBezTo>
                    <a:pt x="11733784" y="1601216"/>
                    <a:pt x="11667363" y="1667510"/>
                    <a:pt x="11585575" y="1667510"/>
                  </a:cubicBezTo>
                  <a:lnTo>
                    <a:pt x="148209" y="1667510"/>
                  </a:lnTo>
                  <a:cubicBezTo>
                    <a:pt x="66421" y="1667510"/>
                    <a:pt x="0" y="1601216"/>
                    <a:pt x="0" y="1519301"/>
                  </a:cubicBezTo>
                  <a:close/>
                </a:path>
              </a:pathLst>
            </a:custGeom>
            <a:solidFill>
              <a:srgbClr val="FFFFFF">
                <a:alpha val="80784"/>
              </a:srgbClr>
            </a:solidFill>
            <a:ln w="15252" cap="sq">
              <a:solidFill>
                <a:srgbClr val="CDA349"/>
              </a:solidFill>
              <a:prstDash val="solid"/>
              <a:miter/>
            </a:ln>
          </p:spPr>
        </p:sp>
      </p:grpSp>
      <p:grpSp>
        <p:nvGrpSpPr>
          <p:cNvPr name="Group 12" id="12"/>
          <p:cNvGrpSpPr/>
          <p:nvPr/>
        </p:nvGrpSpPr>
        <p:grpSpPr>
          <a:xfrm rot="0">
            <a:off x="1551118" y="7371255"/>
            <a:ext cx="8016411" cy="658882"/>
            <a:chOff x="0" y="0"/>
            <a:chExt cx="10688549" cy="878510"/>
          </a:xfrm>
        </p:grpSpPr>
        <p:sp>
          <p:nvSpPr>
            <p:cNvPr name="Freeform 13" id="13"/>
            <p:cNvSpPr/>
            <p:nvPr/>
          </p:nvSpPr>
          <p:spPr>
            <a:xfrm flipH="false" flipV="false" rot="0">
              <a:off x="0" y="0"/>
              <a:ext cx="10688542" cy="878510"/>
            </a:xfrm>
            <a:custGeom>
              <a:avLst/>
              <a:gdLst/>
              <a:ahLst/>
              <a:cxnLst/>
              <a:rect r="r" b="b" t="t" l="l"/>
              <a:pathLst>
                <a:path h="878510" w="10688542">
                  <a:moveTo>
                    <a:pt x="0" y="0"/>
                  </a:moveTo>
                  <a:lnTo>
                    <a:pt x="10688542" y="0"/>
                  </a:lnTo>
                  <a:lnTo>
                    <a:pt x="10688542" y="878510"/>
                  </a:lnTo>
                  <a:lnTo>
                    <a:pt x="0" y="878510"/>
                  </a:lnTo>
                  <a:close/>
                </a:path>
              </a:pathLst>
            </a:custGeom>
            <a:blipFill>
              <a:blip r:embed="rId3">
                <a:alphaModFix amt="0"/>
              </a:blip>
              <a:stretch>
                <a:fillRect l="0" t="-187068" r="0" b="-187068"/>
              </a:stretch>
            </a:blipFill>
          </p:spPr>
        </p:sp>
        <p:sp>
          <p:nvSpPr>
            <p:cNvPr name="TextBox 14" id="14"/>
            <p:cNvSpPr txBox="true"/>
            <p:nvPr/>
          </p:nvSpPr>
          <p:spPr>
            <a:xfrm>
              <a:off x="0" y="19050"/>
              <a:ext cx="10688549" cy="859460"/>
            </a:xfrm>
            <a:prstGeom prst="rect">
              <a:avLst/>
            </a:prstGeom>
          </p:spPr>
          <p:txBody>
            <a:bodyPr anchor="ctr" rtlCol="false" tIns="0" lIns="0" bIns="0" rIns="0"/>
            <a:lstStyle/>
            <a:p>
              <a:pPr algn="ctr">
                <a:lnSpc>
                  <a:spcPts val="3251"/>
                </a:lnSpc>
              </a:pPr>
              <a:r>
                <a:rPr lang="en-US" sz="2852" b="true">
                  <a:solidFill>
                    <a:srgbClr val="122B40"/>
                  </a:solidFill>
                  <a:latin typeface="Aptos Bold"/>
                  <a:ea typeface="Aptos Bold"/>
                  <a:cs typeface="Aptos Bold"/>
                  <a:sym typeface="Aptos Bold"/>
                </a:rPr>
                <a:t>“One trusted experience can still require many carefully governed systems.”</a:t>
              </a:r>
            </a:p>
          </p:txBody>
        </p:sp>
      </p:grpSp>
      <p:grpSp>
        <p:nvGrpSpPr>
          <p:cNvPr name="Group 15" id="15"/>
          <p:cNvGrpSpPr/>
          <p:nvPr/>
        </p:nvGrpSpPr>
        <p:grpSpPr>
          <a:xfrm rot="0">
            <a:off x="10973752" y="6691017"/>
            <a:ext cx="5643210" cy="1662455"/>
            <a:chOff x="0" y="0"/>
            <a:chExt cx="7524280" cy="2216607"/>
          </a:xfrm>
        </p:grpSpPr>
        <p:sp>
          <p:nvSpPr>
            <p:cNvPr name="Freeform 16" id="16"/>
            <p:cNvSpPr/>
            <p:nvPr/>
          </p:nvSpPr>
          <p:spPr>
            <a:xfrm flipH="false" flipV="false" rot="0">
              <a:off x="0" y="0"/>
              <a:ext cx="7524369" cy="2216658"/>
            </a:xfrm>
            <a:custGeom>
              <a:avLst/>
              <a:gdLst/>
              <a:ahLst/>
              <a:cxnLst/>
              <a:rect r="r" b="b" t="t" l="l"/>
              <a:pathLst>
                <a:path h="2216658" w="7524369">
                  <a:moveTo>
                    <a:pt x="0" y="147828"/>
                  </a:moveTo>
                  <a:cubicBezTo>
                    <a:pt x="0" y="66167"/>
                    <a:pt x="66167" y="0"/>
                    <a:pt x="147828" y="0"/>
                  </a:cubicBezTo>
                  <a:lnTo>
                    <a:pt x="7376541" y="0"/>
                  </a:lnTo>
                  <a:cubicBezTo>
                    <a:pt x="7458202" y="0"/>
                    <a:pt x="7524369" y="66167"/>
                    <a:pt x="7524369" y="147828"/>
                  </a:cubicBezTo>
                  <a:lnTo>
                    <a:pt x="7524369" y="2068830"/>
                  </a:lnTo>
                  <a:cubicBezTo>
                    <a:pt x="7524369" y="2150491"/>
                    <a:pt x="7458202" y="2216658"/>
                    <a:pt x="7376541" y="2216658"/>
                  </a:cubicBezTo>
                  <a:lnTo>
                    <a:pt x="147828" y="2216658"/>
                  </a:lnTo>
                  <a:cubicBezTo>
                    <a:pt x="66167" y="2216658"/>
                    <a:pt x="0" y="2150491"/>
                    <a:pt x="0" y="2068830"/>
                  </a:cubicBezTo>
                  <a:close/>
                </a:path>
              </a:pathLst>
            </a:custGeom>
            <a:solidFill>
              <a:srgbClr val="FFFFFF">
                <a:alpha val="75686"/>
              </a:srgbClr>
            </a:solidFill>
            <a:ln w="15252" cap="sq">
              <a:solidFill>
                <a:srgbClr val="CDA349"/>
              </a:solidFill>
              <a:prstDash val="solid"/>
              <a:miter/>
            </a:ln>
          </p:spPr>
        </p:sp>
      </p:grpSp>
      <p:sp>
        <p:nvSpPr>
          <p:cNvPr name="TextBox 17" id="17"/>
          <p:cNvSpPr txBox="true"/>
          <p:nvPr/>
        </p:nvSpPr>
        <p:spPr>
          <a:xfrm rot="0">
            <a:off x="11324806" y="7092772"/>
            <a:ext cx="4941113" cy="291951"/>
          </a:xfrm>
          <a:prstGeom prst="rect">
            <a:avLst/>
          </a:prstGeom>
        </p:spPr>
        <p:txBody>
          <a:bodyPr anchor="t" rtlCol="false" tIns="0" lIns="0" bIns="0" rIns="0">
            <a:spAutoFit/>
          </a:bodyPr>
          <a:lstStyle/>
          <a:p>
            <a:pPr algn="ctr">
              <a:lnSpc>
                <a:spcPts val="2224"/>
              </a:lnSpc>
            </a:pPr>
            <a:r>
              <a:rPr lang="en-US" sz="1951" b="true">
                <a:solidFill>
                  <a:srgbClr val="CDA349"/>
                </a:solidFill>
                <a:latin typeface="Aptos Bold"/>
                <a:ea typeface="Aptos Bold"/>
                <a:cs typeface="Aptos Bold"/>
                <a:sym typeface="Aptos Bold"/>
              </a:rPr>
              <a:t>Post-test + evaluation</a:t>
            </a:r>
          </a:p>
        </p:txBody>
      </p:sp>
      <p:sp>
        <p:nvSpPr>
          <p:cNvPr name="TextBox 18" id="18"/>
          <p:cNvSpPr txBox="true"/>
          <p:nvPr/>
        </p:nvSpPr>
        <p:spPr>
          <a:xfrm rot="0">
            <a:off x="11462071" y="7586929"/>
            <a:ext cx="4639123" cy="566490"/>
          </a:xfrm>
          <a:prstGeom prst="rect">
            <a:avLst/>
          </a:prstGeom>
        </p:spPr>
        <p:txBody>
          <a:bodyPr anchor="t" rtlCol="false" tIns="0" lIns="0" bIns="0" rIns="0">
            <a:spAutoFit/>
          </a:bodyPr>
          <a:lstStyle/>
          <a:p>
            <a:pPr algn="ctr">
              <a:lnSpc>
                <a:spcPts val="1831"/>
              </a:lnSpc>
            </a:pPr>
            <a:r>
              <a:rPr lang="en-US" sz="1606">
                <a:solidFill>
                  <a:srgbClr val="122B40"/>
                </a:solidFill>
                <a:latin typeface="Aptos"/>
                <a:ea typeface="Aptos"/>
                <a:cs typeface="Aptos"/>
                <a:sym typeface="Aptos"/>
              </a:rPr>
              <a:t>Complete credit-claiming steps in CE21 or designated LMS. [Insert official provider instructions.]</a:t>
            </a:r>
          </a:p>
        </p:txBody>
      </p:sp>
      <p:sp>
        <p:nvSpPr>
          <p:cNvPr name="TextBox 19" id="19"/>
          <p:cNvSpPr txBox="true"/>
          <p:nvPr/>
        </p:nvSpPr>
        <p:spPr>
          <a:xfrm rot="0">
            <a:off x="1180748" y="8890968"/>
            <a:ext cx="15510691" cy="442951"/>
          </a:xfrm>
          <a:prstGeom prst="rect">
            <a:avLst/>
          </a:prstGeom>
        </p:spPr>
        <p:txBody>
          <a:bodyPr anchor="t" rtlCol="false" tIns="0" lIns="0" bIns="0" rIns="0">
            <a:spAutoFit/>
          </a:bodyPr>
          <a:lstStyle/>
          <a:p>
            <a:pPr algn="l">
              <a:lnSpc>
                <a:spcPts val="1266"/>
              </a:lnSpc>
            </a:pPr>
            <a:r>
              <a:rPr lang="en-US" sz="1110">
                <a:solidFill>
                  <a:srgbClr val="89908A"/>
                </a:solidFill>
                <a:latin typeface="Aptos"/>
                <a:ea typeface="Aptos"/>
                <a:cs typeface="Aptos"/>
                <a:sym typeface="Aptos"/>
              </a:rPr>
              <a:t>References: NIST AI RMF 1.0 (2023); NIST Generative AI Profile (2024); WHO Ethics and Governance of AI for Health (2021); ONC HTI-1 / Decision Support Intervention resources (2024–2026).</a:t>
            </a:r>
          </a:p>
        </p:txBody>
      </p:sp>
      <p:sp>
        <p:nvSpPr>
          <p:cNvPr name="AutoShape 20" id="20"/>
          <p:cNvSpPr/>
          <p:nvPr/>
        </p:nvSpPr>
        <p:spPr>
          <a:xfrm rot="2340">
            <a:off x="790432" y="9494129"/>
            <a:ext cx="16730596" cy="0"/>
          </a:xfrm>
          <a:prstGeom prst="line">
            <a:avLst/>
          </a:prstGeom>
          <a:ln cap="rnd" w="9525">
            <a:solidFill>
              <a:srgbClr val="CDA349">
                <a:alpha val="54902"/>
              </a:srgbClr>
            </a:solidFill>
            <a:prstDash val="solid"/>
            <a:headEnd type="none" len="sm" w="sm"/>
            <a:tailEnd type="none" len="sm" w="sm"/>
          </a:ln>
        </p:spPr>
      </p:sp>
      <p:sp>
        <p:nvSpPr>
          <p:cNvPr name="TextBox 21" id="21"/>
          <p:cNvSpPr txBox="true"/>
          <p:nvPr/>
        </p:nvSpPr>
        <p:spPr>
          <a:xfrm rot="0">
            <a:off x="796404" y="9714576"/>
            <a:ext cx="9333662" cy="237049"/>
          </a:xfrm>
          <a:prstGeom prst="rect">
            <a:avLst/>
          </a:prstGeom>
        </p:spPr>
        <p:txBody>
          <a:bodyPr anchor="t" rtlCol="false" tIns="0" lIns="0" bIns="0" rIns="0">
            <a:spAutoFit/>
          </a:bodyPr>
          <a:lstStyle/>
          <a:p>
            <a:pPr algn="l">
              <a:lnSpc>
                <a:spcPts val="1232"/>
              </a:lnSpc>
            </a:pPr>
            <a:r>
              <a:rPr lang="en-US" sz="1080">
                <a:solidFill>
                  <a:srgbClr val="89908A"/>
                </a:solidFill>
                <a:latin typeface="Aptos"/>
                <a:ea typeface="Aptos"/>
                <a:cs typeface="Aptos"/>
                <a:sym typeface="Aptos"/>
              </a:rPr>
              <a:t>Post-test, evaluation, references</a:t>
            </a:r>
          </a:p>
        </p:txBody>
      </p:sp>
      <p:sp>
        <p:nvSpPr>
          <p:cNvPr name="TextBox 22" id="22"/>
          <p:cNvSpPr txBox="true"/>
          <p:nvPr/>
        </p:nvSpPr>
        <p:spPr>
          <a:xfrm rot="0">
            <a:off x="16966482" y="9663865"/>
            <a:ext cx="521103" cy="274025"/>
          </a:xfrm>
          <a:prstGeom prst="rect">
            <a:avLst/>
          </a:prstGeom>
        </p:spPr>
        <p:txBody>
          <a:bodyPr anchor="t" rtlCol="false" tIns="0" lIns="0" bIns="0" rIns="0">
            <a:spAutoFit/>
          </a:bodyPr>
          <a:lstStyle/>
          <a:p>
            <a:pPr algn="r">
              <a:lnSpc>
                <a:spcPts val="1454"/>
              </a:lnSpc>
            </a:pPr>
            <a:r>
              <a:rPr lang="en-US" sz="1275">
                <a:solidFill>
                  <a:srgbClr val="89908A"/>
                </a:solidFill>
                <a:latin typeface="Aptos"/>
                <a:ea typeface="Aptos"/>
                <a:cs typeface="Aptos"/>
                <a:sym typeface="Aptos"/>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DAHQootN7ds</dc:identifier>
  <dcterms:modified xsi:type="dcterms:W3CDTF">2011-08-01T06:04:30Z</dcterms:modified>
  <cp:revision>1</cp:revision>
  <dc:title>HCOS_AI_One_Relationship_CME_Revised_Practical_Deck_v1.1.pptx</dc:title>
</cp:coreProperties>
</file>